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60" r:id="rId2"/>
    <p:sldId id="262" r:id="rId3"/>
    <p:sldId id="280" r:id="rId4"/>
    <p:sldId id="281" r:id="rId5"/>
    <p:sldId id="282" r:id="rId6"/>
    <p:sldId id="283" r:id="rId7"/>
    <p:sldId id="284" r:id="rId8"/>
    <p:sldId id="285" r:id="rId9"/>
    <p:sldId id="286" r:id="rId10"/>
    <p:sldId id="287" r:id="rId11"/>
    <p:sldId id="288" r:id="rId12"/>
    <p:sldId id="289" r:id="rId13"/>
    <p:sldId id="290" r:id="rId14"/>
    <p:sldId id="291" r:id="rId15"/>
    <p:sldId id="292" r:id="rId16"/>
    <p:sldId id="297" r:id="rId17"/>
    <p:sldId id="298" r:id="rId18"/>
    <p:sldId id="299" r:id="rId19"/>
    <p:sldId id="300" r:id="rId2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784" autoAdjust="0"/>
  </p:normalViewPr>
  <p:slideViewPr>
    <p:cSldViewPr snapToGrid="0">
      <p:cViewPr varScale="1">
        <p:scale>
          <a:sx n="66" d="100"/>
          <a:sy n="66" d="100"/>
        </p:scale>
        <p:origin x="130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405DDC-645D-4F19-B649-03CBAC92BEAD}" type="datetimeFigureOut">
              <a:rPr lang="ru-RU" smtClean="0"/>
              <a:t>23.04.2026</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E1293-4B82-4F96-9A0E-CA5D6EA9A2BC}" type="slidenum">
              <a:rPr lang="ru-RU" smtClean="0"/>
              <a:t>‹#›</a:t>
            </a:fld>
            <a:endParaRPr lang="ru-RU"/>
          </a:p>
        </p:txBody>
      </p:sp>
    </p:spTree>
    <p:extLst>
      <p:ext uri="{BB962C8B-B14F-4D97-AF65-F5344CB8AC3E}">
        <p14:creationId xmlns:p14="http://schemas.microsoft.com/office/powerpoint/2010/main" val="1924321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Good afternoon, committee. The title of the thesis is Pose-Guided Predictive Ballistics for Body Part–Targeted Football Training. I am Arlen Smagulov, MSc ECE. I will speak for about seventeen minutes and leave a three minute buffer inside our fifteen to twenty minute slot. I would ask that questions be held until the end so the argument can land as a whole. Transition cue: let me start with why this problem matters before we open any code or geometry.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Frame the panel's attention on the adaptive delivery problem before touching any CV content. Coaches cannot order a training machine that reacts to the athlete; the only thing that does is a full motion capture lab at fifty to two hundred thousand dollars with markers. We are democratizing that capability at around two hundred dollars in perception hardware. Transition cue: having set the gap, let me now state exactly what success looks like in measurable terms.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Frame the thesis around the committee’s decision criteria. I am not just claiming that the system works; I am claiming that it achieves four measurable goals in a realistic garage arena. The three body joints are right knee, right hip, and left shoulder. The current implementation detail that matters most is that the live stack is YOLO-Pose-based, while the evaluation criteria remain ball accuracy, joint accuracy, safety, and practical low-cost deployment.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Use this slide to position the work cleanly. Commercial launchers are cheap but blind. Motion-capture labs are accurate but expensive and passive. Research launchers usually target zones or balls, not named human joints. The key gap is the combination of commodity multi-camera reconstruction, joint localisation, and physical actuation in a domestic environment. This is the framing the assessors should retain before they see the implementation details.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is where I clearly separate inherited hardware from my thesis contribution. The launcher platform did not start from zero, but the thesis contribution is not mechanical duplication. It is the integration of perception, triangulation, ballistic computation, safety gating, and evaluation into one working autonomous loop. Saying this early helps the committee attribute the right novelty to the thesis rather than to the entire machine history.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I am deliberately showing the current implementation order here, not an older thesis-only wording. The committee should understand that the live stack begins with ball detection and YOLO-Pose, then lifts those 2D observations into a 3D world frame, then computes the launch command and checks safety gates before actuation. This is also where I make clear that the pipeline is real-time, rather than an offline reconstruction workflow.</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Keep this slide practical. The committee does not need every bolt; they need to understand that the actuation platform exists, that it is driven by an ESP32, and that the sensing side stays inexpensive. This is where I emphasise that the perception BOM is around two hundred dollars and that the inherited launcher becomes useful only because the sensing and control loop now provide joint-aware targeting.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should remove any ambiguity about the live software stack. The key message is that the committee should think in terms of a YOLO-Pose-first implementation whose outputs are triangulated and filtered before command generation. I keep the Kalman model as an optional prediction layer instead of the main story, because the core value of the system is accurate 3D joint targeting from the current code path, not a backend comparison with older pose frameworks.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is the geometric contract of the thesis. Once the committee accepts that the four cameras share one world frame, the rest of the system becomes much easier to trust. I should stress that calibration is not a cosmetic step. It is the step that allows two-dimensional detections from multiple cameras to become a single three-dimensional target point in millimetres for the ballistic solver.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matters because it shows that the thesis is not just a demo. The committee should see three things: first, there is quantitative ground truth for both ball and joints; second, safety validation is staged rather than improvised; third, the system logs its own decisions so results are auditable. That combination makes the evaluation credible, especially in a domestic arena where uncontrolled conditions would otherwise be easy to question.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Present this slide slowly because these are the numbers the committee is most likely to remember. The corrected ball mean supports the first research question. The joint mean and the per-joint breakdown support the second. The emergency-stop response supports the safety claim. The fifteen-frame-per-second line is there to show that the current YOLO-Pose implementation is not only conceptually right but also operationally live.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interpretation slide is how I stop the committee from over-reading the error numbers as failure. The correct reading is that the system has practical targeting accuracy in a low-cost domestic setting, while the main remaining bottlenecks are calibration quality and visibility. The monotonic increase from knee to shoulder helps explain the error structure physically, which makes the result feel engineering-grounded rather than arbitrary.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should sound confident rather than apologetic. The committee expects limitations, and the key is to state them in engineering terms. I should make clear that the thesis does validate the perception-to-actuation chain, but does not yet claim full moving-subject autonomous firing. The most important open items are view robustness, empirical ballistic calibration, and longer-run actuator reliability.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End the technical story by naming the contributions at the right level. I should not get lost in minor implementation details here. The committee should leave with six memorable ideas: autonomous aiming, low-cost 3D targeting, the current YOLO-Pose-based loop, staged safety validation, quantitative ground truth with bias correction, and reproducible logging. That framing makes my thesis contribution easy to separate from the inherited machine platform.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The future-work story should feel like a concrete roadmap, not a wish list. The next immediate milestone is full closed-loop firing at a moving target. After that, empirical ballistic calibration improves aim quality, SLAM-like relocalisation improves maintainability, and multi-person tracking extends use cases. The Virtual 3D Goal idea is worth naming because it is intuitive and memorable for the committee as a natural next extension of the same perception stack.</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Play if asked for a demo or if a three-to-five-minute buffer opens. Mute audio. Keep the clip to twenty or thirty seconds; longer loops lose the panel. Before pressing play, state what they are looking at: four-camera capture, live triangulation, and Kalman-smoothed joint trace. If the video cannot be embedded inline on the target machine, substitute the mosaic2d fallback from V-02 in the assets checklist and narrate the same framing.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if the panel asks what happens if X fails. Walk from L1 down: software gates first, then hardware interlocks, then the human authority. Key points to volunteer: the angle clamp and RPM gate are each implemented twice, once in Python and once on the ESP32, so either layer alone is sufficient. The hardware E-STOP is normally-closed so a broken wire stops the machine, not starts it. Close by naming the link-loss watchdog as the answer to network-drop questions.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if the panel asks about real-time guarantees. Before pointing at numbers, name the three dominant stages: YOLO inference, triangulation plus Kalman, and mechanical settling. Volunteer that the ninety-fifth percentile for perception stays inside two frame intervals at fifteen FPS, which is why the Kalman predict-step of two hundred to four hundred milliseconds covers worst-case launcher travel. If pushed, note that the latency table is the artifact behind the hundred-and-twenty millisecond claim on slide six.</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only if asked which courses prepared you for this. Pick two rows to highlight, not five. Signals and Systems maps directly to the Kalman filter and the EMA smoother. Control Systems is the supervisor-to-motor loop. Embedded Systems is the cooperative finite-state machine in control_12_full.ino. Computer Networks covers the UDP link and the watchdog. Engineering Ethics maps to the three ISO standards on slide fifteen. End with one sentence on which course was most directly applied.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0ED9C-DC2F-798A-BFB1-56F079B2D1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81420AE9-3C13-7525-4E31-C052D3986D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08AD794A-0ABF-48EF-7267-15DDB92A7008}"/>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224B0C62-79F0-A840-1B5A-F1317063C90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42FFD3B6-B615-E07F-AA5B-D936DE8651DC}"/>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476392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6D5A3-92BF-9D13-DF78-7E7F1C1B0038}"/>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ED34DA7D-2E29-48FC-809D-AA1AB1C2CF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E8561572-AB19-1C2E-32CD-8157DD7CCC13}"/>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EDF4F984-1581-D4ED-EDCF-3C79307CE400}"/>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2C472602-8646-D567-0FC0-64DDCCD39F56}"/>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530944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54B97-0E13-7C91-DEF2-3861EBFAD2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a:extLst>
              <a:ext uri="{FF2B5EF4-FFF2-40B4-BE49-F238E27FC236}">
                <a16:creationId xmlns:a16="http://schemas.microsoft.com/office/drawing/2014/main" id="{94740FFA-F626-A6E7-1584-74E442A873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02FDB9-D115-7934-3EBE-FF57CEB9E0ED}"/>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3544B562-E481-2F90-A966-497E252B2A42}"/>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836D2F7D-EFA0-6563-F07B-332A2A840D4B}"/>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67375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2144C-A048-7733-8834-913969D2B721}"/>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EC7C19B5-C50C-FA65-8B3C-EFA14C4E04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a:extLst>
              <a:ext uri="{FF2B5EF4-FFF2-40B4-BE49-F238E27FC236}">
                <a16:creationId xmlns:a16="http://schemas.microsoft.com/office/drawing/2014/main" id="{4C9A86A9-7B67-961F-DEAA-4A3142E0C7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a:extLst>
              <a:ext uri="{FF2B5EF4-FFF2-40B4-BE49-F238E27FC236}">
                <a16:creationId xmlns:a16="http://schemas.microsoft.com/office/drawing/2014/main" id="{17C8112D-8578-10A1-0E5D-14F878C2FFA9}"/>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6" name="Footer Placeholder 5">
            <a:extLst>
              <a:ext uri="{FF2B5EF4-FFF2-40B4-BE49-F238E27FC236}">
                <a16:creationId xmlns:a16="http://schemas.microsoft.com/office/drawing/2014/main" id="{07A83FD6-3BA8-3B5A-D466-8C43D176816E}"/>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6DD0E575-6233-0DA8-EA4D-F0948F818B8B}"/>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009267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27BE0-9E5B-54AD-9992-A524F8E917E9}"/>
              </a:ext>
            </a:extLst>
          </p:cNvPr>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a:extLst>
              <a:ext uri="{FF2B5EF4-FFF2-40B4-BE49-F238E27FC236}">
                <a16:creationId xmlns:a16="http://schemas.microsoft.com/office/drawing/2014/main" id="{8F1736D3-A673-5DA1-8389-A68BADE904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BDBD5F-9895-C1F2-5FC4-84A6131303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a:extLst>
              <a:ext uri="{FF2B5EF4-FFF2-40B4-BE49-F238E27FC236}">
                <a16:creationId xmlns:a16="http://schemas.microsoft.com/office/drawing/2014/main" id="{AF9FBA84-1063-94FC-7A7D-6526F83C4B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2002DC-93EC-4543-E98B-876D3C3E2C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a:extLst>
              <a:ext uri="{FF2B5EF4-FFF2-40B4-BE49-F238E27FC236}">
                <a16:creationId xmlns:a16="http://schemas.microsoft.com/office/drawing/2014/main" id="{CAE829FD-5280-7052-5EF4-0E33117F11C4}"/>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8" name="Footer Placeholder 7">
            <a:extLst>
              <a:ext uri="{FF2B5EF4-FFF2-40B4-BE49-F238E27FC236}">
                <a16:creationId xmlns:a16="http://schemas.microsoft.com/office/drawing/2014/main" id="{C8E46FB6-65A9-A0A0-77EB-B13263FED89A}"/>
              </a:ext>
            </a:extLst>
          </p:cNvPr>
          <p:cNvSpPr>
            <a:spLocks noGrp="1"/>
          </p:cNvSpPr>
          <p:nvPr>
            <p:ph type="ftr" sz="quarter" idx="11"/>
          </p:nvPr>
        </p:nvSpPr>
        <p:spPr/>
        <p:txBody>
          <a:bodyPr/>
          <a:lstStyle/>
          <a:p>
            <a:endParaRPr lang="ru-RU"/>
          </a:p>
        </p:txBody>
      </p:sp>
      <p:sp>
        <p:nvSpPr>
          <p:cNvPr id="9" name="Slide Number Placeholder 8">
            <a:extLst>
              <a:ext uri="{FF2B5EF4-FFF2-40B4-BE49-F238E27FC236}">
                <a16:creationId xmlns:a16="http://schemas.microsoft.com/office/drawing/2014/main" id="{8226E1D1-4F10-0551-1E22-16C9929418C1}"/>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1249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83393-51E4-12FA-D51E-3893804D4606}"/>
              </a:ext>
            </a:extLst>
          </p:cNvPr>
          <p:cNvSpPr>
            <a:spLocks noGrp="1"/>
          </p:cNvSpPr>
          <p:nvPr>
            <p:ph type="title"/>
          </p:nvPr>
        </p:nvSpPr>
        <p:spPr/>
        <p:txBody>
          <a:bodyPr/>
          <a:lstStyle/>
          <a:p>
            <a:r>
              <a:rPr lang="en-US"/>
              <a:t>Click to edit Master title style</a:t>
            </a:r>
            <a:endParaRPr lang="ru-RU"/>
          </a:p>
        </p:txBody>
      </p:sp>
      <p:sp>
        <p:nvSpPr>
          <p:cNvPr id="3" name="Date Placeholder 2">
            <a:extLst>
              <a:ext uri="{FF2B5EF4-FFF2-40B4-BE49-F238E27FC236}">
                <a16:creationId xmlns:a16="http://schemas.microsoft.com/office/drawing/2014/main" id="{817C7513-861E-031B-6901-CF1E0C8E7357}"/>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4" name="Footer Placeholder 3">
            <a:extLst>
              <a:ext uri="{FF2B5EF4-FFF2-40B4-BE49-F238E27FC236}">
                <a16:creationId xmlns:a16="http://schemas.microsoft.com/office/drawing/2014/main" id="{9FE95095-CCA8-4C59-DD0F-31F750D3006B}"/>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F3A158D7-645B-3A4E-B841-AC0BDC212A8A}"/>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604370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E6ED77-A6C7-6766-3240-E739D6827336}"/>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3" name="Footer Placeholder 2">
            <a:extLst>
              <a:ext uri="{FF2B5EF4-FFF2-40B4-BE49-F238E27FC236}">
                <a16:creationId xmlns:a16="http://schemas.microsoft.com/office/drawing/2014/main" id="{800141DC-C3A3-96EE-C557-6392989F4F35}"/>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4F51AC12-BE1B-9205-7D59-B41FAF850E13}"/>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3403609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593D5-A684-EE54-8EAA-2BBC5D75D0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a:extLst>
              <a:ext uri="{FF2B5EF4-FFF2-40B4-BE49-F238E27FC236}">
                <a16:creationId xmlns:a16="http://schemas.microsoft.com/office/drawing/2014/main" id="{E3455E2F-2CF6-AE2D-B78A-5B0FC5A97C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a:extLst>
              <a:ext uri="{FF2B5EF4-FFF2-40B4-BE49-F238E27FC236}">
                <a16:creationId xmlns:a16="http://schemas.microsoft.com/office/drawing/2014/main" id="{88CB743B-DFF8-EFBF-F9C1-39CD41FDE4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9AAA07-90C0-2B93-057A-C2660EF8FFC3}"/>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6" name="Footer Placeholder 5">
            <a:extLst>
              <a:ext uri="{FF2B5EF4-FFF2-40B4-BE49-F238E27FC236}">
                <a16:creationId xmlns:a16="http://schemas.microsoft.com/office/drawing/2014/main" id="{152015C2-9877-EC73-32CD-EEE7FA11B977}"/>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EB076D08-3F3D-EAC6-DF61-5BCEEE74F914}"/>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91878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66AE-5C35-DC3A-1663-9F7CFAA1F3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a:extLst>
              <a:ext uri="{FF2B5EF4-FFF2-40B4-BE49-F238E27FC236}">
                <a16:creationId xmlns:a16="http://schemas.microsoft.com/office/drawing/2014/main" id="{CEE280BE-4A64-CD28-9EC9-1D9482E0D7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a:extLst>
              <a:ext uri="{FF2B5EF4-FFF2-40B4-BE49-F238E27FC236}">
                <a16:creationId xmlns:a16="http://schemas.microsoft.com/office/drawing/2014/main" id="{52252F46-82DA-05DC-4413-C3A115635A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3203DE-EEE4-F09F-59EC-78747B53FBD4}"/>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6" name="Footer Placeholder 5">
            <a:extLst>
              <a:ext uri="{FF2B5EF4-FFF2-40B4-BE49-F238E27FC236}">
                <a16:creationId xmlns:a16="http://schemas.microsoft.com/office/drawing/2014/main" id="{0314C583-63EE-483C-4742-14B20E9A4CF9}"/>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38550BDE-FE02-3FE7-9DCB-DB5D526AC30A}"/>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3725271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77091-3678-EDC5-F581-4D6DDB935265}"/>
              </a:ext>
            </a:extLst>
          </p:cNvPr>
          <p:cNvSpPr>
            <a:spLocks noGrp="1"/>
          </p:cNvSpPr>
          <p:nvPr>
            <p:ph type="title"/>
          </p:nvPr>
        </p:nvSpPr>
        <p:spPr/>
        <p:txBody>
          <a:bodyPr/>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DEB23034-9799-7574-23CA-05BA6B365F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8D1027BF-E227-B39B-FA86-5AC8982BC5CF}"/>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3E035938-C264-A942-202B-9753264F73C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4DE784E4-9DD0-793F-3F10-ABD930C729A5}"/>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131096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9A2CFA-2EF7-381F-8EB6-B93B6146D8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4A6EC9F7-9F52-7FCE-29E8-111DD44780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17A9EB68-EBA8-1D6D-1AA3-B1B9F8B0B29F}"/>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0B7ACFE6-A701-1F00-86F9-4BE6C93CA9E0}"/>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7B647C80-DF7C-2A39-3E2E-E4B10CD46311}"/>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1748409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C688BE-7703-9B42-1CCF-45E498DDB7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a:extLst>
              <a:ext uri="{FF2B5EF4-FFF2-40B4-BE49-F238E27FC236}">
                <a16:creationId xmlns:a16="http://schemas.microsoft.com/office/drawing/2014/main" id="{46D3C7E8-635B-578F-6B4B-33076A72F9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333B7965-5FB6-0E74-7E5C-097D32AFD8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39CA3FAB-27A0-D83F-8081-48C600F38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Slide Number Placeholder 5">
            <a:extLst>
              <a:ext uri="{FF2B5EF4-FFF2-40B4-BE49-F238E27FC236}">
                <a16:creationId xmlns:a16="http://schemas.microsoft.com/office/drawing/2014/main" id="{2EE41A10-B3D7-502E-F6EF-F70473B380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32F859-8E11-4509-8A48-6D9BD0B4DBF0}" type="slidenum">
              <a:rPr lang="ru-RU" smtClean="0"/>
              <a:t>‹#›</a:t>
            </a:fld>
            <a:endParaRPr lang="ru-RU"/>
          </a:p>
        </p:txBody>
      </p:sp>
    </p:spTree>
    <p:extLst>
      <p:ext uri="{BB962C8B-B14F-4D97-AF65-F5344CB8AC3E}">
        <p14:creationId xmlns:p14="http://schemas.microsoft.com/office/powerpoint/2010/main" val="39406131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F1F1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F1F1F"/>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109"/>
          <p:cNvSpPr/>
          <p:nvPr/>
        </p:nvSpPr>
        <p:spPr>
          <a:xfrm>
            <a:off x="457200" y="914400"/>
            <a:ext cx="11274552" cy="256032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88DC9ACE-0ED4-6937-6D6C-123E17F6F71A}"/>
              </a:ext>
            </a:extLst>
          </p:cNvPr>
          <p:cNvSpPr>
            <a:spLocks noGrp="1"/>
          </p:cNvSpPr>
          <p:nvPr>
            <p:ph type="ctrTitle"/>
          </p:nvPr>
        </p:nvSpPr>
        <p:spPr>
          <a:xfrm>
            <a:off x="760476" y="1308100"/>
            <a:ext cx="10668000" cy="1270000"/>
          </a:xfrm>
        </p:spPr>
        <p:txBody>
          <a:bodyPr wrap="square" lIns="76200" tIns="38100" rIns="76200" bIns="38100" anchor="ctr"/>
          <a:lstStyle/>
          <a:p>
            <a:pPr algn="ctr">
              <a:buNone/>
            </a:pPr>
            <a:r>
              <a:rPr lang="en-US" sz="3200" b="1" dirty="0">
                <a:solidFill>
                  <a:srgbClr val="1F1F1F"/>
                </a:solidFill>
                <a:latin typeface="Calibri"/>
              </a:rPr>
              <a:t>Pose-Guided Predictive Ballistics</a:t>
            </a:r>
          </a:p>
          <a:p>
            <a:pPr algn="ctr">
              <a:buNone/>
            </a:pPr>
            <a:r>
              <a:rPr lang="en-US" sz="3200" b="1" dirty="0">
                <a:solidFill>
                  <a:srgbClr val="1F1F1F"/>
                </a:solidFill>
                <a:latin typeface="Calibri"/>
              </a:rPr>
              <a:t>for Body Part–Targeted Football Training</a:t>
            </a:r>
          </a:p>
        </p:txBody>
      </p:sp>
      <p:sp>
        <p:nvSpPr>
          <p:cNvPr id="3" name="Subtitle 2">
            <a:extLst>
              <a:ext uri="{FF2B5EF4-FFF2-40B4-BE49-F238E27FC236}">
                <a16:creationId xmlns:a16="http://schemas.microsoft.com/office/drawing/2014/main" id="{DD15DA76-DB22-F059-828A-5EA581387C54}"/>
              </a:ext>
            </a:extLst>
          </p:cNvPr>
          <p:cNvSpPr>
            <a:spLocks noGrp="1"/>
          </p:cNvSpPr>
          <p:nvPr>
            <p:ph type="subTitle" idx="1"/>
          </p:nvPr>
        </p:nvSpPr>
        <p:spPr>
          <a:xfrm>
            <a:off x="762000" y="3683000"/>
            <a:ext cx="10668000" cy="1905000"/>
          </a:xfrm>
        </p:spPr>
        <p:txBody>
          <a:bodyPr wrap="square" lIns="76200" tIns="38100" rIns="76200" bIns="38100" anchor="ctr"/>
          <a:lstStyle/>
          <a:p>
            <a:pPr algn="ctr">
              <a:buNone/>
            </a:pPr>
            <a:r>
              <a:rPr lang="en-US" sz="1800" b="0" dirty="0">
                <a:solidFill>
                  <a:srgbClr val="1F1F1F"/>
                </a:solidFill>
                <a:latin typeface="Calibri"/>
              </a:rPr>
              <a:t>MSc Thesis Defense</a:t>
            </a:r>
          </a:p>
          <a:p>
            <a:pPr algn="ctr">
              <a:buNone/>
            </a:pPr>
            <a:r>
              <a:rPr lang="en-US" sz="1800" b="0" dirty="0">
                <a:solidFill>
                  <a:srgbClr val="1F1F1F"/>
                </a:solidFill>
                <a:latin typeface="Calibri"/>
              </a:rPr>
              <a:t>School of Engineering &amp; Digital Sciences · Nazarbayev University</a:t>
            </a:r>
          </a:p>
          <a:p>
            <a:pPr algn="ctr">
              <a:buNone/>
            </a:pPr>
            <a:endParaRPr lang="en-US" sz="1400" dirty="0">
              <a:solidFill>
                <a:srgbClr val="FF0000"/>
              </a:solidFill>
            </a:endParaRPr>
          </a:p>
          <a:p>
            <a:pPr algn="ctr">
              <a:buNone/>
            </a:pPr>
            <a:r>
              <a:rPr lang="en-US" sz="1800" b="0" dirty="0">
                <a:solidFill>
                  <a:srgbClr val="1F1F1F"/>
                </a:solidFill>
                <a:latin typeface="Calibri"/>
              </a:rPr>
              <a:t>Arlen Smagulov</a:t>
            </a:r>
          </a:p>
          <a:p>
            <a:pPr algn="ctr">
              <a:buNone/>
            </a:pPr>
            <a:r>
              <a:rPr lang="en-US" sz="1400" b="0" dirty="0">
                <a:solidFill>
                  <a:srgbClr val="8A8A8A"/>
                </a:solidFill>
                <a:latin typeface="Calibri"/>
              </a:rPr>
              <a:t>Supervisor: Prof. Sultangali Arzykulov  ·  Co-supervisor: Prof. Mohammad Hashmi  ·  March 2026</a:t>
            </a:r>
          </a:p>
        </p:txBody>
      </p:sp>
      <p:sp>
        <p:nvSpPr>
          <p:cNvPr id="100" name="AccentUnderline"/>
          <p:cNvSpPr/>
          <p:nvPr/>
        </p:nvSpPr>
        <p:spPr>
          <a:xfrm>
            <a:off x="4826000" y="3556000"/>
            <a:ext cx="2540000" cy="50800"/>
          </a:xfrm>
          <a:prstGeom prst="rect">
            <a:avLst/>
          </a:prstGeom>
          <a:solidFill>
            <a:srgbClr val="D7C2B4"/>
          </a:solidFill>
          <a:ln>
            <a:noFill/>
          </a:ln>
        </p:spPr>
        <p:txBody>
          <a:bodyPr wrap="square" anchor="ctr"/>
          <a:lstStyle/>
          <a:p>
            <a:endParaRPr lang="en-US"/>
          </a:p>
        </p:txBody>
      </p:sp>
      <p:sp>
        <p:nvSpPr>
          <p:cNvPr id="103" name="BottomBar"/>
          <p:cNvSpPr/>
          <p:nvPr/>
        </p:nvSpPr>
        <p:spPr>
          <a:xfrm>
            <a:off x="0" y="6604000"/>
            <a:ext cx="12192000" cy="254000"/>
          </a:xfrm>
          <a:prstGeom prst="rect">
            <a:avLst/>
          </a:prstGeom>
          <a:solidFill>
            <a:srgbClr val="7C472E"/>
          </a:solidFill>
          <a:ln w="6350">
            <a:noFill/>
          </a:ln>
        </p:spPr>
        <p:txBody>
          <a:bodyPr wrap="square" anchor="ctr"/>
          <a:lstStyle/>
          <a:p>
            <a:endParaRPr lang="en-US"/>
          </a:p>
        </p:txBody>
      </p:sp>
      <p:sp>
        <p:nvSpPr>
          <p:cNvPr id="104" name="FooterText"/>
          <p:cNvSpPr txBox="1"/>
          <p:nvPr/>
        </p:nvSpPr>
        <p:spPr>
          <a:xfrm>
            <a:off x="0" y="6604000"/>
            <a:ext cx="12192000" cy="254000"/>
          </a:xfrm>
          <a:prstGeom prst="rect">
            <a:avLst/>
          </a:prstGeom>
          <a:noFill/>
          <a:ln>
            <a:noFill/>
          </a:ln>
        </p:spPr>
        <p:txBody>
          <a:bodyPr wrap="square" lIns="76200" tIns="38100" rIns="76200" bIns="38100" anchor="ctr"/>
          <a:lstStyle/>
          <a:p>
            <a:pPr algn="ctr">
              <a:buNone/>
            </a:pPr>
            <a:r>
              <a:rPr lang="en-US" sz="1200" dirty="0">
                <a:solidFill>
                  <a:srgbClr val="8A8A8A"/>
                </a:solidFill>
                <a:latin typeface="Calibri"/>
              </a:rPr>
              <a:t>Arlen Smagulov · MSc ECE · Nazarbayev University</a:t>
            </a:r>
          </a:p>
        </p:txBody>
      </p:sp>
      <p:pic>
        <p:nvPicPr>
          <p:cNvPr id="107" name="Picture 106" descr="image.png"/>
          <p:cNvPicPr>
            <a:picLocks noChangeAspect="1"/>
          </p:cNvPicPr>
          <p:nvPr/>
        </p:nvPicPr>
        <p:blipFill>
          <a:blip r:embed="rId3"/>
          <a:stretch>
            <a:fillRect/>
          </a:stretch>
        </p:blipFill>
        <p:spPr>
          <a:xfrm>
            <a:off x="274320" y="228600"/>
            <a:ext cx="1802282" cy="411480"/>
          </a:xfrm>
          <a:prstGeom prst="rect">
            <a:avLst/>
          </a:prstGeom>
        </p:spPr>
      </p:pic>
      <p:pic>
        <p:nvPicPr>
          <p:cNvPr id="108" name="Picture 107" descr="seds logo.jpg"/>
          <p:cNvPicPr>
            <a:picLocks noChangeAspect="1"/>
          </p:cNvPicPr>
          <p:nvPr/>
        </p:nvPicPr>
        <p:blipFill>
          <a:blip r:embed="rId4"/>
          <a:stretch>
            <a:fillRect/>
          </a:stretch>
        </p:blipFill>
        <p:spPr>
          <a:xfrm>
            <a:off x="11320272" y="41026"/>
            <a:ext cx="822960" cy="822960"/>
          </a:xfrm>
          <a:prstGeom prst="rect">
            <a:avLst/>
          </a:prstGeom>
        </p:spPr>
      </p:pic>
      <p:sp>
        <p:nvSpPr>
          <p:cNvPr id="109" name="Rectangle 108"/>
          <p:cNvSpPr/>
          <p:nvPr/>
        </p:nvSpPr>
        <p:spPr>
          <a:xfrm flipV="1">
            <a:off x="1005069" y="2540000"/>
            <a:ext cx="10181862" cy="7620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a:t>
            </a:r>
          </a:p>
        </p:txBody>
      </p:sp>
    </p:spTree>
    <p:extLst>
      <p:ext uri="{BB962C8B-B14F-4D97-AF65-F5344CB8AC3E}">
        <p14:creationId xmlns:p14="http://schemas.microsoft.com/office/powerpoint/2010/main" val="1492849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1A4E86B-2444-9459-B25C-3C66DC54FF77}"/>
              </a:ext>
            </a:extLst>
          </p:cNvPr>
          <p:cNvSpPr>
            <a:spLocks noGrp="1"/>
          </p:cNvSpPr>
          <p:nvPr>
            <p:ph type="title"/>
          </p:nvPr>
        </p:nvSpPr>
        <p:spPr>
          <a:xfrm>
            <a:off x="508000" y="934720"/>
            <a:ext cx="6238240" cy="711200"/>
          </a:xfrm>
        </p:spPr>
        <p:txBody>
          <a:bodyPr wrap="square" lIns="76200" tIns="38100" rIns="76200" bIns="38100" anchor="ctr"/>
          <a:lstStyle/>
          <a:p>
            <a:pPr algn="l">
              <a:buNone/>
            </a:pPr>
            <a:r>
              <a:rPr lang="en-US" sz="3200" b="1" dirty="0">
                <a:solidFill>
                  <a:srgbClr val="1F1F1F"/>
                </a:solidFill>
                <a:latin typeface="Calibri"/>
              </a:rPr>
              <a:t>Motivation</a:t>
            </a:r>
          </a:p>
        </p:txBody>
      </p:sp>
      <p:sp>
        <p:nvSpPr>
          <p:cNvPr id="101" name="t101"/>
          <p:cNvSpPr txBox="1"/>
          <p:nvPr/>
        </p:nvSpPr>
        <p:spPr>
          <a:xfrm>
            <a:off x="508000" y="184404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Commercial launchers are blind. </a:t>
            </a:r>
          </a:p>
          <a:p>
            <a:pPr algn="l">
              <a:buNone/>
            </a:pPr>
            <a:r>
              <a:rPr lang="en-US" sz="2200" b="1" dirty="0">
                <a:solidFill>
                  <a:srgbClr val="2A231F"/>
                </a:solidFill>
                <a:latin typeface="Arial"/>
              </a:rPr>
              <a:t>Professional MoCap is unaffordable.</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pPr marL="228600" indent="-228600">
              <a:spcBef>
                <a:spcPts val="600"/>
              </a:spcBef>
              <a:buFont typeface="Arial"/>
              <a:buChar char="•"/>
            </a:pPr>
            <a:r>
              <a:rPr lang="en-US" sz="2000" dirty="0">
                <a:solidFill>
                  <a:srgbClr val="2A231F"/>
                </a:solidFill>
                <a:latin typeface="Arial"/>
              </a:rPr>
              <a:t>Football coaches need joint-specific delivery for reception, reaction, and rehab drills.</a:t>
            </a:r>
          </a:p>
          <a:p>
            <a:pPr marL="228600" indent="-228600">
              <a:spcBef>
                <a:spcPts val="600"/>
              </a:spcBef>
              <a:buFont typeface="Arial"/>
              <a:buChar char="•"/>
            </a:pPr>
            <a:r>
              <a:rPr lang="en-US" sz="2000" dirty="0">
                <a:solidFill>
                  <a:srgbClr val="2A231F"/>
                </a:solidFill>
                <a:latin typeface="Arial"/>
              </a:rPr>
              <a:t>Open-loop launchers cannot react to athlete position.</a:t>
            </a:r>
          </a:p>
          <a:p>
            <a:pPr marL="228600" indent="-228600">
              <a:spcBef>
                <a:spcPts val="600"/>
              </a:spcBef>
              <a:buFont typeface="Arial"/>
              <a:buChar char="•"/>
            </a:pPr>
            <a:r>
              <a:rPr lang="en-US" sz="2000" dirty="0">
                <a:solidFill>
                  <a:srgbClr val="2A231F"/>
                </a:solidFill>
                <a:latin typeface="Arial"/>
              </a:rPr>
              <a:t>OptiTrack or Vicon cost USD 50k to 200k and require markers.</a:t>
            </a:r>
          </a:p>
          <a:p>
            <a:pPr marL="228600" indent="-228600">
              <a:spcBef>
                <a:spcPts val="600"/>
              </a:spcBef>
              <a:buFont typeface="Arial"/>
              <a:buChar char="•"/>
            </a:pPr>
            <a:r>
              <a:rPr lang="en-US" sz="2000" dirty="0">
                <a:solidFill>
                  <a:srgbClr val="2A231F"/>
                </a:solidFill>
                <a:latin typeface="Arial"/>
              </a:rPr>
              <a:t>This thesis delivers USD ~200 perception, closed-loop, markerless.</a:t>
            </a:r>
          </a:p>
        </p:txBody>
      </p:sp>
      <p:sp>
        <p:nvSpPr>
          <p:cNvPr id="103" name="r103"/>
          <p:cNvSpPr/>
          <p:nvPr/>
        </p:nvSpPr>
        <p:spPr>
          <a:xfrm>
            <a:off x="6858000" y="2095500"/>
            <a:ext cx="4826000" cy="3810000"/>
          </a:xfrm>
          <a:prstGeom prst="rect">
            <a:avLst/>
          </a:prstGeom>
          <a:solidFill>
            <a:srgbClr val="F7F1EC"/>
          </a:solidFill>
          <a:ln w="15240">
            <a:solidFill>
              <a:srgbClr val="935739"/>
            </a:solidFill>
          </a:ln>
        </p:spPr>
        <p:txBody>
          <a:bodyPr wrap="square" anchor="ctr"/>
          <a:lstStyle/>
          <a:p>
            <a:endParaRPr lang="en-US"/>
          </a:p>
        </p:txBody>
      </p:sp>
      <p:sp>
        <p:nvSpPr>
          <p:cNvPr id="104" name="t104"/>
          <p:cNvSpPr txBox="1"/>
          <p:nvPr/>
        </p:nvSpPr>
        <p:spPr>
          <a:xfrm>
            <a:off x="6985000" y="2222500"/>
            <a:ext cx="4572000" cy="35560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[ADD ON WINDOWS: split-card image — left panel a commercial ball launcher, right panel a MoCap studio]</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there is a real, affordable gap to close.</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rPr dirty="0"/>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2</a:t>
            </a:r>
          </a:p>
        </p:txBody>
      </p:sp>
      <p:sp>
        <p:nvSpPr>
          <p:cNvPr id="3" name="r100">
            <a:extLst>
              <a:ext uri="{FF2B5EF4-FFF2-40B4-BE49-F238E27FC236}">
                <a16:creationId xmlns:a16="http://schemas.microsoft.com/office/drawing/2014/main" id="{03760187-45BD-7A38-851C-C8831598745F}"/>
              </a:ext>
            </a:extLst>
          </p:cNvPr>
          <p:cNvSpPr/>
          <p:nvPr/>
        </p:nvSpPr>
        <p:spPr>
          <a:xfrm>
            <a:off x="586739" y="1498738"/>
            <a:ext cx="1927861"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2259976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9BC6309-9D16-E862-F127-C39A3D7C45C2}"/>
              </a:ext>
            </a:extLst>
          </p:cNvPr>
          <p:cNvSpPr>
            <a:spLocks noGrp="1"/>
          </p:cNvSpPr>
          <p:nvPr>
            <p:ph type="title"/>
          </p:nvPr>
        </p:nvSpPr>
        <p:spPr>
          <a:xfrm>
            <a:off x="415403" y="914400"/>
            <a:ext cx="11176000" cy="711200"/>
          </a:xfrm>
        </p:spPr>
        <p:txBody>
          <a:bodyPr wrap="square" lIns="76200" tIns="38100" rIns="76200" bIns="38100" anchor="ctr"/>
          <a:lstStyle/>
          <a:p>
            <a:pPr algn="l">
              <a:buNone/>
            </a:pPr>
            <a:r>
              <a:rPr lang="en-US" sz="3200" b="1" dirty="0">
                <a:solidFill>
                  <a:srgbClr val="1F1F1F"/>
                </a:solidFill>
                <a:latin typeface="Calibri"/>
              </a:rPr>
              <a:t>Problem Statement &amp; Objectives</a:t>
            </a:r>
          </a:p>
        </p:txBody>
      </p:sp>
      <p:sp>
        <p:nvSpPr>
          <p:cNvPr id="100" name="r100"/>
          <p:cNvSpPr/>
          <p:nvPr/>
        </p:nvSpPr>
        <p:spPr>
          <a:xfrm>
            <a:off x="508000" y="1462256"/>
            <a:ext cx="5492750" cy="74444"/>
          </a:xfrm>
          <a:prstGeom prst="rect">
            <a:avLst/>
          </a:prstGeom>
          <a:solidFill>
            <a:srgbClr val="935739"/>
          </a:solidFill>
          <a:ln>
            <a:noFill/>
          </a:ln>
        </p:spPr>
        <p:txBody>
          <a:bodyPr wrap="square" anchor="ctr"/>
          <a:lstStyle/>
          <a:p>
            <a:endParaRPr lang="en-US"/>
          </a:p>
        </p:txBody>
      </p:sp>
      <p:sp>
        <p:nvSpPr>
          <p:cNvPr id="101" name="t101"/>
          <p:cNvSpPr txBox="1"/>
          <p:nvPr/>
        </p:nvSpPr>
        <p:spPr>
          <a:xfrm>
            <a:off x="415403" y="1524000"/>
            <a:ext cx="11176000" cy="457200"/>
          </a:xfrm>
          <a:prstGeom prst="rect">
            <a:avLst/>
          </a:prstGeom>
          <a:noFill/>
          <a:ln>
            <a:noFill/>
          </a:ln>
        </p:spPr>
        <p:txBody>
          <a:bodyPr wrap="square" lIns="76200" tIns="38100" rIns="76200" bIns="38100" anchor="ctr"/>
          <a:lstStyle/>
          <a:p>
            <a:r>
              <a:t>Current implementation targets three joints with measurable accuracy and safety goals.</a:t>
            </a:r>
          </a:p>
        </p:txBody>
      </p:sp>
      <p:sp>
        <p:nvSpPr>
          <p:cNvPr id="102" name="r102"/>
          <p:cNvSpPr/>
          <p:nvPr/>
        </p:nvSpPr>
        <p:spPr>
          <a:xfrm>
            <a:off x="508000" y="2095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03" name="t103"/>
          <p:cNvSpPr txBox="1"/>
          <p:nvPr/>
        </p:nvSpPr>
        <p:spPr>
          <a:xfrm>
            <a:off x="762000" y="2324100"/>
            <a:ext cx="1016000"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O1</a:t>
            </a:r>
          </a:p>
        </p:txBody>
      </p:sp>
      <p:sp>
        <p:nvSpPr>
          <p:cNvPr id="104" name="t104"/>
          <p:cNvSpPr txBox="1"/>
          <p:nvPr/>
        </p:nvSpPr>
        <p:spPr>
          <a:xfrm>
            <a:off x="1905000" y="2324100"/>
            <a:ext cx="3683000" cy="457200"/>
          </a:xfrm>
          <a:prstGeom prst="rect">
            <a:avLst/>
          </a:prstGeom>
          <a:noFill/>
          <a:ln>
            <a:noFill/>
          </a:ln>
        </p:spPr>
        <p:txBody>
          <a:bodyPr wrap="square" lIns="76200" tIns="38100" rIns="76200" bIns="38100" anchor="ctr"/>
          <a:lstStyle/>
          <a:p>
            <a:r>
              <a:t>Ball GT</a:t>
            </a:r>
          </a:p>
        </p:txBody>
      </p:sp>
      <p:sp>
        <p:nvSpPr>
          <p:cNvPr id="105" name="t105"/>
          <p:cNvSpPr txBox="1"/>
          <p:nvPr/>
        </p:nvSpPr>
        <p:spPr>
          <a:xfrm>
            <a:off x="1905000" y="2882900"/>
            <a:ext cx="3683000" cy="1079500"/>
          </a:xfrm>
          <a:prstGeom prst="rect">
            <a:avLst/>
          </a:prstGeom>
          <a:noFill/>
          <a:ln>
            <a:noFill/>
          </a:ln>
        </p:spPr>
        <p:txBody>
          <a:bodyPr wrap="square" lIns="76200" tIns="38100" rIns="76200" bIns="38100" anchor="ctr"/>
          <a:lstStyle/>
          <a:p>
            <a:r>
              <a:t>Mean 3D ball error below 120 mm in the garage arena.</a:t>
            </a:r>
          </a:p>
        </p:txBody>
      </p:sp>
      <p:sp>
        <p:nvSpPr>
          <p:cNvPr id="106" name="r106"/>
          <p:cNvSpPr/>
          <p:nvPr/>
        </p:nvSpPr>
        <p:spPr>
          <a:xfrm>
            <a:off x="6096000" y="2095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07" name="t107"/>
          <p:cNvSpPr txBox="1"/>
          <p:nvPr/>
        </p:nvSpPr>
        <p:spPr>
          <a:xfrm>
            <a:off x="6350000" y="2324100"/>
            <a:ext cx="1016000"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O2</a:t>
            </a:r>
          </a:p>
        </p:txBody>
      </p:sp>
      <p:sp>
        <p:nvSpPr>
          <p:cNvPr id="108" name="t108"/>
          <p:cNvSpPr txBox="1"/>
          <p:nvPr/>
        </p:nvSpPr>
        <p:spPr>
          <a:xfrm>
            <a:off x="7493000" y="2324100"/>
            <a:ext cx="3683000" cy="457200"/>
          </a:xfrm>
          <a:prstGeom prst="rect">
            <a:avLst/>
          </a:prstGeom>
          <a:noFill/>
          <a:ln>
            <a:noFill/>
          </a:ln>
        </p:spPr>
        <p:txBody>
          <a:bodyPr wrap="square" lIns="76200" tIns="38100" rIns="76200" bIns="38100" anchor="ctr"/>
          <a:lstStyle/>
          <a:p>
            <a:r>
              <a:t>Joint GT</a:t>
            </a:r>
          </a:p>
        </p:txBody>
      </p:sp>
      <p:sp>
        <p:nvSpPr>
          <p:cNvPr id="109" name="t109"/>
          <p:cNvSpPr txBox="1"/>
          <p:nvPr/>
        </p:nvSpPr>
        <p:spPr>
          <a:xfrm>
            <a:off x="7493000" y="2882900"/>
            <a:ext cx="3683000" cy="1079500"/>
          </a:xfrm>
          <a:prstGeom prst="rect">
            <a:avLst/>
          </a:prstGeom>
          <a:noFill/>
          <a:ln>
            <a:noFill/>
          </a:ln>
        </p:spPr>
        <p:txBody>
          <a:bodyPr wrap="square" lIns="76200" tIns="38100" rIns="76200" bIns="38100" anchor="ctr"/>
          <a:lstStyle/>
          <a:p>
            <a:r>
              <a:t>Mean 3D joint error below 180 mm for right knee, right hip, and left shoulder.</a:t>
            </a:r>
          </a:p>
        </p:txBody>
      </p:sp>
      <p:sp>
        <p:nvSpPr>
          <p:cNvPr id="110" name="r110"/>
          <p:cNvSpPr/>
          <p:nvPr/>
        </p:nvSpPr>
        <p:spPr>
          <a:xfrm>
            <a:off x="508000" y="4254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11" name="t111"/>
          <p:cNvSpPr txBox="1"/>
          <p:nvPr/>
        </p:nvSpPr>
        <p:spPr>
          <a:xfrm>
            <a:off x="762000" y="4483100"/>
            <a:ext cx="1016000"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O3</a:t>
            </a:r>
          </a:p>
        </p:txBody>
      </p:sp>
      <p:sp>
        <p:nvSpPr>
          <p:cNvPr id="112" name="t112"/>
          <p:cNvSpPr txBox="1"/>
          <p:nvPr/>
        </p:nvSpPr>
        <p:spPr>
          <a:xfrm>
            <a:off x="1905000" y="4483100"/>
            <a:ext cx="3683000" cy="457200"/>
          </a:xfrm>
          <a:prstGeom prst="rect">
            <a:avLst/>
          </a:prstGeom>
          <a:noFill/>
          <a:ln>
            <a:noFill/>
          </a:ln>
        </p:spPr>
        <p:txBody>
          <a:bodyPr wrap="square" lIns="76200" tIns="38100" rIns="76200" bIns="38100" anchor="ctr"/>
          <a:lstStyle/>
          <a:p>
            <a:r>
              <a:t>Safe integration</a:t>
            </a:r>
          </a:p>
        </p:txBody>
      </p:sp>
      <p:sp>
        <p:nvSpPr>
          <p:cNvPr id="113" name="t113"/>
          <p:cNvSpPr txBox="1"/>
          <p:nvPr/>
        </p:nvSpPr>
        <p:spPr>
          <a:xfrm>
            <a:off x="1905000" y="5041900"/>
            <a:ext cx="3683000" cy="1079500"/>
          </a:xfrm>
          <a:prstGeom prst="rect">
            <a:avLst/>
          </a:prstGeom>
          <a:noFill/>
          <a:ln>
            <a:noFill/>
          </a:ln>
        </p:spPr>
        <p:txBody>
          <a:bodyPr wrap="square" lIns="76200" tIns="38100" rIns="76200" bIns="38100" anchor="ctr"/>
          <a:lstStyle/>
          <a:p>
            <a:r>
              <a:t>Six-stage validation, E-STOP latch, and controlled single-shot tests.</a:t>
            </a:r>
          </a:p>
        </p:txBody>
      </p:sp>
      <p:sp>
        <p:nvSpPr>
          <p:cNvPr id="114" name="r114"/>
          <p:cNvSpPr/>
          <p:nvPr/>
        </p:nvSpPr>
        <p:spPr>
          <a:xfrm>
            <a:off x="6096000" y="4254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15" name="t115"/>
          <p:cNvSpPr txBox="1"/>
          <p:nvPr/>
        </p:nvSpPr>
        <p:spPr>
          <a:xfrm>
            <a:off x="6350000" y="4483100"/>
            <a:ext cx="1016000"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O4</a:t>
            </a:r>
          </a:p>
        </p:txBody>
      </p:sp>
      <p:sp>
        <p:nvSpPr>
          <p:cNvPr id="116" name="t116"/>
          <p:cNvSpPr txBox="1"/>
          <p:nvPr/>
        </p:nvSpPr>
        <p:spPr>
          <a:xfrm>
            <a:off x="7493000" y="4483100"/>
            <a:ext cx="3683000" cy="457200"/>
          </a:xfrm>
          <a:prstGeom prst="rect">
            <a:avLst/>
          </a:prstGeom>
          <a:noFill/>
          <a:ln>
            <a:noFill/>
          </a:ln>
        </p:spPr>
        <p:txBody>
          <a:bodyPr wrap="square" lIns="76200" tIns="38100" rIns="76200" bIns="38100" anchor="ctr"/>
          <a:lstStyle/>
          <a:p>
            <a:r>
              <a:t>Practicality</a:t>
            </a:r>
          </a:p>
        </p:txBody>
      </p:sp>
      <p:sp>
        <p:nvSpPr>
          <p:cNvPr id="117" name="t117"/>
          <p:cNvSpPr txBox="1"/>
          <p:nvPr/>
        </p:nvSpPr>
        <p:spPr>
          <a:xfrm>
            <a:off x="7493000" y="5041900"/>
            <a:ext cx="3683000" cy="1079500"/>
          </a:xfrm>
          <a:prstGeom prst="rect">
            <a:avLst/>
          </a:prstGeom>
          <a:noFill/>
          <a:ln>
            <a:noFill/>
          </a:ln>
        </p:spPr>
        <p:txBody>
          <a:bodyPr wrap="square" lIns="76200" tIns="38100" rIns="76200" bIns="38100" anchor="ctr"/>
          <a:lstStyle/>
          <a:p>
            <a:r>
              <a:t>Commodity cameras, open-source stack, and about USD 200 perception hardware.</a:t>
            </a:r>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r>
              <a:t>Takeaway: the thesis is judged by accuracy, safety, and practical deployability.</a:t>
            </a: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rPr dirty="0"/>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3</a:t>
            </a:r>
          </a:p>
        </p:txBody>
      </p:sp>
    </p:spTree>
    <p:extLst>
      <p:ext uri="{BB962C8B-B14F-4D97-AF65-F5344CB8AC3E}">
        <p14:creationId xmlns:p14="http://schemas.microsoft.com/office/powerpoint/2010/main" val="3293562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5"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830A898-A106-AEF2-130E-6F9D2754DE9B}"/>
              </a:ext>
            </a:extLst>
          </p:cNvPr>
          <p:cNvSpPr>
            <a:spLocks noGrp="1"/>
          </p:cNvSpPr>
          <p:nvPr>
            <p:ph type="title"/>
          </p:nvPr>
        </p:nvSpPr>
        <p:spPr>
          <a:xfrm>
            <a:off x="508000" y="888492"/>
            <a:ext cx="11176000" cy="711200"/>
          </a:xfrm>
        </p:spPr>
        <p:txBody>
          <a:bodyPr wrap="square" lIns="76200" tIns="38100" rIns="76200" bIns="38100" anchor="ctr"/>
          <a:lstStyle/>
          <a:p>
            <a:pPr algn="l">
              <a:buNone/>
            </a:pPr>
            <a:r>
              <a:rPr lang="en-US" sz="3200" b="1" dirty="0">
                <a:solidFill>
                  <a:srgbClr val="1F1F1F"/>
                </a:solidFill>
                <a:latin typeface="Calibri"/>
              </a:rPr>
              <a:t>Background &amp; Related Work</a:t>
            </a:r>
          </a:p>
        </p:txBody>
      </p:sp>
      <p:sp>
        <p:nvSpPr>
          <p:cNvPr id="101" name="t101"/>
          <p:cNvSpPr txBox="1"/>
          <p:nvPr/>
        </p:nvSpPr>
        <p:spPr>
          <a:xfrm>
            <a:off x="508000" y="1498600"/>
            <a:ext cx="11176000" cy="457200"/>
          </a:xfrm>
          <a:prstGeom prst="rect">
            <a:avLst/>
          </a:prstGeom>
          <a:noFill/>
          <a:ln>
            <a:noFill/>
          </a:ln>
        </p:spPr>
        <p:txBody>
          <a:bodyPr wrap="square" lIns="76200" tIns="38100" rIns="76200" bIns="38100" anchor="ctr"/>
          <a:lstStyle/>
          <a:p>
            <a:r>
              <a:t>Gap: low-cost joint-level targeting with physical actuation. Prior NU work (Orynbay 2025) delivered an omnidirectional launcher but no joint-level vision guidance.</a:t>
            </a:r>
          </a:p>
        </p:txBody>
      </p:sp>
      <p:sp>
        <p:nvSpPr>
          <p:cNvPr id="102" name="r102"/>
          <p:cNvSpPr/>
          <p:nvPr/>
        </p:nvSpPr>
        <p:spPr>
          <a:xfrm>
            <a:off x="508000" y="2159000"/>
            <a:ext cx="4064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159000"/>
            <a:ext cx="39624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Approach</a:t>
            </a:r>
          </a:p>
        </p:txBody>
      </p:sp>
      <p:sp>
        <p:nvSpPr>
          <p:cNvPr id="104" name="r104"/>
          <p:cNvSpPr/>
          <p:nvPr/>
        </p:nvSpPr>
        <p:spPr>
          <a:xfrm>
            <a:off x="4572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4572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Cost</a:t>
            </a:r>
          </a:p>
        </p:txBody>
      </p:sp>
      <p:sp>
        <p:nvSpPr>
          <p:cNvPr id="106" name="r106"/>
          <p:cNvSpPr/>
          <p:nvPr/>
        </p:nvSpPr>
        <p:spPr>
          <a:xfrm>
            <a:off x="6350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6350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Accuracy</a:t>
            </a:r>
          </a:p>
        </p:txBody>
      </p:sp>
      <p:sp>
        <p:nvSpPr>
          <p:cNvPr id="108" name="r108"/>
          <p:cNvSpPr/>
          <p:nvPr/>
        </p:nvSpPr>
        <p:spPr>
          <a:xfrm>
            <a:off x="8128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9" name="t109"/>
          <p:cNvSpPr txBox="1"/>
          <p:nvPr/>
        </p:nvSpPr>
        <p:spPr>
          <a:xfrm>
            <a:off x="8128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Markerless</a:t>
            </a:r>
          </a:p>
        </p:txBody>
      </p:sp>
      <p:sp>
        <p:nvSpPr>
          <p:cNvPr id="110" name="r110"/>
          <p:cNvSpPr/>
          <p:nvPr/>
        </p:nvSpPr>
        <p:spPr>
          <a:xfrm>
            <a:off x="9906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1" name="t111"/>
          <p:cNvSpPr txBox="1"/>
          <p:nvPr/>
        </p:nvSpPr>
        <p:spPr>
          <a:xfrm>
            <a:off x="9906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Closed-loop</a:t>
            </a:r>
          </a:p>
        </p:txBody>
      </p:sp>
      <p:sp>
        <p:nvSpPr>
          <p:cNvPr id="112" name="r112"/>
          <p:cNvSpPr/>
          <p:nvPr/>
        </p:nvSpPr>
        <p:spPr>
          <a:xfrm>
            <a:off x="508000" y="2717800"/>
            <a:ext cx="4064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609600" y="271780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Optical MoCap (OptiTrack, Vicon)</a:t>
            </a:r>
          </a:p>
        </p:txBody>
      </p:sp>
      <p:sp>
        <p:nvSpPr>
          <p:cNvPr id="114" name="r114"/>
          <p:cNvSpPr/>
          <p:nvPr/>
        </p:nvSpPr>
        <p:spPr>
          <a:xfrm>
            <a:off x="4572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4673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USD 50k–200k</a:t>
            </a:r>
          </a:p>
        </p:txBody>
      </p:sp>
      <p:sp>
        <p:nvSpPr>
          <p:cNvPr id="116" name="r116"/>
          <p:cNvSpPr/>
          <p:nvPr/>
        </p:nvSpPr>
        <p:spPr>
          <a:xfrm>
            <a:off x="6350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6451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High</a:t>
            </a:r>
          </a:p>
        </p:txBody>
      </p:sp>
      <p:sp>
        <p:nvSpPr>
          <p:cNvPr id="118" name="r118"/>
          <p:cNvSpPr/>
          <p:nvPr/>
        </p:nvSpPr>
        <p:spPr>
          <a:xfrm>
            <a:off x="8128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8229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No</a:t>
            </a:r>
          </a:p>
        </p:txBody>
      </p:sp>
      <p:sp>
        <p:nvSpPr>
          <p:cNvPr id="120" name="r120"/>
          <p:cNvSpPr/>
          <p:nvPr/>
        </p:nvSpPr>
        <p:spPr>
          <a:xfrm>
            <a:off x="9906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10007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No</a:t>
            </a:r>
          </a:p>
        </p:txBody>
      </p:sp>
      <p:sp>
        <p:nvSpPr>
          <p:cNvPr id="122" name="r122"/>
          <p:cNvSpPr/>
          <p:nvPr/>
        </p:nvSpPr>
        <p:spPr>
          <a:xfrm>
            <a:off x="508000" y="3498850"/>
            <a:ext cx="4064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609600" y="349885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Monocular pose (OpenPose, MediaPipe, YOLO-Pose)</a:t>
            </a:r>
          </a:p>
        </p:txBody>
      </p:sp>
      <p:sp>
        <p:nvSpPr>
          <p:cNvPr id="124" name="r124"/>
          <p:cNvSpPr/>
          <p:nvPr/>
        </p:nvSpPr>
        <p:spPr>
          <a:xfrm>
            <a:off x="4572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4673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Low</a:t>
            </a:r>
          </a:p>
        </p:txBody>
      </p:sp>
      <p:sp>
        <p:nvSpPr>
          <p:cNvPr id="126" name="r126"/>
          <p:cNvSpPr/>
          <p:nvPr/>
        </p:nvSpPr>
        <p:spPr>
          <a:xfrm>
            <a:off x="6350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451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Medium</a:t>
            </a:r>
          </a:p>
        </p:txBody>
      </p:sp>
      <p:sp>
        <p:nvSpPr>
          <p:cNvPr id="128" name="r128"/>
          <p:cNvSpPr/>
          <p:nvPr/>
        </p:nvSpPr>
        <p:spPr>
          <a:xfrm>
            <a:off x="8128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8229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30" name="r130"/>
          <p:cNvSpPr/>
          <p:nvPr/>
        </p:nvSpPr>
        <p:spPr>
          <a:xfrm>
            <a:off x="9906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10007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Partial</a:t>
            </a:r>
          </a:p>
        </p:txBody>
      </p:sp>
      <p:sp>
        <p:nvSpPr>
          <p:cNvPr id="132" name="r132"/>
          <p:cNvSpPr/>
          <p:nvPr/>
        </p:nvSpPr>
        <p:spPr>
          <a:xfrm>
            <a:off x="508000" y="4279900"/>
            <a:ext cx="4064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609600" y="427990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Multi-view triangulation (Hartley &amp; Zisserman, SVD-DLT)</a:t>
            </a:r>
          </a:p>
        </p:txBody>
      </p:sp>
      <p:sp>
        <p:nvSpPr>
          <p:cNvPr id="134" name="r134"/>
          <p:cNvSpPr/>
          <p:nvPr/>
        </p:nvSpPr>
        <p:spPr>
          <a:xfrm>
            <a:off x="4572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5" name="t135"/>
          <p:cNvSpPr txBox="1"/>
          <p:nvPr/>
        </p:nvSpPr>
        <p:spPr>
          <a:xfrm>
            <a:off x="4673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Low</a:t>
            </a:r>
          </a:p>
        </p:txBody>
      </p:sp>
      <p:sp>
        <p:nvSpPr>
          <p:cNvPr id="136" name="r136"/>
          <p:cNvSpPr/>
          <p:nvPr/>
        </p:nvSpPr>
        <p:spPr>
          <a:xfrm>
            <a:off x="6350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7" name="t137"/>
          <p:cNvSpPr txBox="1"/>
          <p:nvPr/>
        </p:nvSpPr>
        <p:spPr>
          <a:xfrm>
            <a:off x="6451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High</a:t>
            </a:r>
          </a:p>
        </p:txBody>
      </p:sp>
      <p:sp>
        <p:nvSpPr>
          <p:cNvPr id="138" name="r138"/>
          <p:cNvSpPr/>
          <p:nvPr/>
        </p:nvSpPr>
        <p:spPr>
          <a:xfrm>
            <a:off x="8128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9" name="t139"/>
          <p:cNvSpPr txBox="1"/>
          <p:nvPr/>
        </p:nvSpPr>
        <p:spPr>
          <a:xfrm>
            <a:off x="8229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40" name="r140"/>
          <p:cNvSpPr/>
          <p:nvPr/>
        </p:nvSpPr>
        <p:spPr>
          <a:xfrm>
            <a:off x="9906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41" name="t141"/>
          <p:cNvSpPr txBox="1"/>
          <p:nvPr/>
        </p:nvSpPr>
        <p:spPr>
          <a:xfrm>
            <a:off x="10007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Rare</a:t>
            </a:r>
          </a:p>
        </p:txBody>
      </p:sp>
      <p:sp>
        <p:nvSpPr>
          <p:cNvPr id="142" name="r142"/>
          <p:cNvSpPr/>
          <p:nvPr/>
        </p:nvSpPr>
        <p:spPr>
          <a:xfrm>
            <a:off x="508000" y="5060950"/>
            <a:ext cx="4064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3" name="t143"/>
          <p:cNvSpPr txBox="1"/>
          <p:nvPr/>
        </p:nvSpPr>
        <p:spPr>
          <a:xfrm>
            <a:off x="609600" y="5060950"/>
            <a:ext cx="3860800" cy="78105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This work (MVT + YOLO-Pose + FSM)</a:t>
            </a:r>
          </a:p>
        </p:txBody>
      </p:sp>
      <p:sp>
        <p:nvSpPr>
          <p:cNvPr id="144" name="r144"/>
          <p:cNvSpPr/>
          <p:nvPr/>
        </p:nvSpPr>
        <p:spPr>
          <a:xfrm>
            <a:off x="4572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5" name="t145"/>
          <p:cNvSpPr txBox="1"/>
          <p:nvPr/>
        </p:nvSpPr>
        <p:spPr>
          <a:xfrm>
            <a:off x="4673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~USD 200</a:t>
            </a:r>
          </a:p>
        </p:txBody>
      </p:sp>
      <p:sp>
        <p:nvSpPr>
          <p:cNvPr id="146" name="r146"/>
          <p:cNvSpPr/>
          <p:nvPr/>
        </p:nvSpPr>
        <p:spPr>
          <a:xfrm>
            <a:off x="6350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7" name="t147"/>
          <p:cNvSpPr txBox="1"/>
          <p:nvPr/>
        </p:nvSpPr>
        <p:spPr>
          <a:xfrm>
            <a:off x="6451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High</a:t>
            </a:r>
          </a:p>
        </p:txBody>
      </p:sp>
      <p:sp>
        <p:nvSpPr>
          <p:cNvPr id="148" name="r148"/>
          <p:cNvSpPr/>
          <p:nvPr/>
        </p:nvSpPr>
        <p:spPr>
          <a:xfrm>
            <a:off x="8128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9" name="t149"/>
          <p:cNvSpPr txBox="1"/>
          <p:nvPr/>
        </p:nvSpPr>
        <p:spPr>
          <a:xfrm>
            <a:off x="8229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50" name="r150"/>
          <p:cNvSpPr/>
          <p:nvPr/>
        </p:nvSpPr>
        <p:spPr>
          <a:xfrm>
            <a:off x="9906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51" name="t151"/>
          <p:cNvSpPr txBox="1"/>
          <p:nvPr/>
        </p:nvSpPr>
        <p:spPr>
          <a:xfrm>
            <a:off x="10007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53" name="r153"/>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54" name="t154"/>
          <p:cNvSpPr txBox="1"/>
          <p:nvPr/>
        </p:nvSpPr>
        <p:spPr>
          <a:xfrm>
            <a:off x="508000" y="6350000"/>
            <a:ext cx="11176000" cy="508000"/>
          </a:xfrm>
          <a:prstGeom prst="rect">
            <a:avLst/>
          </a:prstGeom>
          <a:noFill/>
          <a:ln>
            <a:noFill/>
          </a:ln>
        </p:spPr>
        <p:txBody>
          <a:bodyPr wrap="square" lIns="76200" tIns="38100" rIns="76200" bIns="38100" anchor="ctr"/>
          <a:lstStyle/>
          <a:p>
            <a:r>
              <a:t>Takeaway: no prior low-cost system combines 3D joint localisation and physical ballistic targeting in a domestic arena.</a:t>
            </a:r>
          </a:p>
        </p:txBody>
      </p:sp>
      <p:sp>
        <p:nvSpPr>
          <p:cNvPr id="158" name="Rectangle 157"/>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59" name="Rectangle 158"/>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4</a:t>
            </a:r>
          </a:p>
        </p:txBody>
      </p:sp>
      <p:sp>
        <p:nvSpPr>
          <p:cNvPr id="3" name="r100">
            <a:extLst>
              <a:ext uri="{FF2B5EF4-FFF2-40B4-BE49-F238E27FC236}">
                <a16:creationId xmlns:a16="http://schemas.microsoft.com/office/drawing/2014/main" id="{348415D7-1934-2FA5-6E14-8A8C95A3E103}"/>
              </a:ext>
            </a:extLst>
          </p:cNvPr>
          <p:cNvSpPr/>
          <p:nvPr/>
        </p:nvSpPr>
        <p:spPr>
          <a:xfrm>
            <a:off x="609600" y="1477253"/>
            <a:ext cx="4760595" cy="74444"/>
          </a:xfrm>
          <a:prstGeom prst="rect">
            <a:avLst/>
          </a:prstGeom>
          <a:solidFill>
            <a:srgbClr val="935739"/>
          </a:solidFill>
          <a:ln>
            <a:noFill/>
          </a:ln>
        </p:spPr>
        <p:txBody>
          <a:bodyPr wrap="square" anchor="ctr"/>
          <a:lstStyle/>
          <a:p>
            <a:endParaRPr lang="en-US"/>
          </a:p>
        </p:txBody>
      </p:sp>
      <p:sp>
        <p:nvSpPr>
          <p:cNvPr id="160" name="TextBox 159"/>
          <p:cNvSpPr txBox="1"/>
          <p:nvPr/>
        </p:nvSpPr>
        <p:spPr>
          <a:xfrm>
            <a:off x="512064" y="1828800"/>
            <a:ext cx="11173968" cy="320040"/>
          </a:xfrm>
          <a:prstGeom prst="rect">
            <a:avLst/>
          </a:prstGeom>
          <a:noFill/>
        </p:spPr>
        <p:txBody>
          <a:bodyPr wrap="square">
            <a:spAutoFit/>
          </a:bodyPr>
          <a:lstStyle/>
          <a:p>
            <a:pPr algn="l"/>
            <a:r>
              <a:rPr sz="1200" i="1">
                <a:solidFill>
                  <a:srgbClr val="8A8A8A"/>
                </a:solidFill>
              </a:rPr>
              <a:t>Table 1. Existing categories and the gap this thesis fills.</a:t>
            </a:r>
          </a:p>
        </p:txBody>
      </p:sp>
    </p:spTree>
    <p:extLst>
      <p:ext uri="{BB962C8B-B14F-4D97-AF65-F5344CB8AC3E}">
        <p14:creationId xmlns:p14="http://schemas.microsoft.com/office/powerpoint/2010/main" val="2890502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E746BD5-2913-DD92-C947-369C3BBB51E4}"/>
              </a:ext>
            </a:extLst>
          </p:cNvPr>
          <p:cNvSpPr>
            <a:spLocks noGrp="1"/>
          </p:cNvSpPr>
          <p:nvPr>
            <p:ph type="title"/>
          </p:nvPr>
        </p:nvSpPr>
        <p:spPr>
          <a:xfrm>
            <a:off x="508000" y="1239520"/>
            <a:ext cx="11176000" cy="711200"/>
          </a:xfrm>
        </p:spPr>
        <p:txBody>
          <a:bodyPr wrap="square" lIns="76200" tIns="38100" rIns="76200" bIns="38100" anchor="ctr"/>
          <a:lstStyle/>
          <a:p>
            <a:pPr algn="l">
              <a:buNone/>
            </a:pPr>
            <a:r>
              <a:rPr lang="en-US" sz="3200" b="1" dirty="0">
                <a:solidFill>
                  <a:srgbClr val="1F1F1F"/>
                </a:solidFill>
                <a:latin typeface="Calibri"/>
              </a:rPr>
              <a:t>Proposed System — Engineering First</a:t>
            </a:r>
          </a:p>
        </p:txBody>
      </p:sp>
      <p:sp>
        <p:nvSpPr>
          <p:cNvPr id="101" name="t101"/>
          <p:cNvSpPr txBox="1"/>
          <p:nvPr/>
        </p:nvSpPr>
        <p:spPr>
          <a:xfrm>
            <a:off x="508000" y="2131060"/>
            <a:ext cx="11176000" cy="457200"/>
          </a:xfrm>
          <a:prstGeom prst="rect">
            <a:avLst/>
          </a:prstGeom>
          <a:noFill/>
          <a:ln>
            <a:noFill/>
          </a:ln>
        </p:spPr>
        <p:txBody>
          <a:bodyPr wrap="square" lIns="76200" tIns="38100" rIns="76200" bIns="38100" anchor="ctr"/>
          <a:lstStyle/>
          <a:p>
            <a:r>
              <a:rPr sz="1800" b="0">
                <a:solidFill>
                  <a:srgbClr val="1F1F1F"/>
                </a:solidFill>
              </a:rPr>
              <a:t>What was inherited, what this thesis adds, and what runs today.</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r>
              <a:rPr sz="1400" b="0">
                <a:solidFill>
                  <a:srgbClr val="1F1F1F"/>
                </a:solidFill>
              </a:rPr>
              <a:t>Takeaway: the thesis contribution is the pose-to-launch loop and the safety-gated integration, on top of an inherited launcher.</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5</a:t>
            </a:r>
          </a:p>
        </p:txBody>
      </p:sp>
      <p:sp>
        <p:nvSpPr>
          <p:cNvPr id="4" name="r100">
            <a:extLst>
              <a:ext uri="{FF2B5EF4-FFF2-40B4-BE49-F238E27FC236}">
                <a16:creationId xmlns:a16="http://schemas.microsoft.com/office/drawing/2014/main" id="{701D6E1F-D161-36F8-EBBD-9EB7CEBB6ACB}"/>
              </a:ext>
            </a:extLst>
          </p:cNvPr>
          <p:cNvSpPr/>
          <p:nvPr/>
        </p:nvSpPr>
        <p:spPr>
          <a:xfrm>
            <a:off x="575310" y="1834366"/>
            <a:ext cx="6267450" cy="74444"/>
          </a:xfrm>
          <a:prstGeom prst="rect">
            <a:avLst/>
          </a:prstGeom>
          <a:solidFill>
            <a:srgbClr val="935739"/>
          </a:solidFill>
          <a:ln>
            <a:noFill/>
          </a:ln>
        </p:spPr>
        <p:txBody>
          <a:bodyPr wrap="square" anchor="ctr"/>
          <a:lstStyle/>
          <a:p>
            <a:endParaRPr lang="en-US"/>
          </a:p>
        </p:txBody>
      </p:sp>
      <p:sp>
        <p:nvSpPr>
          <p:cNvPr id="6" name="AutoShape 4" descr="Compact PNG">
            <a:extLst>
              <a:ext uri="{FF2B5EF4-FFF2-40B4-BE49-F238E27FC236}">
                <a16:creationId xmlns:a16="http://schemas.microsoft.com/office/drawing/2014/main" id="{B191B60C-357A-96AF-CE66-BD81C543A6C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6" descr="PNG 640×480">
            <a:extLst>
              <a:ext uri="{FF2B5EF4-FFF2-40B4-BE49-F238E27FC236}">
                <a16:creationId xmlns:a16="http://schemas.microsoft.com/office/drawing/2014/main" id="{2E6EB612-7719-6BBC-3E2B-67C9B7666FD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12" name="Rounded Rectangle 111"/>
          <p:cNvSpPr/>
          <p:nvPr/>
        </p:nvSpPr>
        <p:spPr>
          <a:xfrm>
            <a:off x="512064" y="2194560"/>
            <a:ext cx="3611880" cy="3474720"/>
          </a:xfrm>
          <a:prstGeom prst="roundRect">
            <a:avLst/>
          </a:prstGeom>
          <a:solidFill>
            <a:srgbClr val="F5F2ED"/>
          </a:solidFill>
          <a:ln w="12700">
            <a:solidFill>
              <a:srgbClr val="E88B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694944" y="2331720"/>
            <a:ext cx="3246120" cy="502920"/>
          </a:xfrm>
          <a:prstGeom prst="rect">
            <a:avLst/>
          </a:prstGeom>
          <a:noFill/>
        </p:spPr>
        <p:txBody>
          <a:bodyPr wrap="square">
            <a:spAutoFit/>
          </a:bodyPr>
          <a:lstStyle/>
          <a:p>
            <a:r>
              <a:rPr sz="1800" b="1">
                <a:solidFill>
                  <a:srgbClr val="E88B40"/>
                </a:solidFill>
              </a:rPr>
              <a:t>Inherited (NU lab BLM)</a:t>
            </a:r>
          </a:p>
        </p:txBody>
      </p:sp>
      <p:sp>
        <p:nvSpPr>
          <p:cNvPr id="114" name="Rectangle 113"/>
          <p:cNvSpPr/>
          <p:nvPr/>
        </p:nvSpPr>
        <p:spPr>
          <a:xfrm>
            <a:off x="694944" y="2852928"/>
            <a:ext cx="3246120" cy="4572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694944" y="2971800"/>
            <a:ext cx="3246120" cy="2560320"/>
          </a:xfrm>
          <a:prstGeom prst="rect">
            <a:avLst/>
          </a:prstGeom>
          <a:noFill/>
        </p:spPr>
        <p:txBody>
          <a:bodyPr wrap="square">
            <a:spAutoFit/>
          </a:bodyPr>
          <a:lstStyle/>
          <a:p>
            <a:pPr>
              <a:spcAft>
                <a:spcPts val="600"/>
              </a:spcAft>
            </a:pPr>
            <a:r>
              <a:rPr sz="1400">
                <a:solidFill>
                  <a:srgbClr val="1F1F1F"/>
                </a:solidFill>
              </a:rPr>
              <a:t>• 2-DOF pan / tilt (NEMA-23 + worm gear)</a:t>
            </a:r>
          </a:p>
          <a:p>
            <a:pPr>
              <a:spcAft>
                <a:spcPts val="600"/>
              </a:spcAft>
            </a:pPr>
            <a:r>
              <a:rPr sz="1400">
                <a:solidFill>
                  <a:srgbClr val="1F1F1F"/>
                </a:solidFill>
              </a:rPr>
              <a:t>• Counter-rotating flywheels + ESC drive</a:t>
            </a:r>
          </a:p>
          <a:p>
            <a:pPr>
              <a:spcAft>
                <a:spcPts val="600"/>
              </a:spcAft>
            </a:pPr>
            <a:r>
              <a:rPr sz="1400">
                <a:solidFill>
                  <a:srgbClr val="1F1F1F"/>
                </a:solidFill>
              </a:rPr>
              <a:t>• ESP32 + DRV8825 pusher</a:t>
            </a:r>
          </a:p>
          <a:p>
            <a:pPr>
              <a:spcAft>
                <a:spcPts val="600"/>
              </a:spcAft>
            </a:pPr>
            <a:r>
              <a:rPr sz="1400">
                <a:solidFill>
                  <a:srgbClr val="1F1F1F"/>
                </a:solidFill>
              </a:rPr>
              <a:t>• Aluminium-profile chassis (Orynbay 2025)</a:t>
            </a:r>
          </a:p>
        </p:txBody>
      </p:sp>
      <p:sp>
        <p:nvSpPr>
          <p:cNvPr id="116" name="Rounded Rectangle 115"/>
          <p:cNvSpPr/>
          <p:nvPr/>
        </p:nvSpPr>
        <p:spPr>
          <a:xfrm>
            <a:off x="4288536" y="2194560"/>
            <a:ext cx="3611880" cy="3474720"/>
          </a:xfrm>
          <a:prstGeom prst="roundRect">
            <a:avLst/>
          </a:prstGeom>
          <a:solidFill>
            <a:srgbClr val="F5F2ED"/>
          </a:solidFill>
          <a:ln w="12700">
            <a:solidFill>
              <a:srgbClr val="E88B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471416" y="2331720"/>
            <a:ext cx="3246120" cy="502920"/>
          </a:xfrm>
          <a:prstGeom prst="rect">
            <a:avLst/>
          </a:prstGeom>
          <a:noFill/>
        </p:spPr>
        <p:txBody>
          <a:bodyPr wrap="square">
            <a:spAutoFit/>
          </a:bodyPr>
          <a:lstStyle/>
          <a:p>
            <a:r>
              <a:rPr sz="1800" b="1">
                <a:solidFill>
                  <a:srgbClr val="E88B40"/>
                </a:solidFill>
              </a:rPr>
              <a:t>This thesis (contribution)</a:t>
            </a:r>
          </a:p>
        </p:txBody>
      </p:sp>
      <p:sp>
        <p:nvSpPr>
          <p:cNvPr id="118" name="Rectangle 117"/>
          <p:cNvSpPr/>
          <p:nvPr/>
        </p:nvSpPr>
        <p:spPr>
          <a:xfrm>
            <a:off x="4471416" y="2852928"/>
            <a:ext cx="3246120" cy="4572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471416" y="2971800"/>
            <a:ext cx="3246120" cy="2560320"/>
          </a:xfrm>
          <a:prstGeom prst="rect">
            <a:avLst/>
          </a:prstGeom>
          <a:noFill/>
        </p:spPr>
        <p:txBody>
          <a:bodyPr wrap="square">
            <a:spAutoFit/>
          </a:bodyPr>
          <a:lstStyle/>
          <a:p>
            <a:pPr>
              <a:spcAft>
                <a:spcPts val="600"/>
              </a:spcAft>
            </a:pPr>
            <a:r>
              <a:rPr sz="1400">
                <a:solidFill>
                  <a:srgbClr val="1F1F1F"/>
                </a:solidFill>
              </a:rPr>
              <a:t>• 4-camera ChArUco + AprilTag calibration</a:t>
            </a:r>
          </a:p>
          <a:p>
            <a:pPr>
              <a:spcAft>
                <a:spcPts val="600"/>
              </a:spcAft>
            </a:pPr>
            <a:r>
              <a:rPr sz="1400">
                <a:solidFill>
                  <a:srgbClr val="1F1F1F"/>
                </a:solidFill>
              </a:rPr>
              <a:t>• Multi-view 3D joint triangulation in mm</a:t>
            </a:r>
          </a:p>
          <a:p>
            <a:pPr>
              <a:spcAft>
                <a:spcPts val="600"/>
              </a:spcAft>
            </a:pPr>
            <a:r>
              <a:rPr sz="1400">
                <a:solidFill>
                  <a:srgbClr val="1F1F1F"/>
                </a:solidFill>
              </a:rPr>
              <a:t>• Ballistic solver for right_knee / right_hip / left_shoulder</a:t>
            </a:r>
          </a:p>
          <a:p>
            <a:pPr>
              <a:spcAft>
                <a:spcPts val="600"/>
              </a:spcAft>
            </a:pPr>
            <a:r>
              <a:rPr sz="1400">
                <a:solidFill>
                  <a:srgbClr val="1F1F1F"/>
                </a:solidFill>
              </a:rPr>
              <a:t>• Six-stage safety protocol + JSONL decision log</a:t>
            </a:r>
          </a:p>
        </p:txBody>
      </p:sp>
      <p:sp>
        <p:nvSpPr>
          <p:cNvPr id="120" name="Rounded Rectangle 119"/>
          <p:cNvSpPr/>
          <p:nvPr/>
        </p:nvSpPr>
        <p:spPr>
          <a:xfrm>
            <a:off x="8065008" y="2194560"/>
            <a:ext cx="3611880" cy="3474720"/>
          </a:xfrm>
          <a:prstGeom prst="roundRect">
            <a:avLst/>
          </a:prstGeom>
          <a:solidFill>
            <a:srgbClr val="F5F2ED"/>
          </a:solidFill>
          <a:ln w="12700">
            <a:solidFill>
              <a:srgbClr val="E88B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8247888" y="2331720"/>
            <a:ext cx="3246120" cy="502920"/>
          </a:xfrm>
          <a:prstGeom prst="rect">
            <a:avLst/>
          </a:prstGeom>
          <a:noFill/>
        </p:spPr>
        <p:txBody>
          <a:bodyPr wrap="square">
            <a:spAutoFit/>
          </a:bodyPr>
          <a:lstStyle/>
          <a:p>
            <a:r>
              <a:rPr sz="1800" b="1">
                <a:solidFill>
                  <a:srgbClr val="E88B40"/>
                </a:solidFill>
              </a:rPr>
              <a:t>Latest implementation (live)</a:t>
            </a:r>
          </a:p>
        </p:txBody>
      </p:sp>
      <p:sp>
        <p:nvSpPr>
          <p:cNvPr id="122" name="Rectangle 121"/>
          <p:cNvSpPr/>
          <p:nvPr/>
        </p:nvSpPr>
        <p:spPr>
          <a:xfrm>
            <a:off x="8247888" y="2852928"/>
            <a:ext cx="3246120" cy="4572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8247888" y="2971800"/>
            <a:ext cx="3246120" cy="2560320"/>
          </a:xfrm>
          <a:prstGeom prst="rect">
            <a:avLst/>
          </a:prstGeom>
          <a:noFill/>
        </p:spPr>
        <p:txBody>
          <a:bodyPr wrap="square">
            <a:spAutoFit/>
          </a:bodyPr>
          <a:lstStyle/>
          <a:p>
            <a:pPr>
              <a:spcAft>
                <a:spcPts val="600"/>
              </a:spcAft>
            </a:pPr>
            <a:r>
              <a:rPr sz="1400">
                <a:solidFill>
                  <a:srgbClr val="1F1F1F"/>
                </a:solidFill>
              </a:rPr>
              <a:t>• YOLO-Pose TRT FP16, 6.2 ms / image</a:t>
            </a:r>
          </a:p>
          <a:p>
            <a:pPr>
              <a:spcAft>
                <a:spcPts val="600"/>
              </a:spcAft>
            </a:pPr>
            <a:r>
              <a:rPr sz="1400">
                <a:solidFill>
                  <a:srgbClr val="1F1F1F"/>
                </a:solidFill>
              </a:rPr>
              <a:t>• YOLO-26m ball TRT FP16, 8 ms / image</a:t>
            </a:r>
          </a:p>
          <a:p>
            <a:pPr>
              <a:spcAft>
                <a:spcPts val="600"/>
              </a:spcAft>
            </a:pPr>
            <a:r>
              <a:rPr sz="1400">
                <a:solidFill>
                  <a:srgbClr val="1F1F1F"/>
                </a:solidFill>
              </a:rPr>
              <a:t>• Robust ball triangulation + single-cam fallback</a:t>
            </a:r>
          </a:p>
          <a:p>
            <a:pPr>
              <a:spcAft>
                <a:spcPts val="600"/>
              </a:spcAft>
            </a:pPr>
            <a:r>
              <a:rPr sz="1400">
                <a:solidFill>
                  <a:srgbClr val="1F1F1F"/>
                </a:solidFill>
              </a:rPr>
              <a:t>• Voice UDP + blm_follow.py auto-reload training mode</a:t>
            </a:r>
          </a:p>
        </p:txBody>
      </p:sp>
    </p:spTree>
    <p:extLst>
      <p:ext uri="{BB962C8B-B14F-4D97-AF65-F5344CB8AC3E}">
        <p14:creationId xmlns:p14="http://schemas.microsoft.com/office/powerpoint/2010/main" val="2679374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D94B3-EDA8-3229-40E7-08A456D45697}"/>
              </a:ext>
            </a:extLst>
          </p:cNvPr>
          <p:cNvSpPr>
            <a:spLocks noGrp="1"/>
          </p:cNvSpPr>
          <p:nvPr>
            <p:ph type="title"/>
          </p:nvPr>
        </p:nvSpPr>
        <p:spPr>
          <a:xfrm>
            <a:off x="508000" y="920750"/>
            <a:ext cx="11176000" cy="711200"/>
          </a:xfrm>
        </p:spPr>
        <p:txBody>
          <a:bodyPr wrap="square" lIns="76200" tIns="38100" rIns="76200" bIns="38100" anchor="ctr"/>
          <a:lstStyle/>
          <a:p>
            <a:pPr algn="l">
              <a:buNone/>
            </a:pPr>
            <a:r>
              <a:rPr lang="en-US" sz="3200" b="1" dirty="0">
                <a:solidFill>
                  <a:srgbClr val="1F1F1F"/>
                </a:solidFill>
                <a:latin typeface="Calibri"/>
              </a:rPr>
              <a:t>Architecture &amp; Pipeline</a:t>
            </a:r>
          </a:p>
        </p:txBody>
      </p:sp>
      <p:sp>
        <p:nvSpPr>
          <p:cNvPr id="101" name="t101"/>
          <p:cNvSpPr txBox="1"/>
          <p:nvPr/>
        </p:nvSpPr>
        <p:spPr>
          <a:xfrm>
            <a:off x="508000" y="1504950"/>
            <a:ext cx="11176000" cy="457200"/>
          </a:xfrm>
          <a:prstGeom prst="rect">
            <a:avLst/>
          </a:prstGeom>
          <a:noFill/>
          <a:ln>
            <a:noFill/>
          </a:ln>
        </p:spPr>
        <p:txBody>
          <a:bodyPr wrap="square" lIns="76200" tIns="38100" rIns="76200" bIns="38100" anchor="ctr"/>
          <a:lstStyle/>
          <a:p>
            <a:r>
              <a:rPr sz="1800" b="0">
                <a:solidFill>
                  <a:srgbClr val="1F1F1F"/>
                </a:solidFill>
              </a:rPr>
              <a:t>Live pipeline is YOLO-Pose-first; MMPose is retained only as the GT-evaluation backend.</a:t>
            </a:r>
          </a:p>
        </p:txBody>
      </p:sp>
      <p:sp>
        <p:nvSpPr>
          <p:cNvPr id="102" name="r102"/>
          <p:cNvSpPr/>
          <p:nvPr/>
        </p:nvSpPr>
        <p:spPr>
          <a:xfrm>
            <a:off x="508000" y="2095500"/>
            <a:ext cx="11176000" cy="3048000"/>
          </a:xfrm>
          <a:prstGeom prst="rect">
            <a:avLst/>
          </a:prstGeom>
          <a:solidFill>
            <a:srgbClr val="F7F1EC"/>
          </a:solidFill>
          <a:ln w="15240">
            <a:solidFill>
              <a:srgbClr val="935739"/>
            </a:solidFill>
          </a:ln>
        </p:spPr>
        <p:txBody>
          <a:bodyPr wrap="square" anchor="ctr"/>
          <a:lstStyle/>
          <a:p>
            <a:endParaRPr lang="en-US"/>
          </a:p>
        </p:txBody>
      </p:sp>
      <p:sp>
        <p:nvSpPr>
          <p:cNvPr id="104" name="t104"/>
          <p:cNvSpPr txBox="1"/>
          <p:nvPr/>
        </p:nvSpPr>
        <p:spPr>
          <a:xfrm>
            <a:off x="508000" y="5270500"/>
            <a:ext cx="11176000" cy="1016000"/>
          </a:xfrm>
          <a:prstGeom prst="rect">
            <a:avLst/>
          </a:prstGeom>
          <a:noFill/>
          <a:ln>
            <a:noFill/>
          </a:ln>
        </p:spPr>
        <p:txBody>
          <a:bodyPr wrap="square" lIns="76200" tIns="38100" rIns="76200" bIns="38100" anchor="ctr"/>
          <a:lstStyle/>
          <a:p>
            <a:r>
              <a:t>Perception + command remain inside the real-time budget.</a:t>
            </a:r>
          </a:p>
          <a:p>
            <a:r>
              <a:t>Current code path is YOLO-Pose-based for live body-joint targeting.</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r>
              <a:t>Takeaway: the current implementation is YOLO-Pose-first, end to end.</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6</a:t>
            </a:r>
          </a:p>
        </p:txBody>
      </p:sp>
      <p:sp>
        <p:nvSpPr>
          <p:cNvPr id="4" name="r100">
            <a:extLst>
              <a:ext uri="{FF2B5EF4-FFF2-40B4-BE49-F238E27FC236}">
                <a16:creationId xmlns:a16="http://schemas.microsoft.com/office/drawing/2014/main" id="{61B0C28A-DB8B-7382-848C-20D0E37DD0F8}"/>
              </a:ext>
            </a:extLst>
          </p:cNvPr>
          <p:cNvSpPr/>
          <p:nvPr/>
        </p:nvSpPr>
        <p:spPr>
          <a:xfrm>
            <a:off x="579120" y="1428496"/>
            <a:ext cx="3912870" cy="74444"/>
          </a:xfrm>
          <a:prstGeom prst="rect">
            <a:avLst/>
          </a:prstGeom>
          <a:solidFill>
            <a:srgbClr val="935739"/>
          </a:solidFill>
          <a:ln>
            <a:noFill/>
          </a:ln>
        </p:spPr>
        <p:txBody>
          <a:bodyPr wrap="square" anchor="ctr"/>
          <a:lstStyle/>
          <a:p>
            <a:endParaRPr lang="en-US"/>
          </a:p>
        </p:txBody>
      </p:sp>
      <p:pic>
        <p:nvPicPr>
          <p:cNvPr id="6" name="Picture 5">
            <a:extLst>
              <a:ext uri="{FF2B5EF4-FFF2-40B4-BE49-F238E27FC236}">
                <a16:creationId xmlns:a16="http://schemas.microsoft.com/office/drawing/2014/main" id="{E88AC2D6-BAB2-9457-3C96-72DA1E231E94}"/>
              </a:ext>
            </a:extLst>
          </p:cNvPr>
          <p:cNvPicPr>
            <a:picLocks noChangeAspect="1"/>
          </p:cNvPicPr>
          <p:nvPr/>
        </p:nvPicPr>
        <p:blipFill>
          <a:blip r:embed="rId4"/>
          <a:srcRect t="17357" b="17659"/>
          <a:stretch>
            <a:fillRect/>
          </a:stretch>
        </p:blipFill>
        <p:spPr>
          <a:xfrm>
            <a:off x="539725" y="2131060"/>
            <a:ext cx="11112550" cy="2921000"/>
          </a:xfrm>
          <a:prstGeom prst="rect">
            <a:avLst/>
          </a:prstGeom>
        </p:spPr>
      </p:pic>
      <p:pic>
        <p:nvPicPr>
          <p:cNvPr id="112" name="Picture 111" descr="fig_smoke_frame_0080.png"/>
          <p:cNvPicPr>
            <a:picLocks noChangeAspect="1"/>
          </p:cNvPicPr>
          <p:nvPr/>
        </p:nvPicPr>
        <p:blipFill>
          <a:blip r:embed="rId5"/>
          <a:stretch>
            <a:fillRect/>
          </a:stretch>
        </p:blipFill>
        <p:spPr>
          <a:xfrm>
            <a:off x="635000" y="2222500"/>
            <a:ext cx="10922000" cy="2794000"/>
          </a:xfrm>
          <a:prstGeom prst="rect">
            <a:avLst/>
          </a:prstGeom>
        </p:spPr>
      </p:pic>
      <p:sp>
        <p:nvSpPr>
          <p:cNvPr id="113" name="TextBox 112"/>
          <p:cNvSpPr txBox="1"/>
          <p:nvPr/>
        </p:nvSpPr>
        <p:spPr>
          <a:xfrm>
            <a:off x="512064" y="5074920"/>
            <a:ext cx="11173968" cy="320040"/>
          </a:xfrm>
          <a:prstGeom prst="rect">
            <a:avLst/>
          </a:prstGeom>
          <a:noFill/>
        </p:spPr>
        <p:txBody>
          <a:bodyPr wrap="square">
            <a:spAutoFit/>
          </a:bodyPr>
          <a:lstStyle/>
          <a:p>
            <a:pPr algn="l"/>
            <a:r>
              <a:rPr sz="1200" i="1">
                <a:solidFill>
                  <a:srgbClr val="8A8A8A"/>
                </a:solidFill>
              </a:rPr>
              <a:t>Figure 1. Live run snapshot of the end-to-end YOLO-Pose pipeline (4-camera arena + 3D overlay).</a:t>
            </a:r>
          </a:p>
        </p:txBody>
      </p:sp>
    </p:spTree>
    <p:extLst>
      <p:ext uri="{BB962C8B-B14F-4D97-AF65-F5344CB8AC3E}">
        <p14:creationId xmlns:p14="http://schemas.microsoft.com/office/powerpoint/2010/main" val="4973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8"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635394-164C-9D20-18AB-4002E28303CD}"/>
              </a:ext>
            </a:extLst>
          </p:cNvPr>
          <p:cNvSpPr>
            <a:spLocks noGrp="1"/>
          </p:cNvSpPr>
          <p:nvPr>
            <p:ph type="title"/>
          </p:nvPr>
        </p:nvSpPr>
        <p:spPr>
          <a:xfrm>
            <a:off x="410845" y="1098550"/>
            <a:ext cx="11176000" cy="711200"/>
          </a:xfrm>
        </p:spPr>
        <p:txBody>
          <a:bodyPr wrap="square" lIns="76200" tIns="38100" rIns="76200" bIns="38100" anchor="ctr"/>
          <a:lstStyle/>
          <a:p>
            <a:pPr algn="l">
              <a:buNone/>
            </a:pPr>
            <a:r>
              <a:rPr lang="en-US" sz="3200" b="1" dirty="0">
                <a:solidFill>
                  <a:srgbClr val="1F1F1F"/>
                </a:solidFill>
                <a:latin typeface="Calibri"/>
              </a:rPr>
              <a:t>Hardware Implementation</a:t>
            </a:r>
          </a:p>
        </p:txBody>
      </p:sp>
      <p:sp>
        <p:nvSpPr>
          <p:cNvPr id="101" name="t101"/>
          <p:cNvSpPr txBox="1"/>
          <p:nvPr/>
        </p:nvSpPr>
        <p:spPr>
          <a:xfrm>
            <a:off x="410845" y="1997710"/>
            <a:ext cx="11176000" cy="457200"/>
          </a:xfrm>
          <a:prstGeom prst="rect">
            <a:avLst/>
          </a:prstGeom>
          <a:noFill/>
          <a:ln>
            <a:noFill/>
          </a:ln>
        </p:spPr>
        <p:txBody>
          <a:bodyPr wrap="square" lIns="76200" tIns="38100" rIns="76200" bIns="38100" anchor="ctr"/>
          <a:lstStyle/>
          <a:p>
            <a:r>
              <a:rPr dirty="0"/>
              <a:t>Inherited machine hardware plus low-cost sensing</a:t>
            </a:r>
            <a:endParaRPr lang="ru-RU" dirty="0"/>
          </a:p>
          <a:p>
            <a:r>
              <a:rPr dirty="0"/>
              <a:t> makes the system practical.</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r>
              <a:rPr dirty="0"/>
              <a:t>4× Hikvision DS-E12 USB cameras, 1280×720, about USD 30 each.</a:t>
            </a:r>
          </a:p>
          <a:p>
            <a:r>
              <a:rPr dirty="0"/>
              <a:t>Inherited BLM: flywheels, feed mechanism, NEMA-23 pan/tilt, and worm gears.</a:t>
            </a:r>
          </a:p>
          <a:p>
            <a:r>
              <a:rPr dirty="0"/>
              <a:t>ESP32 executes set, shoot, reload, center, and stop commands from the host PC.</a:t>
            </a:r>
          </a:p>
          <a:p>
            <a:r>
              <a:rPr dirty="0"/>
              <a:t>24 V fused rail, normally-closed E-STOP, and guarded single-shot validation.</a:t>
            </a:r>
          </a:p>
        </p:txBody>
      </p:sp>
      <p:sp>
        <p:nvSpPr>
          <p:cNvPr id="103" name="r103"/>
          <p:cNvSpPr/>
          <p:nvPr/>
        </p:nvSpPr>
        <p:spPr>
          <a:xfrm>
            <a:off x="6858000" y="2095500"/>
            <a:ext cx="4826000" cy="2286000"/>
          </a:xfrm>
          <a:prstGeom prst="rect">
            <a:avLst/>
          </a:prstGeom>
          <a:solidFill>
            <a:srgbClr val="F7F1EC"/>
          </a:solidFill>
          <a:ln w="15240">
            <a:solidFill>
              <a:srgbClr val="935739"/>
            </a:solidFill>
          </a:ln>
        </p:spPr>
        <p:txBody>
          <a:bodyPr wrap="square" anchor="ctr"/>
          <a:lstStyle/>
          <a:p>
            <a:endParaRPr lang="en-US"/>
          </a:p>
        </p:txBody>
      </p:sp>
      <p:sp>
        <p:nvSpPr>
          <p:cNvPr id="105" name="r105"/>
          <p:cNvSpPr/>
          <p:nvPr/>
        </p:nvSpPr>
        <p:spPr>
          <a:xfrm>
            <a:off x="6858000" y="4508500"/>
            <a:ext cx="4826000" cy="3556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6" name="t106"/>
          <p:cNvSpPr txBox="1"/>
          <p:nvPr/>
        </p:nvSpPr>
        <p:spPr>
          <a:xfrm>
            <a:off x="6959600" y="4508500"/>
            <a:ext cx="2540000" cy="3556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Item</a:t>
            </a:r>
          </a:p>
        </p:txBody>
      </p:sp>
      <p:sp>
        <p:nvSpPr>
          <p:cNvPr id="107" name="t107"/>
          <p:cNvSpPr txBox="1"/>
          <p:nvPr/>
        </p:nvSpPr>
        <p:spPr>
          <a:xfrm>
            <a:off x="9499600" y="4508500"/>
            <a:ext cx="2032000" cy="3556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Cost</a:t>
            </a:r>
          </a:p>
        </p:txBody>
      </p:sp>
      <p:sp>
        <p:nvSpPr>
          <p:cNvPr id="108" name="r108"/>
          <p:cNvSpPr/>
          <p:nvPr/>
        </p:nvSpPr>
        <p:spPr>
          <a:xfrm>
            <a:off x="6858000" y="48641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6959600" y="48641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Cameras (4×)</a:t>
            </a:r>
          </a:p>
        </p:txBody>
      </p:sp>
      <p:sp>
        <p:nvSpPr>
          <p:cNvPr id="110" name="t110"/>
          <p:cNvSpPr txBox="1"/>
          <p:nvPr/>
        </p:nvSpPr>
        <p:spPr>
          <a:xfrm>
            <a:off x="9499600" y="48641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120</a:t>
            </a:r>
          </a:p>
        </p:txBody>
      </p:sp>
      <p:sp>
        <p:nvSpPr>
          <p:cNvPr id="111" name="r111"/>
          <p:cNvSpPr/>
          <p:nvPr/>
        </p:nvSpPr>
        <p:spPr>
          <a:xfrm>
            <a:off x="6858000" y="50927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2" name="t112"/>
          <p:cNvSpPr txBox="1"/>
          <p:nvPr/>
        </p:nvSpPr>
        <p:spPr>
          <a:xfrm>
            <a:off x="6959600" y="50927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ESP32</a:t>
            </a:r>
          </a:p>
        </p:txBody>
      </p:sp>
      <p:sp>
        <p:nvSpPr>
          <p:cNvPr id="113" name="t113"/>
          <p:cNvSpPr txBox="1"/>
          <p:nvPr/>
        </p:nvSpPr>
        <p:spPr>
          <a:xfrm>
            <a:off x="9499600" y="50927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8</a:t>
            </a:r>
          </a:p>
        </p:txBody>
      </p:sp>
      <p:sp>
        <p:nvSpPr>
          <p:cNvPr id="114" name="r114"/>
          <p:cNvSpPr/>
          <p:nvPr/>
        </p:nvSpPr>
        <p:spPr>
          <a:xfrm>
            <a:off x="6858000" y="53213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959600" y="53213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Steppers + drivers</a:t>
            </a:r>
          </a:p>
        </p:txBody>
      </p:sp>
      <p:sp>
        <p:nvSpPr>
          <p:cNvPr id="116" name="t116"/>
          <p:cNvSpPr txBox="1"/>
          <p:nvPr/>
        </p:nvSpPr>
        <p:spPr>
          <a:xfrm>
            <a:off x="9499600" y="53213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90</a:t>
            </a:r>
          </a:p>
        </p:txBody>
      </p:sp>
      <p:sp>
        <p:nvSpPr>
          <p:cNvPr id="117" name="r117"/>
          <p:cNvSpPr/>
          <p:nvPr/>
        </p:nvSpPr>
        <p:spPr>
          <a:xfrm>
            <a:off x="6858000" y="55499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8" name="t118"/>
          <p:cNvSpPr txBox="1"/>
          <p:nvPr/>
        </p:nvSpPr>
        <p:spPr>
          <a:xfrm>
            <a:off x="6959600" y="55499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Flywheel motors + ESCs</a:t>
            </a:r>
          </a:p>
        </p:txBody>
      </p:sp>
      <p:sp>
        <p:nvSpPr>
          <p:cNvPr id="119" name="t119"/>
          <p:cNvSpPr txBox="1"/>
          <p:nvPr/>
        </p:nvSpPr>
        <p:spPr>
          <a:xfrm>
            <a:off x="9499600" y="55499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60</a:t>
            </a:r>
          </a:p>
        </p:txBody>
      </p:sp>
      <p:sp>
        <p:nvSpPr>
          <p:cNvPr id="120" name="r120"/>
          <p:cNvSpPr/>
          <p:nvPr/>
        </p:nvSpPr>
        <p:spPr>
          <a:xfrm>
            <a:off x="6858000" y="57785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6959600" y="57785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Chassis + wiring</a:t>
            </a:r>
          </a:p>
        </p:txBody>
      </p:sp>
      <p:sp>
        <p:nvSpPr>
          <p:cNvPr id="122" name="t122"/>
          <p:cNvSpPr txBox="1"/>
          <p:nvPr/>
        </p:nvSpPr>
        <p:spPr>
          <a:xfrm>
            <a:off x="9499600" y="57785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80</a:t>
            </a:r>
          </a:p>
        </p:txBody>
      </p:sp>
      <p:sp>
        <p:nvSpPr>
          <p:cNvPr id="123" name="r123"/>
          <p:cNvSpPr/>
          <p:nvPr/>
        </p:nvSpPr>
        <p:spPr>
          <a:xfrm>
            <a:off x="6858000" y="60071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4" name="t124"/>
          <p:cNvSpPr txBox="1"/>
          <p:nvPr/>
        </p:nvSpPr>
        <p:spPr>
          <a:xfrm>
            <a:off x="6959600" y="60071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Perception PC (recycled)</a:t>
            </a:r>
          </a:p>
        </p:txBody>
      </p:sp>
      <p:sp>
        <p:nvSpPr>
          <p:cNvPr id="125" name="t125"/>
          <p:cNvSpPr txBox="1"/>
          <p:nvPr/>
        </p:nvSpPr>
        <p:spPr>
          <a:xfrm>
            <a:off x="9499600" y="60071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a:t>
            </a:r>
          </a:p>
        </p:txBody>
      </p:sp>
      <p:sp>
        <p:nvSpPr>
          <p:cNvPr id="126" name="r126"/>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27" name="t127"/>
          <p:cNvSpPr txBox="1"/>
          <p:nvPr/>
        </p:nvSpPr>
        <p:spPr>
          <a:xfrm>
            <a:off x="508000" y="6350000"/>
            <a:ext cx="11176000" cy="508000"/>
          </a:xfrm>
          <a:prstGeom prst="rect">
            <a:avLst/>
          </a:prstGeom>
          <a:noFill/>
          <a:ln>
            <a:noFill/>
          </a:ln>
        </p:spPr>
        <p:txBody>
          <a:bodyPr wrap="square" lIns="76200" tIns="38100" rIns="76200" bIns="38100" anchor="ctr"/>
          <a:lstStyle/>
          <a:p>
            <a:r>
              <a:t>Takeaway: the platform is practical because inherited actuation is paired with low-cost sensing.</a:t>
            </a:r>
          </a:p>
        </p:txBody>
      </p:sp>
      <p:sp>
        <p:nvSpPr>
          <p:cNvPr id="132" name="Rectangle 131"/>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33" name="Rectangle 132"/>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7</a:t>
            </a:r>
          </a:p>
        </p:txBody>
      </p:sp>
      <p:sp>
        <p:nvSpPr>
          <p:cNvPr id="3" name="r100">
            <a:extLst>
              <a:ext uri="{FF2B5EF4-FFF2-40B4-BE49-F238E27FC236}">
                <a16:creationId xmlns:a16="http://schemas.microsoft.com/office/drawing/2014/main" id="{3EC0AC55-7E9F-50E1-19E6-8BCF04EB2BFF}"/>
              </a:ext>
            </a:extLst>
          </p:cNvPr>
          <p:cNvSpPr/>
          <p:nvPr/>
        </p:nvSpPr>
        <p:spPr>
          <a:xfrm>
            <a:off x="508000" y="1634976"/>
            <a:ext cx="4443095" cy="74444"/>
          </a:xfrm>
          <a:prstGeom prst="rect">
            <a:avLst/>
          </a:prstGeom>
          <a:solidFill>
            <a:srgbClr val="935739"/>
          </a:solidFill>
          <a:ln>
            <a:noFill/>
          </a:ln>
        </p:spPr>
        <p:txBody>
          <a:bodyPr wrap="square" anchor="ctr"/>
          <a:lstStyle/>
          <a:p>
            <a:endParaRPr lang="en-US"/>
          </a:p>
        </p:txBody>
      </p:sp>
      <p:pic>
        <p:nvPicPr>
          <p:cNvPr id="6" name="Picture 5">
            <a:extLst>
              <a:ext uri="{FF2B5EF4-FFF2-40B4-BE49-F238E27FC236}">
                <a16:creationId xmlns:a16="http://schemas.microsoft.com/office/drawing/2014/main" id="{78DF0C4C-76F1-606E-9D1E-2D057621D7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0" y="1026290"/>
            <a:ext cx="935038" cy="1040710"/>
          </a:xfrm>
          <a:prstGeom prst="rect">
            <a:avLst/>
          </a:prstGeom>
        </p:spPr>
      </p:pic>
      <p:pic>
        <p:nvPicPr>
          <p:cNvPr id="8" name="Picture 7">
            <a:extLst>
              <a:ext uri="{FF2B5EF4-FFF2-40B4-BE49-F238E27FC236}">
                <a16:creationId xmlns:a16="http://schemas.microsoft.com/office/drawing/2014/main" id="{FB495A86-40BE-C114-EDED-797D20ED73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81506" y="1038005"/>
            <a:ext cx="809307" cy="993995"/>
          </a:xfrm>
          <a:prstGeom prst="rect">
            <a:avLst/>
          </a:prstGeom>
        </p:spPr>
      </p:pic>
      <p:pic>
        <p:nvPicPr>
          <p:cNvPr id="10" name="Picture 9">
            <a:extLst>
              <a:ext uri="{FF2B5EF4-FFF2-40B4-BE49-F238E27FC236}">
                <a16:creationId xmlns:a16="http://schemas.microsoft.com/office/drawing/2014/main" id="{26181F31-5B35-B0DD-EA84-01B8AB454D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43012" y="1049675"/>
            <a:ext cx="1288519" cy="988675"/>
          </a:xfrm>
          <a:prstGeom prst="rect">
            <a:avLst/>
          </a:prstGeom>
        </p:spPr>
      </p:pic>
      <p:pic>
        <p:nvPicPr>
          <p:cNvPr id="134" name="Picture 133" descr="fig_arena360_view_02.png"/>
          <p:cNvPicPr>
            <a:picLocks noChangeAspect="1"/>
          </p:cNvPicPr>
          <p:nvPr/>
        </p:nvPicPr>
        <p:blipFill>
          <a:blip r:embed="rId7"/>
          <a:stretch>
            <a:fillRect/>
          </a:stretch>
        </p:blipFill>
        <p:spPr>
          <a:xfrm>
            <a:off x="6985000" y="2222500"/>
            <a:ext cx="4572000" cy="2032000"/>
          </a:xfrm>
          <a:prstGeom prst="rect">
            <a:avLst/>
          </a:prstGeom>
        </p:spPr>
      </p:pic>
      <p:sp>
        <p:nvSpPr>
          <p:cNvPr id="135" name="TextBox 134"/>
          <p:cNvSpPr txBox="1"/>
          <p:nvPr/>
        </p:nvSpPr>
        <p:spPr>
          <a:xfrm>
            <a:off x="6858000" y="4279392"/>
            <a:ext cx="4828032" cy="201168"/>
          </a:xfrm>
          <a:prstGeom prst="rect">
            <a:avLst/>
          </a:prstGeom>
          <a:noFill/>
        </p:spPr>
        <p:txBody>
          <a:bodyPr wrap="square">
            <a:spAutoFit/>
          </a:bodyPr>
          <a:lstStyle/>
          <a:p>
            <a:pPr algn="l"/>
            <a:r>
              <a:rPr sz="1000" i="1">
                <a:solidFill>
                  <a:srgbClr val="8A8A8A"/>
                </a:solidFill>
              </a:rPr>
              <a:t>Table 2. Indicative bill of materials (perception + actuation).</a:t>
            </a:r>
          </a:p>
        </p:txBody>
      </p:sp>
    </p:spTree>
    <p:extLst>
      <p:ext uri="{BB962C8B-B14F-4D97-AF65-F5344CB8AC3E}">
        <p14:creationId xmlns:p14="http://schemas.microsoft.com/office/powerpoint/2010/main" val="1492709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9"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EBE49CD-7B1C-7E5C-D2D7-F16B8085FA4E}"/>
              </a:ext>
            </a:extLst>
          </p:cNvPr>
          <p:cNvSpPr>
            <a:spLocks noGrp="1"/>
          </p:cNvSpPr>
          <p:nvPr>
            <p:ph type="title"/>
          </p:nvPr>
        </p:nvSpPr>
        <p:spPr>
          <a:xfrm>
            <a:off x="422275" y="984250"/>
            <a:ext cx="11176000" cy="711200"/>
          </a:xfrm>
        </p:spPr>
        <p:txBody>
          <a:bodyPr wrap="square" lIns="76200" tIns="38100" rIns="76200" bIns="38100" anchor="ctr"/>
          <a:lstStyle/>
          <a:p>
            <a:pPr algn="l">
              <a:buNone/>
            </a:pPr>
            <a:r>
              <a:rPr lang="en-US" sz="3200" b="1" dirty="0">
                <a:solidFill>
                  <a:srgbClr val="1F1F1F"/>
                </a:solidFill>
                <a:latin typeface="Calibri"/>
              </a:rPr>
              <a:t>Software Implementation</a:t>
            </a:r>
          </a:p>
        </p:txBody>
      </p:sp>
      <p:sp>
        <p:nvSpPr>
          <p:cNvPr id="101" name="t101"/>
          <p:cNvSpPr txBox="1"/>
          <p:nvPr/>
        </p:nvSpPr>
        <p:spPr>
          <a:xfrm>
            <a:off x="508000" y="1562100"/>
            <a:ext cx="11176000" cy="457200"/>
          </a:xfrm>
          <a:prstGeom prst="rect">
            <a:avLst/>
          </a:prstGeom>
          <a:noFill/>
          <a:ln>
            <a:noFill/>
          </a:ln>
        </p:spPr>
        <p:txBody>
          <a:bodyPr wrap="square" lIns="76200" tIns="38100" rIns="76200" bIns="38100" anchor="ctr"/>
          <a:lstStyle/>
          <a:p>
            <a:r>
              <a:t>Current implementation is YOLO-Pose-first; the rest of the stack consumes its 3D outputs.</a:t>
            </a:r>
          </a:p>
        </p:txBody>
      </p:sp>
      <p:sp>
        <p:nvSpPr>
          <p:cNvPr id="102" name="r102"/>
          <p:cNvSpPr/>
          <p:nvPr/>
        </p:nvSpPr>
        <p:spPr>
          <a:xfrm>
            <a:off x="508000" y="2095500"/>
            <a:ext cx="1778000" cy="431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095500"/>
            <a:ext cx="1574800" cy="4318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Layer</a:t>
            </a:r>
          </a:p>
        </p:txBody>
      </p:sp>
      <p:sp>
        <p:nvSpPr>
          <p:cNvPr id="104" name="r104"/>
          <p:cNvSpPr/>
          <p:nvPr/>
        </p:nvSpPr>
        <p:spPr>
          <a:xfrm>
            <a:off x="2286000" y="2095500"/>
            <a:ext cx="4191000" cy="431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2387600" y="2095500"/>
            <a:ext cx="3987800" cy="4318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Module / Tool</a:t>
            </a:r>
          </a:p>
        </p:txBody>
      </p:sp>
      <p:sp>
        <p:nvSpPr>
          <p:cNvPr id="106" name="r106"/>
          <p:cNvSpPr/>
          <p:nvPr/>
        </p:nvSpPr>
        <p:spPr>
          <a:xfrm>
            <a:off x="508000" y="2527300"/>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7" name="t107"/>
          <p:cNvSpPr txBox="1"/>
          <p:nvPr/>
        </p:nvSpPr>
        <p:spPr>
          <a:xfrm>
            <a:off x="609600" y="2527300"/>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Perception</a:t>
            </a:r>
          </a:p>
        </p:txBody>
      </p:sp>
      <p:sp>
        <p:nvSpPr>
          <p:cNvPr id="108" name="r108"/>
          <p:cNvSpPr/>
          <p:nvPr/>
        </p:nvSpPr>
        <p:spPr>
          <a:xfrm>
            <a:off x="2286000" y="2527300"/>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2387600" y="2527300"/>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YOLO-Pose (17 kpts) + custom YOLO ball</a:t>
            </a:r>
          </a:p>
        </p:txBody>
      </p:sp>
      <p:sp>
        <p:nvSpPr>
          <p:cNvPr id="110" name="r110"/>
          <p:cNvSpPr/>
          <p:nvPr/>
        </p:nvSpPr>
        <p:spPr>
          <a:xfrm>
            <a:off x="508000" y="3028043"/>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609600" y="3028043"/>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Inference</a:t>
            </a:r>
          </a:p>
        </p:txBody>
      </p:sp>
      <p:sp>
        <p:nvSpPr>
          <p:cNvPr id="112" name="r112"/>
          <p:cNvSpPr/>
          <p:nvPr/>
        </p:nvSpPr>
        <p:spPr>
          <a:xfrm>
            <a:off x="2286000" y="3028043"/>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2387600" y="3028043"/>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TensorRT FP16</a:t>
            </a:r>
          </a:p>
        </p:txBody>
      </p:sp>
      <p:sp>
        <p:nvSpPr>
          <p:cNvPr id="114" name="r114"/>
          <p:cNvSpPr/>
          <p:nvPr/>
        </p:nvSpPr>
        <p:spPr>
          <a:xfrm>
            <a:off x="508000" y="3528786"/>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09600" y="3528786"/>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Geometry</a:t>
            </a:r>
          </a:p>
        </p:txBody>
      </p:sp>
      <p:sp>
        <p:nvSpPr>
          <p:cNvPr id="116" name="r116"/>
          <p:cNvSpPr/>
          <p:nvPr/>
        </p:nvSpPr>
        <p:spPr>
          <a:xfrm>
            <a:off x="2286000" y="3528786"/>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2387600" y="3528786"/>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triangulate_multi() SVD-DLT</a:t>
            </a:r>
          </a:p>
        </p:txBody>
      </p:sp>
      <p:sp>
        <p:nvSpPr>
          <p:cNvPr id="118" name="r118"/>
          <p:cNvSpPr/>
          <p:nvPr/>
        </p:nvSpPr>
        <p:spPr>
          <a:xfrm>
            <a:off x="508000" y="4029529"/>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609600" y="4029529"/>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Robust ball</a:t>
            </a:r>
          </a:p>
        </p:txBody>
      </p:sp>
      <p:sp>
        <p:nvSpPr>
          <p:cNvPr id="120" name="r120"/>
          <p:cNvSpPr/>
          <p:nvPr/>
        </p:nvSpPr>
        <p:spPr>
          <a:xfrm>
            <a:off x="2286000" y="4029529"/>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2387600" y="4029529"/>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robust_triangulate_ball() iterative</a:t>
            </a:r>
          </a:p>
        </p:txBody>
      </p:sp>
      <p:sp>
        <p:nvSpPr>
          <p:cNvPr id="122" name="r122"/>
          <p:cNvSpPr/>
          <p:nvPr/>
        </p:nvSpPr>
        <p:spPr>
          <a:xfrm>
            <a:off x="508000" y="4530271"/>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609600" y="4530271"/>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Filter</a:t>
            </a:r>
          </a:p>
        </p:txBody>
      </p:sp>
      <p:sp>
        <p:nvSpPr>
          <p:cNvPr id="124" name="r124"/>
          <p:cNvSpPr/>
          <p:nvPr/>
        </p:nvSpPr>
        <p:spPr>
          <a:xfrm>
            <a:off x="2286000" y="4530271"/>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2387600" y="4530271"/>
            <a:ext cx="3987800" cy="500743"/>
          </a:xfrm>
          <a:prstGeom prst="rect">
            <a:avLst/>
          </a:prstGeom>
          <a:noFill/>
          <a:ln>
            <a:noFill/>
          </a:ln>
        </p:spPr>
        <p:txBody>
          <a:bodyPr wrap="square" lIns="76200" tIns="38100" rIns="76200" bIns="38100" anchor="ctr"/>
          <a:lstStyle/>
          <a:p>
            <a:r>
              <a:t>adaptive EMA + optional CV Kalman predictor</a:t>
            </a:r>
          </a:p>
        </p:txBody>
      </p:sp>
      <p:sp>
        <p:nvSpPr>
          <p:cNvPr id="126" name="r126"/>
          <p:cNvSpPr/>
          <p:nvPr/>
        </p:nvSpPr>
        <p:spPr>
          <a:xfrm>
            <a:off x="508000" y="5031014"/>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5031014"/>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Supervisor</a:t>
            </a:r>
          </a:p>
        </p:txBody>
      </p:sp>
      <p:sp>
        <p:nvSpPr>
          <p:cNvPr id="128" name="r128"/>
          <p:cNvSpPr/>
          <p:nvPr/>
        </p:nvSpPr>
        <p:spPr>
          <a:xfrm>
            <a:off x="2286000" y="5031014"/>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2387600" y="5031014"/>
            <a:ext cx="3987800" cy="500743"/>
          </a:xfrm>
          <a:prstGeom prst="rect">
            <a:avLst/>
          </a:prstGeom>
          <a:noFill/>
          <a:ln>
            <a:noFill/>
          </a:ln>
        </p:spPr>
        <p:txBody>
          <a:bodyPr wrap="square" lIns="76200" tIns="38100" rIns="76200" bIns="38100" anchor="ctr"/>
          <a:lstStyle/>
          <a:p>
            <a:r>
              <a:t>Python + pyserial + safety gates + ballistic solve</a:t>
            </a:r>
          </a:p>
        </p:txBody>
      </p:sp>
      <p:sp>
        <p:nvSpPr>
          <p:cNvPr id="130" name="r130"/>
          <p:cNvSpPr/>
          <p:nvPr/>
        </p:nvSpPr>
        <p:spPr>
          <a:xfrm>
            <a:off x="508000" y="5531757"/>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609600" y="5531757"/>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Firmware</a:t>
            </a:r>
          </a:p>
        </p:txBody>
      </p:sp>
      <p:sp>
        <p:nvSpPr>
          <p:cNvPr id="132" name="r132"/>
          <p:cNvSpPr/>
          <p:nvPr/>
        </p:nvSpPr>
        <p:spPr>
          <a:xfrm>
            <a:off x="2286000" y="5531757"/>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7" name="r137"/>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38" name="t138"/>
          <p:cNvSpPr txBox="1"/>
          <p:nvPr/>
        </p:nvSpPr>
        <p:spPr>
          <a:xfrm>
            <a:off x="508000" y="6350000"/>
            <a:ext cx="11176000" cy="508000"/>
          </a:xfrm>
          <a:prstGeom prst="rect">
            <a:avLst/>
          </a:prstGeom>
          <a:noFill/>
          <a:ln>
            <a:noFill/>
          </a:ln>
        </p:spPr>
        <p:txBody>
          <a:bodyPr wrap="square" lIns="76200" tIns="38100" rIns="76200" bIns="38100" anchor="ctr"/>
          <a:lstStyle/>
          <a:p>
            <a:r>
              <a:rPr sz="1400" b="0">
                <a:solidFill>
                  <a:srgbClr val="1F1F1F"/>
                </a:solidFill>
              </a:rPr>
              <a:t>Takeaway: the live stack is YOLO-Pose primary; MMPose is the offline GT / ablation backend.</a:t>
            </a:r>
          </a:p>
        </p:txBody>
      </p:sp>
      <p:sp>
        <p:nvSpPr>
          <p:cNvPr id="142" name="Rectangle 141"/>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3" name="Rectangle 142"/>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8</a:t>
            </a:r>
          </a:p>
        </p:txBody>
      </p:sp>
      <p:sp>
        <p:nvSpPr>
          <p:cNvPr id="3" name="r100">
            <a:extLst>
              <a:ext uri="{FF2B5EF4-FFF2-40B4-BE49-F238E27FC236}">
                <a16:creationId xmlns:a16="http://schemas.microsoft.com/office/drawing/2014/main" id="{FA0906F8-7A09-71B8-0706-4138D6774033}"/>
              </a:ext>
            </a:extLst>
          </p:cNvPr>
          <p:cNvSpPr/>
          <p:nvPr/>
        </p:nvSpPr>
        <p:spPr>
          <a:xfrm>
            <a:off x="508001" y="1520313"/>
            <a:ext cx="4323079" cy="74444"/>
          </a:xfrm>
          <a:prstGeom prst="rect">
            <a:avLst/>
          </a:prstGeom>
          <a:solidFill>
            <a:srgbClr val="935739"/>
          </a:solidFill>
          <a:ln>
            <a:noFill/>
          </a:ln>
        </p:spPr>
        <p:txBody>
          <a:bodyPr wrap="square" anchor="ctr"/>
          <a:lstStyle/>
          <a:p>
            <a:endParaRPr lang="en-US"/>
          </a:p>
        </p:txBody>
      </p:sp>
      <p:sp>
        <p:nvSpPr>
          <p:cNvPr id="144" name="TextBox 143"/>
          <p:cNvSpPr txBox="1"/>
          <p:nvPr/>
        </p:nvSpPr>
        <p:spPr>
          <a:xfrm>
            <a:off x="2386584" y="5532120"/>
            <a:ext cx="3986784" cy="502920"/>
          </a:xfrm>
          <a:prstGeom prst="rect">
            <a:avLst/>
          </a:prstGeom>
          <a:noFill/>
        </p:spPr>
        <p:txBody>
          <a:bodyPr wrap="square">
            <a:spAutoFit/>
          </a:bodyPr>
          <a:lstStyle/>
          <a:p>
            <a:r>
              <a:rPr sz="1400">
                <a:solidFill>
                  <a:srgbClr val="1F1F1F"/>
                </a:solidFill>
              </a:rPr>
              <a:t>control_12_full.ino (cooperative FSM, 921 600 baud)</a:t>
            </a:r>
          </a:p>
        </p:txBody>
      </p:sp>
    </p:spTree>
    <p:extLst>
      <p:ext uri="{BB962C8B-B14F-4D97-AF65-F5344CB8AC3E}">
        <p14:creationId xmlns:p14="http://schemas.microsoft.com/office/powerpoint/2010/main" val="1021246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DA3B3F-B713-E609-B1E0-910641999C70}"/>
              </a:ext>
            </a:extLst>
          </p:cNvPr>
          <p:cNvSpPr>
            <a:spLocks noGrp="1"/>
          </p:cNvSpPr>
          <p:nvPr>
            <p:ph type="title"/>
          </p:nvPr>
        </p:nvSpPr>
        <p:spPr>
          <a:xfrm>
            <a:off x="421640" y="1178836"/>
            <a:ext cx="11176000" cy="711200"/>
          </a:xfrm>
        </p:spPr>
        <p:txBody>
          <a:bodyPr wrap="square" lIns="76200" tIns="38100" rIns="76200" bIns="38100" anchor="ctr"/>
          <a:lstStyle/>
          <a:p>
            <a:pPr algn="l">
              <a:buNone/>
            </a:pPr>
            <a:r>
              <a:rPr lang="en-US" sz="3200" b="1" dirty="0">
                <a:solidFill>
                  <a:srgbClr val="1F1F1F"/>
                </a:solidFill>
                <a:latin typeface="Calibri"/>
              </a:rPr>
              <a:t>Calibration &amp; Geometry</a:t>
            </a:r>
          </a:p>
        </p:txBody>
      </p:sp>
      <p:sp>
        <p:nvSpPr>
          <p:cNvPr id="101" name="t101"/>
          <p:cNvSpPr txBox="1"/>
          <p:nvPr/>
        </p:nvSpPr>
        <p:spPr>
          <a:xfrm>
            <a:off x="452120" y="2017036"/>
            <a:ext cx="11176000" cy="457200"/>
          </a:xfrm>
          <a:prstGeom prst="rect">
            <a:avLst/>
          </a:prstGeom>
          <a:noFill/>
          <a:ln>
            <a:noFill/>
          </a:ln>
        </p:spPr>
        <p:txBody>
          <a:bodyPr wrap="square" lIns="76200" tIns="38100" rIns="76200" bIns="38100" anchor="ctr"/>
          <a:lstStyle/>
          <a:p>
            <a:r>
              <a:t>Four cameras are unified into one millimetre world frame.</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r>
              <a:t>Intrinsics: ChArUco at 1280×720; per-camera K and distortion coefficients.</a:t>
            </a:r>
          </a:p>
          <a:p>
            <a:r>
              <a:t>Extrinsics: 24 AprilTags + robust PnP into one shared arena frame.</a:t>
            </a:r>
          </a:p>
          <a:p>
            <a:r>
              <a:t>World frame: X depth, Y width, Z up; all coordinates in millimetres.</a:t>
            </a:r>
          </a:p>
          <a:p>
            <a:r>
              <a:t>Triangulation is strongest with 3–4 views and degrades with poorer visibility.</a:t>
            </a:r>
          </a:p>
        </p:txBody>
      </p:sp>
      <p:sp>
        <p:nvSpPr>
          <p:cNvPr id="103" name="r103"/>
          <p:cNvSpPr/>
          <p:nvPr/>
        </p:nvSpPr>
        <p:spPr>
          <a:xfrm>
            <a:off x="6858000" y="2095500"/>
            <a:ext cx="4826000" cy="3810000"/>
          </a:xfrm>
          <a:prstGeom prst="rect">
            <a:avLst/>
          </a:prstGeom>
          <a:solidFill>
            <a:srgbClr val="F7F1EC"/>
          </a:solidFill>
          <a:ln w="15240">
            <a:solidFill>
              <a:srgbClr val="935739"/>
            </a:solidFill>
          </a:ln>
        </p:spPr>
        <p:txBody>
          <a:bodyPr wrap="square" anchor="ctr"/>
          <a:lstStyle/>
          <a:p>
            <a:endParaRPr lang="en-US"/>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r>
              <a:t>Takeaway: calibration is what turns pixels into targetable millimetres.</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9</a:t>
            </a:r>
          </a:p>
        </p:txBody>
      </p:sp>
      <p:sp>
        <p:nvSpPr>
          <p:cNvPr id="3" name="r100">
            <a:extLst>
              <a:ext uri="{FF2B5EF4-FFF2-40B4-BE49-F238E27FC236}">
                <a16:creationId xmlns:a16="http://schemas.microsoft.com/office/drawing/2014/main" id="{4110691C-6B7F-FAFB-ACE2-D36A8E0288DE}"/>
              </a:ext>
            </a:extLst>
          </p:cNvPr>
          <p:cNvSpPr/>
          <p:nvPr/>
        </p:nvSpPr>
        <p:spPr>
          <a:xfrm>
            <a:off x="507999" y="1786106"/>
            <a:ext cx="4052572" cy="74444"/>
          </a:xfrm>
          <a:prstGeom prst="rect">
            <a:avLst/>
          </a:prstGeom>
          <a:solidFill>
            <a:srgbClr val="935739"/>
          </a:solidFill>
          <a:ln>
            <a:noFill/>
          </a:ln>
        </p:spPr>
        <p:txBody>
          <a:bodyPr wrap="square" anchor="ctr"/>
          <a:lstStyle/>
          <a:p>
            <a:endParaRPr lang="en-US"/>
          </a:p>
        </p:txBody>
      </p:sp>
      <p:pic>
        <p:nvPicPr>
          <p:cNvPr id="112" name="Picture 111" descr="arena_3d_view_1.png"/>
          <p:cNvPicPr>
            <a:picLocks noChangeAspect="1"/>
          </p:cNvPicPr>
          <p:nvPr/>
        </p:nvPicPr>
        <p:blipFill>
          <a:blip r:embed="rId4"/>
          <a:stretch>
            <a:fillRect/>
          </a:stretch>
        </p:blipFill>
        <p:spPr>
          <a:xfrm>
            <a:off x="6985000" y="2222500"/>
            <a:ext cx="4572000" cy="3556000"/>
          </a:xfrm>
          <a:prstGeom prst="rect">
            <a:avLst/>
          </a:prstGeom>
        </p:spPr>
      </p:pic>
    </p:spTree>
    <p:extLst>
      <p:ext uri="{BB962C8B-B14F-4D97-AF65-F5344CB8AC3E}">
        <p14:creationId xmlns:p14="http://schemas.microsoft.com/office/powerpoint/2010/main" val="649741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8972593-EAEC-8037-2482-68486F0A8FB6}"/>
              </a:ext>
            </a:extLst>
          </p:cNvPr>
          <p:cNvSpPr>
            <a:spLocks noGrp="1"/>
          </p:cNvSpPr>
          <p:nvPr>
            <p:ph type="title"/>
          </p:nvPr>
        </p:nvSpPr>
        <p:spPr>
          <a:xfrm>
            <a:off x="406400" y="902758"/>
            <a:ext cx="11176000" cy="711200"/>
          </a:xfrm>
        </p:spPr>
        <p:txBody>
          <a:bodyPr wrap="square" lIns="76200" tIns="38100" rIns="76200" bIns="38100" anchor="ctr"/>
          <a:lstStyle/>
          <a:p>
            <a:pPr algn="l">
              <a:buNone/>
            </a:pPr>
            <a:r>
              <a:rPr lang="en-US" sz="3200" b="1" dirty="0">
                <a:solidFill>
                  <a:srgbClr val="1F1F1F"/>
                </a:solidFill>
                <a:latin typeface="Calibri"/>
              </a:rPr>
              <a:t>Methodology &amp; Experiments</a:t>
            </a:r>
          </a:p>
        </p:txBody>
      </p:sp>
      <p:sp>
        <p:nvSpPr>
          <p:cNvPr id="101" name="t101"/>
          <p:cNvSpPr txBox="1"/>
          <p:nvPr/>
        </p:nvSpPr>
        <p:spPr>
          <a:xfrm>
            <a:off x="406400" y="1500716"/>
            <a:ext cx="11176000" cy="457200"/>
          </a:xfrm>
          <a:prstGeom prst="rect">
            <a:avLst/>
          </a:prstGeom>
          <a:noFill/>
          <a:ln>
            <a:noFill/>
          </a:ln>
        </p:spPr>
        <p:txBody>
          <a:bodyPr wrap="square" lIns="76200" tIns="38100" rIns="76200" bIns="38100" anchor="ctr"/>
          <a:lstStyle/>
          <a:p>
            <a:r>
              <a:t>Evaluation is organised around ground truth, safety, and reproducibility.</a:t>
            </a:r>
          </a:p>
        </p:txBody>
      </p:sp>
      <p:sp>
        <p:nvSpPr>
          <p:cNvPr id="102" name="r102"/>
          <p:cNvSpPr/>
          <p:nvPr/>
        </p:nvSpPr>
        <p:spPr>
          <a:xfrm>
            <a:off x="508000" y="2095500"/>
            <a:ext cx="2794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095500"/>
            <a:ext cx="2590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Experiment</a:t>
            </a:r>
          </a:p>
        </p:txBody>
      </p:sp>
      <p:sp>
        <p:nvSpPr>
          <p:cNvPr id="104" name="r104"/>
          <p:cNvSpPr/>
          <p:nvPr/>
        </p:nvSpPr>
        <p:spPr>
          <a:xfrm>
            <a:off x="3302000" y="2095500"/>
            <a:ext cx="2921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3403600" y="2095500"/>
            <a:ext cx="2717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Input</a:t>
            </a:r>
          </a:p>
        </p:txBody>
      </p:sp>
      <p:sp>
        <p:nvSpPr>
          <p:cNvPr id="106" name="r106"/>
          <p:cNvSpPr/>
          <p:nvPr/>
        </p:nvSpPr>
        <p:spPr>
          <a:xfrm>
            <a:off x="6223000" y="2095500"/>
            <a:ext cx="2540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6324600" y="2095500"/>
            <a:ext cx="2336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Metric</a:t>
            </a:r>
          </a:p>
        </p:txBody>
      </p:sp>
      <p:sp>
        <p:nvSpPr>
          <p:cNvPr id="108" name="r108"/>
          <p:cNvSpPr/>
          <p:nvPr/>
        </p:nvSpPr>
        <p:spPr>
          <a:xfrm>
            <a:off x="8763000" y="2095500"/>
            <a:ext cx="2921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9" name="t109"/>
          <p:cNvSpPr txBox="1"/>
          <p:nvPr/>
        </p:nvSpPr>
        <p:spPr>
          <a:xfrm>
            <a:off x="8864600" y="2095500"/>
            <a:ext cx="2717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Outcome</a:t>
            </a:r>
          </a:p>
        </p:txBody>
      </p:sp>
      <p:sp>
        <p:nvSpPr>
          <p:cNvPr id="110" name="r110"/>
          <p:cNvSpPr/>
          <p:nvPr/>
        </p:nvSpPr>
        <p:spPr>
          <a:xfrm>
            <a:off x="508000" y="2552700"/>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609600" y="2552700"/>
            <a:ext cx="2590800" cy="537633"/>
          </a:xfrm>
          <a:prstGeom prst="rect">
            <a:avLst/>
          </a:prstGeom>
          <a:noFill/>
          <a:ln>
            <a:noFill/>
          </a:ln>
        </p:spPr>
        <p:txBody>
          <a:bodyPr wrap="square" lIns="76200" tIns="38100" rIns="76200" bIns="38100" anchor="ctr"/>
          <a:lstStyle/>
          <a:p>
            <a:r>
              <a:t>Ball GT</a:t>
            </a:r>
          </a:p>
        </p:txBody>
      </p:sp>
      <p:sp>
        <p:nvSpPr>
          <p:cNvPr id="112" name="r112"/>
          <p:cNvSpPr/>
          <p:nvPr/>
        </p:nvSpPr>
        <p:spPr>
          <a:xfrm>
            <a:off x="3302000" y="2552700"/>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3403600" y="2552700"/>
            <a:ext cx="2717800" cy="537633"/>
          </a:xfrm>
          <a:prstGeom prst="rect">
            <a:avLst/>
          </a:prstGeom>
          <a:noFill/>
          <a:ln>
            <a:noFill/>
          </a:ln>
        </p:spPr>
        <p:txBody>
          <a:bodyPr wrap="square" lIns="76200" tIns="38100" rIns="76200" bIns="38100" anchor="ctr"/>
          <a:lstStyle/>
          <a:p>
            <a:r>
              <a:t>36-point static grid</a:t>
            </a:r>
          </a:p>
        </p:txBody>
      </p:sp>
      <p:sp>
        <p:nvSpPr>
          <p:cNvPr id="114" name="r114"/>
          <p:cNvSpPr/>
          <p:nvPr/>
        </p:nvSpPr>
        <p:spPr>
          <a:xfrm>
            <a:off x="6223000" y="2552700"/>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324600" y="2552700"/>
            <a:ext cx="2336800" cy="537633"/>
          </a:xfrm>
          <a:prstGeom prst="rect">
            <a:avLst/>
          </a:prstGeom>
          <a:noFill/>
          <a:ln>
            <a:noFill/>
          </a:ln>
        </p:spPr>
        <p:txBody>
          <a:bodyPr wrap="square" lIns="76200" tIns="38100" rIns="76200" bIns="38100" anchor="ctr"/>
          <a:lstStyle/>
          <a:p>
            <a:r>
              <a:t>Mean / P95 + bias</a:t>
            </a:r>
          </a:p>
        </p:txBody>
      </p:sp>
      <p:sp>
        <p:nvSpPr>
          <p:cNvPr id="116" name="r116"/>
          <p:cNvSpPr/>
          <p:nvPr/>
        </p:nvSpPr>
        <p:spPr>
          <a:xfrm>
            <a:off x="8763000" y="2552700"/>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8864600" y="2552700"/>
            <a:ext cx="2717800" cy="537633"/>
          </a:xfrm>
          <a:prstGeom prst="rect">
            <a:avLst/>
          </a:prstGeom>
          <a:noFill/>
          <a:ln>
            <a:noFill/>
          </a:ln>
        </p:spPr>
        <p:txBody>
          <a:bodyPr wrap="square" lIns="76200" tIns="38100" rIns="76200" bIns="38100" anchor="ctr"/>
          <a:lstStyle/>
          <a:p>
            <a:r>
              <a:t>Corrected mean 95.17 mm</a:t>
            </a:r>
          </a:p>
        </p:txBody>
      </p:sp>
      <p:sp>
        <p:nvSpPr>
          <p:cNvPr id="118" name="r118"/>
          <p:cNvSpPr/>
          <p:nvPr/>
        </p:nvSpPr>
        <p:spPr>
          <a:xfrm>
            <a:off x="508000" y="3090333"/>
            <a:ext cx="2794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609600" y="3090333"/>
            <a:ext cx="2590800" cy="537633"/>
          </a:xfrm>
          <a:prstGeom prst="rect">
            <a:avLst/>
          </a:prstGeom>
          <a:noFill/>
          <a:ln>
            <a:noFill/>
          </a:ln>
        </p:spPr>
        <p:txBody>
          <a:bodyPr wrap="square" lIns="76200" tIns="38100" rIns="76200" bIns="38100" anchor="ctr"/>
          <a:lstStyle/>
          <a:p>
            <a:r>
              <a:t>Joint-touch GT</a:t>
            </a:r>
          </a:p>
        </p:txBody>
      </p:sp>
      <p:sp>
        <p:nvSpPr>
          <p:cNvPr id="120" name="r120"/>
          <p:cNvSpPr/>
          <p:nvPr/>
        </p:nvSpPr>
        <p:spPr>
          <a:xfrm>
            <a:off x="3302000" y="3090333"/>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3403600" y="3090333"/>
            <a:ext cx="2717800" cy="537633"/>
          </a:xfrm>
          <a:prstGeom prst="rect">
            <a:avLst/>
          </a:prstGeom>
          <a:noFill/>
          <a:ln>
            <a:noFill/>
          </a:ln>
        </p:spPr>
        <p:txBody>
          <a:bodyPr wrap="square" lIns="76200" tIns="38100" rIns="76200" bIns="38100" anchor="ctr"/>
          <a:lstStyle/>
          <a:p>
            <a:r>
              <a:t>81 trials, 9 XY × 3 heights</a:t>
            </a:r>
          </a:p>
        </p:txBody>
      </p:sp>
      <p:sp>
        <p:nvSpPr>
          <p:cNvPr id="122" name="r122"/>
          <p:cNvSpPr/>
          <p:nvPr/>
        </p:nvSpPr>
        <p:spPr>
          <a:xfrm>
            <a:off x="6223000" y="3090333"/>
            <a:ext cx="2540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6324600" y="3090333"/>
            <a:ext cx="2336800" cy="537633"/>
          </a:xfrm>
          <a:prstGeom prst="rect">
            <a:avLst/>
          </a:prstGeom>
          <a:noFill/>
          <a:ln>
            <a:noFill/>
          </a:ln>
        </p:spPr>
        <p:txBody>
          <a:bodyPr wrap="square" lIns="76200" tIns="38100" rIns="76200" bIns="38100" anchor="ctr"/>
          <a:lstStyle/>
          <a:p>
            <a:r>
              <a:t>Mean / P95 + per-joint</a:t>
            </a:r>
          </a:p>
        </p:txBody>
      </p:sp>
      <p:sp>
        <p:nvSpPr>
          <p:cNvPr id="124" name="r124"/>
          <p:cNvSpPr/>
          <p:nvPr/>
        </p:nvSpPr>
        <p:spPr>
          <a:xfrm>
            <a:off x="8763000" y="3090333"/>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8864600" y="3090333"/>
            <a:ext cx="2717800" cy="537633"/>
          </a:xfrm>
          <a:prstGeom prst="rect">
            <a:avLst/>
          </a:prstGeom>
          <a:noFill/>
          <a:ln>
            <a:noFill/>
          </a:ln>
        </p:spPr>
        <p:txBody>
          <a:bodyPr wrap="square" lIns="76200" tIns="38100" rIns="76200" bIns="38100" anchor="ctr"/>
          <a:lstStyle/>
          <a:p>
            <a:r>
              <a:t>62 valid trials, mean 143.38 mm</a:t>
            </a:r>
          </a:p>
        </p:txBody>
      </p:sp>
      <p:sp>
        <p:nvSpPr>
          <p:cNvPr id="126" name="r126"/>
          <p:cNvSpPr/>
          <p:nvPr/>
        </p:nvSpPr>
        <p:spPr>
          <a:xfrm>
            <a:off x="508000" y="3627967"/>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3627967"/>
            <a:ext cx="2590800" cy="537633"/>
          </a:xfrm>
          <a:prstGeom prst="rect">
            <a:avLst/>
          </a:prstGeom>
          <a:noFill/>
          <a:ln>
            <a:noFill/>
          </a:ln>
        </p:spPr>
        <p:txBody>
          <a:bodyPr wrap="square" lIns="76200" tIns="38100" rIns="76200" bIns="38100" anchor="ctr"/>
          <a:lstStyle/>
          <a:p>
            <a:r>
              <a:t>Dynamic clips</a:t>
            </a:r>
          </a:p>
        </p:txBody>
      </p:sp>
      <p:sp>
        <p:nvSpPr>
          <p:cNvPr id="128" name="r128"/>
          <p:cNvSpPr/>
          <p:nvPr/>
        </p:nvSpPr>
        <p:spPr>
          <a:xfrm>
            <a:off x="3302000" y="3627967"/>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3403600" y="3627967"/>
            <a:ext cx="2717800" cy="537633"/>
          </a:xfrm>
          <a:prstGeom prst="rect">
            <a:avLst/>
          </a:prstGeom>
          <a:noFill/>
          <a:ln>
            <a:noFill/>
          </a:ln>
        </p:spPr>
        <p:txBody>
          <a:bodyPr wrap="square" lIns="76200" tIns="38100" rIns="76200" bIns="38100" anchor="ctr"/>
          <a:lstStyle/>
          <a:p>
            <a:r>
              <a:t>ball_slow / ball_fast / ball_fast_ema0.1 / no_ball</a:t>
            </a:r>
          </a:p>
        </p:txBody>
      </p:sp>
      <p:sp>
        <p:nvSpPr>
          <p:cNvPr id="130" name="r130"/>
          <p:cNvSpPr/>
          <p:nvPr/>
        </p:nvSpPr>
        <p:spPr>
          <a:xfrm>
            <a:off x="6223000" y="3627967"/>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6324600" y="3627967"/>
            <a:ext cx="2336800" cy="537633"/>
          </a:xfrm>
          <a:prstGeom prst="rect">
            <a:avLst/>
          </a:prstGeom>
          <a:noFill/>
          <a:ln>
            <a:noFill/>
          </a:ln>
        </p:spPr>
        <p:txBody>
          <a:bodyPr wrap="square" lIns="76200" tIns="38100" rIns="76200" bIns="38100" anchor="ctr"/>
          <a:lstStyle/>
          <a:p>
            <a:r>
              <a:t>Qualitative stability</a:t>
            </a:r>
          </a:p>
        </p:txBody>
      </p:sp>
      <p:sp>
        <p:nvSpPr>
          <p:cNvPr id="132" name="r132"/>
          <p:cNvSpPr/>
          <p:nvPr/>
        </p:nvSpPr>
        <p:spPr>
          <a:xfrm>
            <a:off x="8763000" y="3627967"/>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8864600" y="3627967"/>
            <a:ext cx="2717800" cy="537633"/>
          </a:xfrm>
          <a:prstGeom prst="rect">
            <a:avLst/>
          </a:prstGeom>
          <a:noFill/>
          <a:ln>
            <a:noFill/>
          </a:ln>
        </p:spPr>
        <p:txBody>
          <a:bodyPr wrap="square" lIns="76200" tIns="38100" rIns="76200" bIns="38100" anchor="ctr"/>
          <a:lstStyle/>
          <a:p>
            <a:r>
              <a:t>Live 3D reconstruction verified</a:t>
            </a:r>
          </a:p>
        </p:txBody>
      </p:sp>
      <p:sp>
        <p:nvSpPr>
          <p:cNvPr id="143" name="t143"/>
          <p:cNvSpPr txBox="1"/>
          <p:nvPr/>
        </p:nvSpPr>
        <p:spPr>
          <a:xfrm>
            <a:off x="609600" y="4703233"/>
            <a:ext cx="2590800" cy="537633"/>
          </a:xfrm>
          <a:prstGeom prst="rect">
            <a:avLst/>
          </a:prstGeom>
          <a:noFill/>
          <a:ln>
            <a:noFill/>
          </a:ln>
        </p:spPr>
        <p:txBody>
          <a:bodyPr wrap="square" lIns="76200" tIns="38100" rIns="76200" bIns="38100" anchor="ctr"/>
          <a:lstStyle/>
          <a:p>
            <a:r>
              <a:t>Safety checklist</a:t>
            </a:r>
          </a:p>
        </p:txBody>
      </p:sp>
      <p:sp>
        <p:nvSpPr>
          <p:cNvPr id="145" name="t145"/>
          <p:cNvSpPr txBox="1"/>
          <p:nvPr/>
        </p:nvSpPr>
        <p:spPr>
          <a:xfrm>
            <a:off x="3403600" y="4703233"/>
            <a:ext cx="2717800" cy="537633"/>
          </a:xfrm>
          <a:prstGeom prst="rect">
            <a:avLst/>
          </a:prstGeom>
          <a:noFill/>
          <a:ln>
            <a:noFill/>
          </a:ln>
        </p:spPr>
        <p:txBody>
          <a:bodyPr wrap="square" lIns="76200" tIns="38100" rIns="76200" bIns="38100" anchor="ctr"/>
          <a:lstStyle/>
          <a:p>
            <a:r>
              <a:t>Six-stage integration protocol</a:t>
            </a:r>
          </a:p>
        </p:txBody>
      </p:sp>
      <p:sp>
        <p:nvSpPr>
          <p:cNvPr id="147" name="t147"/>
          <p:cNvSpPr txBox="1"/>
          <p:nvPr/>
        </p:nvSpPr>
        <p:spPr>
          <a:xfrm>
            <a:off x="6324600" y="4703233"/>
            <a:ext cx="2336800" cy="537633"/>
          </a:xfrm>
          <a:prstGeom prst="rect">
            <a:avLst/>
          </a:prstGeom>
          <a:noFill/>
          <a:ln>
            <a:noFill/>
          </a:ln>
        </p:spPr>
        <p:txBody>
          <a:bodyPr wrap="square" lIns="76200" tIns="38100" rIns="76200" bIns="38100" anchor="ctr"/>
          <a:lstStyle/>
          <a:p>
            <a:r>
              <a:t>Pass / fail + logs</a:t>
            </a:r>
          </a:p>
        </p:txBody>
      </p:sp>
      <p:sp>
        <p:nvSpPr>
          <p:cNvPr id="149" name="t149"/>
          <p:cNvSpPr txBox="1"/>
          <p:nvPr/>
        </p:nvSpPr>
        <p:spPr>
          <a:xfrm>
            <a:off x="8864600" y="4703233"/>
            <a:ext cx="2717800" cy="537633"/>
          </a:xfrm>
          <a:prstGeom prst="rect">
            <a:avLst/>
          </a:prstGeom>
          <a:noFill/>
          <a:ln>
            <a:noFill/>
          </a:ln>
        </p:spPr>
        <p:txBody>
          <a:bodyPr wrap="square" lIns="76200" tIns="38100" rIns="76200" bIns="38100" anchor="ctr"/>
          <a:lstStyle/>
          <a:p>
            <a:r>
              <a:t>S0–S4 PASSED (aim-only + controlled static single-shot)</a:t>
            </a:r>
          </a:p>
        </p:txBody>
      </p:sp>
      <p:sp>
        <p:nvSpPr>
          <p:cNvPr id="158" name="r15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59" name="t159"/>
          <p:cNvSpPr txBox="1"/>
          <p:nvPr/>
        </p:nvSpPr>
        <p:spPr>
          <a:xfrm>
            <a:off x="508000" y="6350000"/>
            <a:ext cx="11176000" cy="508000"/>
          </a:xfrm>
          <a:prstGeom prst="rect">
            <a:avLst/>
          </a:prstGeom>
          <a:noFill/>
          <a:ln>
            <a:noFill/>
          </a:ln>
        </p:spPr>
        <p:txBody>
          <a:bodyPr wrap="square" lIns="76200" tIns="38100" rIns="76200" bIns="38100" anchor="ctr"/>
          <a:lstStyle/>
          <a:p>
            <a:r>
              <a:t>Takeaway: the evidence is quantitative, safety-gated, and reproducible.</a:t>
            </a:r>
          </a:p>
        </p:txBody>
      </p:sp>
      <p:sp>
        <p:nvSpPr>
          <p:cNvPr id="163" name="Rectangle 16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64" name="Rectangle 16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10</a:t>
            </a:r>
          </a:p>
        </p:txBody>
      </p:sp>
      <p:sp>
        <p:nvSpPr>
          <p:cNvPr id="3" name="r100">
            <a:extLst>
              <a:ext uri="{FF2B5EF4-FFF2-40B4-BE49-F238E27FC236}">
                <a16:creationId xmlns:a16="http://schemas.microsoft.com/office/drawing/2014/main" id="{30EFE7C6-FD7B-31C1-E012-104BCA8A946E}"/>
              </a:ext>
            </a:extLst>
          </p:cNvPr>
          <p:cNvSpPr/>
          <p:nvPr/>
        </p:nvSpPr>
        <p:spPr>
          <a:xfrm>
            <a:off x="508000" y="1483423"/>
            <a:ext cx="4827905" cy="74444"/>
          </a:xfrm>
          <a:prstGeom prst="rect">
            <a:avLst/>
          </a:prstGeom>
          <a:solidFill>
            <a:srgbClr val="935739"/>
          </a:solidFill>
          <a:ln>
            <a:noFill/>
          </a:ln>
        </p:spPr>
        <p:txBody>
          <a:bodyPr wrap="square" anchor="ctr"/>
          <a:lstStyle/>
          <a:p>
            <a:endParaRPr lang="en-US"/>
          </a:p>
        </p:txBody>
      </p:sp>
      <p:sp>
        <p:nvSpPr>
          <p:cNvPr id="165" name="TextBox 164"/>
          <p:cNvSpPr txBox="1"/>
          <p:nvPr/>
        </p:nvSpPr>
        <p:spPr>
          <a:xfrm>
            <a:off x="512064" y="1847088"/>
            <a:ext cx="11173968" cy="320040"/>
          </a:xfrm>
          <a:prstGeom prst="rect">
            <a:avLst/>
          </a:prstGeom>
          <a:noFill/>
        </p:spPr>
        <p:txBody>
          <a:bodyPr wrap="square">
            <a:spAutoFit/>
          </a:bodyPr>
          <a:lstStyle/>
          <a:p>
            <a:pPr algn="l"/>
            <a:r>
              <a:rPr sz="1200" i="1">
                <a:solidFill>
                  <a:srgbClr val="8A8A8A"/>
                </a:solidFill>
              </a:rPr>
              <a:t>Table 3. Evaluation matrix: experiment type, input, metric, and outcome.</a:t>
            </a:r>
          </a:p>
        </p:txBody>
      </p:sp>
    </p:spTree>
    <p:extLst>
      <p:ext uri="{BB962C8B-B14F-4D97-AF65-F5344CB8AC3E}">
        <p14:creationId xmlns:p14="http://schemas.microsoft.com/office/powerpoint/2010/main" val="3586923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77C3383-8AFD-AE17-4257-A14591002920}"/>
              </a:ext>
            </a:extLst>
          </p:cNvPr>
          <p:cNvSpPr>
            <a:spLocks noGrp="1"/>
          </p:cNvSpPr>
          <p:nvPr>
            <p:ph type="title"/>
          </p:nvPr>
        </p:nvSpPr>
        <p:spPr>
          <a:xfrm>
            <a:off x="434847" y="927100"/>
            <a:ext cx="11176000" cy="711200"/>
          </a:xfrm>
        </p:spPr>
        <p:txBody>
          <a:bodyPr wrap="square" lIns="76200" tIns="38100" rIns="76200" bIns="38100" anchor="ctr"/>
          <a:lstStyle/>
          <a:p>
            <a:pPr algn="l">
              <a:buNone/>
            </a:pPr>
            <a:r>
              <a:rPr lang="en-US" sz="3200" b="1" dirty="0">
                <a:solidFill>
                  <a:srgbClr val="1F1F1F"/>
                </a:solidFill>
                <a:latin typeface="Calibri"/>
              </a:rPr>
              <a:t>Key Results — Accuracy, Latency, Throughput</a:t>
            </a:r>
          </a:p>
        </p:txBody>
      </p:sp>
      <p:sp>
        <p:nvSpPr>
          <p:cNvPr id="101" name="t101"/>
          <p:cNvSpPr txBox="1"/>
          <p:nvPr/>
        </p:nvSpPr>
        <p:spPr>
          <a:xfrm>
            <a:off x="508000" y="1553740"/>
            <a:ext cx="11176000" cy="457200"/>
          </a:xfrm>
          <a:prstGeom prst="rect">
            <a:avLst/>
          </a:prstGeom>
          <a:noFill/>
          <a:ln>
            <a:noFill/>
          </a:ln>
        </p:spPr>
        <p:txBody>
          <a:bodyPr wrap="square" lIns="76200" tIns="38100" rIns="76200" bIns="38100" anchor="ctr"/>
          <a:lstStyle/>
          <a:p>
            <a:r>
              <a:t>Committee-level evidence is easiest to read as five headline results.</a:t>
            </a:r>
          </a:p>
        </p:txBody>
      </p:sp>
      <p:sp>
        <p:nvSpPr>
          <p:cNvPr id="102" name="r102"/>
          <p:cNvSpPr/>
          <p:nvPr/>
        </p:nvSpPr>
        <p:spPr>
          <a:xfrm>
            <a:off x="508000" y="2095500"/>
            <a:ext cx="3810000" cy="3810000"/>
          </a:xfrm>
          <a:prstGeom prst="rect">
            <a:avLst/>
          </a:prstGeom>
          <a:solidFill>
            <a:srgbClr val="F7F1EC"/>
          </a:solidFill>
          <a:ln w="15240">
            <a:solidFill>
              <a:srgbClr val="935739"/>
            </a:solidFill>
          </a:ln>
        </p:spPr>
        <p:txBody>
          <a:bodyPr wrap="square" anchor="ctr"/>
          <a:lstStyle/>
          <a:p>
            <a:endParaRPr lang="en-US"/>
          </a:p>
        </p:txBody>
      </p:sp>
      <p:sp>
        <p:nvSpPr>
          <p:cNvPr id="103" name="t103"/>
          <p:cNvSpPr txBox="1"/>
          <p:nvPr/>
        </p:nvSpPr>
        <p:spPr>
          <a:xfrm>
            <a:off x="698500" y="2222500"/>
            <a:ext cx="3429000" cy="508000"/>
          </a:xfrm>
          <a:prstGeom prst="rect">
            <a:avLst/>
          </a:prstGeom>
          <a:noFill/>
          <a:ln>
            <a:noFill/>
          </a:ln>
        </p:spPr>
        <p:txBody>
          <a:bodyPr wrap="square" lIns="76200" tIns="38100" rIns="76200" bIns="38100" anchor="ctr"/>
          <a:lstStyle/>
          <a:p>
            <a:r>
              <a:t>Headline results</a:t>
            </a:r>
          </a:p>
        </p:txBody>
      </p:sp>
      <p:sp>
        <p:nvSpPr>
          <p:cNvPr id="104" name="t104"/>
          <p:cNvSpPr txBox="1"/>
          <p:nvPr/>
        </p:nvSpPr>
        <p:spPr>
          <a:xfrm>
            <a:off x="698500" y="2730500"/>
            <a:ext cx="1651000" cy="457200"/>
          </a:xfrm>
          <a:prstGeom prst="rect">
            <a:avLst/>
          </a:prstGeom>
          <a:noFill/>
          <a:ln>
            <a:noFill/>
          </a:ln>
        </p:spPr>
        <p:txBody>
          <a:bodyPr wrap="square" lIns="76200" tIns="38100" rIns="76200" bIns="38100" anchor="ctr"/>
          <a:lstStyle/>
          <a:p>
            <a:r>
              <a:t>95.17 mm</a:t>
            </a:r>
          </a:p>
        </p:txBody>
      </p:sp>
      <p:sp>
        <p:nvSpPr>
          <p:cNvPr id="105" name="t105"/>
          <p:cNvSpPr txBox="1"/>
          <p:nvPr/>
        </p:nvSpPr>
        <p:spPr>
          <a:xfrm>
            <a:off x="2413000" y="2730500"/>
            <a:ext cx="1714500" cy="457200"/>
          </a:xfrm>
          <a:prstGeom prst="rect">
            <a:avLst/>
          </a:prstGeom>
          <a:noFill/>
          <a:ln>
            <a:noFill/>
          </a:ln>
        </p:spPr>
        <p:txBody>
          <a:bodyPr wrap="square" lIns="76200" tIns="38100" rIns="76200" bIns="38100" anchor="ctr"/>
          <a:lstStyle/>
          <a:p>
            <a:r>
              <a:t>corrected ball mean</a:t>
            </a:r>
          </a:p>
        </p:txBody>
      </p:sp>
      <p:sp>
        <p:nvSpPr>
          <p:cNvPr id="106" name="t106"/>
          <p:cNvSpPr txBox="1"/>
          <p:nvPr/>
        </p:nvSpPr>
        <p:spPr>
          <a:xfrm>
            <a:off x="698500" y="3340100"/>
            <a:ext cx="1651000" cy="457200"/>
          </a:xfrm>
          <a:prstGeom prst="rect">
            <a:avLst/>
          </a:prstGeom>
          <a:noFill/>
          <a:ln>
            <a:noFill/>
          </a:ln>
        </p:spPr>
        <p:txBody>
          <a:bodyPr wrap="square" lIns="76200" tIns="38100" rIns="76200" bIns="38100" anchor="ctr"/>
          <a:lstStyle/>
          <a:p>
            <a:r>
              <a:t>143.38 mm</a:t>
            </a:r>
          </a:p>
        </p:txBody>
      </p:sp>
      <p:sp>
        <p:nvSpPr>
          <p:cNvPr id="107" name="t107"/>
          <p:cNvSpPr txBox="1"/>
          <p:nvPr/>
        </p:nvSpPr>
        <p:spPr>
          <a:xfrm>
            <a:off x="2413000" y="3340100"/>
            <a:ext cx="1714500" cy="457200"/>
          </a:xfrm>
          <a:prstGeom prst="rect">
            <a:avLst/>
          </a:prstGeom>
          <a:noFill/>
          <a:ln>
            <a:noFill/>
          </a:ln>
        </p:spPr>
        <p:txBody>
          <a:bodyPr wrap="square" lIns="76200" tIns="38100" rIns="76200" bIns="38100" anchor="ctr"/>
          <a:lstStyle/>
          <a:p>
            <a:r>
              <a:t>joint mean (62 valid trials)</a:t>
            </a:r>
          </a:p>
        </p:txBody>
      </p:sp>
      <p:sp>
        <p:nvSpPr>
          <p:cNvPr id="108" name="t108"/>
          <p:cNvSpPr txBox="1"/>
          <p:nvPr/>
        </p:nvSpPr>
        <p:spPr>
          <a:xfrm>
            <a:off x="698500" y="3949700"/>
            <a:ext cx="1651000" cy="457200"/>
          </a:xfrm>
          <a:prstGeom prst="rect">
            <a:avLst/>
          </a:prstGeom>
          <a:noFill/>
          <a:ln>
            <a:noFill/>
          </a:ln>
        </p:spPr>
        <p:txBody>
          <a:bodyPr wrap="square" lIns="76200" tIns="38100" rIns="76200" bIns="38100" anchor="ctr"/>
          <a:lstStyle/>
          <a:p>
            <a:r>
              <a:t>110 / 150 / 164 mm</a:t>
            </a:r>
          </a:p>
        </p:txBody>
      </p:sp>
      <p:sp>
        <p:nvSpPr>
          <p:cNvPr id="109" name="t109"/>
          <p:cNvSpPr txBox="1"/>
          <p:nvPr/>
        </p:nvSpPr>
        <p:spPr>
          <a:xfrm>
            <a:off x="2413000" y="3949700"/>
            <a:ext cx="1714500" cy="457200"/>
          </a:xfrm>
          <a:prstGeom prst="rect">
            <a:avLst/>
          </a:prstGeom>
          <a:noFill/>
          <a:ln>
            <a:noFill/>
          </a:ln>
        </p:spPr>
        <p:txBody>
          <a:bodyPr wrap="square" lIns="76200" tIns="38100" rIns="76200" bIns="38100" anchor="ctr"/>
          <a:lstStyle/>
          <a:p>
            <a:r>
              <a:t>knee / hip / shoulder means</a:t>
            </a:r>
          </a:p>
        </p:txBody>
      </p:sp>
      <p:sp>
        <p:nvSpPr>
          <p:cNvPr id="110" name="t110"/>
          <p:cNvSpPr txBox="1"/>
          <p:nvPr/>
        </p:nvSpPr>
        <p:spPr>
          <a:xfrm>
            <a:off x="698500" y="4559300"/>
            <a:ext cx="1651000" cy="457200"/>
          </a:xfrm>
          <a:prstGeom prst="rect">
            <a:avLst/>
          </a:prstGeom>
          <a:noFill/>
          <a:ln>
            <a:noFill/>
          </a:ln>
        </p:spPr>
        <p:txBody>
          <a:bodyPr wrap="square" lIns="76200" tIns="38100" rIns="76200" bIns="38100" anchor="ctr"/>
          <a:lstStyle/>
          <a:p>
            <a:r>
              <a:t>&lt;100 ms</a:t>
            </a:r>
          </a:p>
        </p:txBody>
      </p:sp>
      <p:sp>
        <p:nvSpPr>
          <p:cNvPr id="111" name="t111"/>
          <p:cNvSpPr txBox="1"/>
          <p:nvPr/>
        </p:nvSpPr>
        <p:spPr>
          <a:xfrm>
            <a:off x="2413000" y="4559300"/>
            <a:ext cx="1714500" cy="457200"/>
          </a:xfrm>
          <a:prstGeom prst="rect">
            <a:avLst/>
          </a:prstGeom>
          <a:noFill/>
          <a:ln>
            <a:noFill/>
          </a:ln>
        </p:spPr>
        <p:txBody>
          <a:bodyPr wrap="square" lIns="76200" tIns="38100" rIns="76200" bIns="38100" anchor="ctr"/>
          <a:lstStyle/>
          <a:p>
            <a:r>
              <a:t>E-STOP latch response</a:t>
            </a:r>
          </a:p>
        </p:txBody>
      </p:sp>
      <p:sp>
        <p:nvSpPr>
          <p:cNvPr id="112" name="t112"/>
          <p:cNvSpPr txBox="1"/>
          <p:nvPr/>
        </p:nvSpPr>
        <p:spPr>
          <a:xfrm>
            <a:off x="698500" y="5168900"/>
            <a:ext cx="1651000" cy="457200"/>
          </a:xfrm>
          <a:prstGeom prst="rect">
            <a:avLst/>
          </a:prstGeom>
          <a:noFill/>
          <a:ln>
            <a:noFill/>
          </a:ln>
        </p:spPr>
        <p:txBody>
          <a:bodyPr wrap="square" lIns="76200" tIns="38100" rIns="76200" bIns="38100" anchor="ctr"/>
          <a:lstStyle/>
          <a:p>
            <a:r>
              <a:t>15 FPS</a:t>
            </a:r>
          </a:p>
        </p:txBody>
      </p:sp>
      <p:sp>
        <p:nvSpPr>
          <p:cNvPr id="113" name="t113"/>
          <p:cNvSpPr txBox="1"/>
          <p:nvPr/>
        </p:nvSpPr>
        <p:spPr>
          <a:xfrm>
            <a:off x="2413000" y="5168900"/>
            <a:ext cx="1714500" cy="457200"/>
          </a:xfrm>
          <a:prstGeom prst="rect">
            <a:avLst/>
          </a:prstGeom>
          <a:noFill/>
          <a:ln>
            <a:noFill/>
          </a:ln>
        </p:spPr>
        <p:txBody>
          <a:bodyPr wrap="square" lIns="76200" tIns="38100" rIns="76200" bIns="38100" anchor="ctr"/>
          <a:lstStyle/>
          <a:p>
            <a:r>
              <a:t>live YOLO-Pose pipeline</a:t>
            </a:r>
          </a:p>
        </p:txBody>
      </p:sp>
      <p:sp>
        <p:nvSpPr>
          <p:cNvPr id="114" name="r114"/>
          <p:cNvSpPr/>
          <p:nvPr/>
        </p:nvSpPr>
        <p:spPr>
          <a:xfrm>
            <a:off x="4572000" y="2095500"/>
            <a:ext cx="7112000" cy="1841500"/>
          </a:xfrm>
          <a:prstGeom prst="rect">
            <a:avLst/>
          </a:prstGeom>
          <a:solidFill>
            <a:srgbClr val="F7F1EC"/>
          </a:solidFill>
          <a:ln w="15240">
            <a:solidFill>
              <a:srgbClr val="935739"/>
            </a:solidFill>
          </a:ln>
        </p:spPr>
        <p:txBody>
          <a:bodyPr wrap="square" anchor="ctr"/>
          <a:lstStyle/>
          <a:p>
            <a:endParaRPr lang="en-US"/>
          </a:p>
        </p:txBody>
      </p:sp>
      <p:sp>
        <p:nvSpPr>
          <p:cNvPr id="116" name="r116"/>
          <p:cNvSpPr/>
          <p:nvPr/>
        </p:nvSpPr>
        <p:spPr>
          <a:xfrm>
            <a:off x="4572000" y="4064000"/>
            <a:ext cx="7112000" cy="1841500"/>
          </a:xfrm>
          <a:prstGeom prst="rect">
            <a:avLst/>
          </a:prstGeom>
          <a:solidFill>
            <a:srgbClr val="F7F1EC"/>
          </a:solidFill>
          <a:ln w="15240">
            <a:solidFill>
              <a:srgbClr val="935739"/>
            </a:solidFill>
          </a:ln>
        </p:spPr>
        <p:txBody>
          <a:bodyPr wrap="square" anchor="ctr"/>
          <a:lstStyle/>
          <a:p>
            <a:endParaRPr lang="en-US"/>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r>
              <a:t>Takeaway: the system meets the main ball, joint, and safety targets.</a:t>
            </a: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11</a:t>
            </a:r>
          </a:p>
        </p:txBody>
      </p:sp>
      <p:sp>
        <p:nvSpPr>
          <p:cNvPr id="3" name="r100">
            <a:extLst>
              <a:ext uri="{FF2B5EF4-FFF2-40B4-BE49-F238E27FC236}">
                <a16:creationId xmlns:a16="http://schemas.microsoft.com/office/drawing/2014/main" id="{F5DC871C-5C6C-E215-9249-97016177CA34}"/>
              </a:ext>
            </a:extLst>
          </p:cNvPr>
          <p:cNvSpPr/>
          <p:nvPr/>
        </p:nvSpPr>
        <p:spPr>
          <a:xfrm>
            <a:off x="519047" y="1516518"/>
            <a:ext cx="7588251" cy="74444"/>
          </a:xfrm>
          <a:prstGeom prst="rect">
            <a:avLst/>
          </a:prstGeom>
          <a:solidFill>
            <a:srgbClr val="935739"/>
          </a:solidFill>
          <a:ln>
            <a:noFill/>
          </a:ln>
        </p:spPr>
        <p:txBody>
          <a:bodyPr wrap="square" anchor="ctr"/>
          <a:lstStyle/>
          <a:p>
            <a:endParaRPr lang="en-US"/>
          </a:p>
        </p:txBody>
      </p:sp>
      <p:pic>
        <p:nvPicPr>
          <p:cNvPr id="125" name="Picture 124" descr="viz_gt_bias_analysis.png"/>
          <p:cNvPicPr>
            <a:picLocks noChangeAspect="1"/>
          </p:cNvPicPr>
          <p:nvPr/>
        </p:nvPicPr>
        <p:blipFill>
          <a:blip r:embed="rId4"/>
          <a:stretch>
            <a:fillRect/>
          </a:stretch>
        </p:blipFill>
        <p:spPr>
          <a:xfrm>
            <a:off x="4699000" y="2222500"/>
            <a:ext cx="6858000" cy="1587500"/>
          </a:xfrm>
          <a:prstGeom prst="rect">
            <a:avLst/>
          </a:prstGeom>
        </p:spPr>
      </p:pic>
      <p:pic>
        <p:nvPicPr>
          <p:cNvPr id="126" name="Picture 125" descr="viz_speed_comparison.png"/>
          <p:cNvPicPr>
            <a:picLocks noChangeAspect="1"/>
          </p:cNvPicPr>
          <p:nvPr/>
        </p:nvPicPr>
        <p:blipFill>
          <a:blip r:embed="rId5"/>
          <a:stretch>
            <a:fillRect/>
          </a:stretch>
        </p:blipFill>
        <p:spPr>
          <a:xfrm>
            <a:off x="4699000" y="4191000"/>
            <a:ext cx="6858000" cy="1587500"/>
          </a:xfrm>
          <a:prstGeom prst="rect">
            <a:avLst/>
          </a:prstGeom>
        </p:spPr>
      </p:pic>
      <p:sp>
        <p:nvSpPr>
          <p:cNvPr id="127" name="TextBox 126"/>
          <p:cNvSpPr txBox="1"/>
          <p:nvPr/>
        </p:nvSpPr>
        <p:spPr>
          <a:xfrm>
            <a:off x="4699000" y="3810000"/>
            <a:ext cx="6858000" cy="292608"/>
          </a:xfrm>
          <a:prstGeom prst="rect">
            <a:avLst/>
          </a:prstGeom>
          <a:noFill/>
        </p:spPr>
        <p:txBody>
          <a:bodyPr wrap="square">
            <a:spAutoFit/>
          </a:bodyPr>
          <a:lstStyle/>
          <a:p>
            <a:pPr algn="l"/>
            <a:r>
              <a:rPr sz="1200" i="1">
                <a:solidFill>
                  <a:srgbClr val="8A8A8A"/>
                </a:solidFill>
              </a:rPr>
              <a:t>Figure 4. Ball static localisation: raw vs bias-corrected 3D error (95.17 mm mean corrected).</a:t>
            </a:r>
          </a:p>
        </p:txBody>
      </p:sp>
      <p:sp>
        <p:nvSpPr>
          <p:cNvPr id="128" name="TextBox 127"/>
          <p:cNvSpPr txBox="1"/>
          <p:nvPr/>
        </p:nvSpPr>
        <p:spPr>
          <a:xfrm>
            <a:off x="4699000" y="5778500"/>
            <a:ext cx="6858000" cy="292608"/>
          </a:xfrm>
          <a:prstGeom prst="rect">
            <a:avLst/>
          </a:prstGeom>
          <a:noFill/>
        </p:spPr>
        <p:txBody>
          <a:bodyPr wrap="square">
            <a:spAutoFit/>
          </a:bodyPr>
          <a:lstStyle/>
          <a:p>
            <a:pPr algn="l"/>
            <a:r>
              <a:rPr sz="1200" i="1">
                <a:solidFill>
                  <a:srgbClr val="8A8A8A"/>
                </a:solidFill>
              </a:rPr>
              <a:t>Figure 5. Per-backend latency: YOLO-Pose (TRT FP16) is 6.2× faster than MMPose.</a:t>
            </a:r>
          </a:p>
        </p:txBody>
      </p:sp>
    </p:spTree>
    <p:extLst>
      <p:ext uri="{BB962C8B-B14F-4D97-AF65-F5344CB8AC3E}">
        <p14:creationId xmlns:p14="http://schemas.microsoft.com/office/powerpoint/2010/main" val="2752527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9"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D37ECFE-14F3-7CBC-33B0-5AB765F14FAB}"/>
              </a:ext>
            </a:extLst>
          </p:cNvPr>
          <p:cNvSpPr>
            <a:spLocks noGrp="1"/>
          </p:cNvSpPr>
          <p:nvPr>
            <p:ph type="title"/>
          </p:nvPr>
        </p:nvSpPr>
        <p:spPr>
          <a:xfrm>
            <a:off x="507999" y="933450"/>
            <a:ext cx="11176000" cy="711200"/>
          </a:xfrm>
        </p:spPr>
        <p:txBody>
          <a:bodyPr wrap="square" lIns="76200" tIns="38100" rIns="76200" bIns="38100" anchor="ctr"/>
          <a:lstStyle/>
          <a:p>
            <a:pPr algn="l">
              <a:buNone/>
            </a:pPr>
            <a:r>
              <a:rPr lang="en-US" sz="3200" b="1" dirty="0">
                <a:solidFill>
                  <a:srgbClr val="1F1F1F"/>
                </a:solidFill>
                <a:latin typeface="Calibri"/>
              </a:rPr>
              <a:t>Analysis &amp; Interpretation</a:t>
            </a:r>
          </a:p>
        </p:txBody>
      </p:sp>
      <p:sp>
        <p:nvSpPr>
          <p:cNvPr id="101" name="t101"/>
          <p:cNvSpPr txBox="1"/>
          <p:nvPr/>
        </p:nvSpPr>
        <p:spPr>
          <a:xfrm>
            <a:off x="507999" y="1673860"/>
            <a:ext cx="11176000" cy="457200"/>
          </a:xfrm>
          <a:prstGeom prst="rect">
            <a:avLst/>
          </a:prstGeom>
          <a:noFill/>
          <a:ln>
            <a:noFill/>
          </a:ln>
        </p:spPr>
        <p:txBody>
          <a:bodyPr wrap="square" lIns="76200" tIns="38100" rIns="76200" bIns="38100" anchor="ctr"/>
          <a:lstStyle/>
          <a:p>
            <a:r>
              <a:t>The practical reading is targetable accuracy, not motion-capture perfection.</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r>
              <a:t>RQ1 passed: corrected ball mean is below 120 mm.</a:t>
            </a:r>
          </a:p>
          <a:p>
            <a:r>
              <a:t>RQ2 passed: joint mean is below 180 mm across the three target joints.</a:t>
            </a:r>
          </a:p>
          <a:p>
            <a:r>
              <a:t>Error rises from knee → hip → shoulder as visibility worsens with height.</a:t>
            </a:r>
          </a:p>
          <a:p>
            <a:r>
              <a:t>19 invalid trials are mainly view-count and occlusion failures, not random drift.</a:t>
            </a:r>
          </a:p>
          <a:p>
            <a:r>
              <a:t>Current YOLO-Pose pipeline is now calibration- and visibility-limited.</a:t>
            </a:r>
          </a:p>
        </p:txBody>
      </p:sp>
      <p:sp>
        <p:nvSpPr>
          <p:cNvPr id="103" name="r103"/>
          <p:cNvSpPr/>
          <p:nvPr/>
        </p:nvSpPr>
        <p:spPr>
          <a:xfrm>
            <a:off x="6858000" y="2095500"/>
            <a:ext cx="2413000" cy="3810000"/>
          </a:xfrm>
          <a:prstGeom prst="rect">
            <a:avLst/>
          </a:prstGeom>
          <a:solidFill>
            <a:srgbClr val="F7F1EC"/>
          </a:solidFill>
          <a:ln w="15240">
            <a:solidFill>
              <a:srgbClr val="935739"/>
            </a:solidFill>
          </a:ln>
        </p:spPr>
        <p:txBody>
          <a:bodyPr wrap="square" anchor="ctr"/>
          <a:lstStyle/>
          <a:p>
            <a:endParaRPr lang="en-US"/>
          </a:p>
        </p:txBody>
      </p:sp>
      <p:sp>
        <p:nvSpPr>
          <p:cNvPr id="105" name="r105"/>
          <p:cNvSpPr/>
          <p:nvPr/>
        </p:nvSpPr>
        <p:spPr>
          <a:xfrm>
            <a:off x="9334500" y="2095500"/>
            <a:ext cx="2349500" cy="3810000"/>
          </a:xfrm>
          <a:prstGeom prst="rect">
            <a:avLst/>
          </a:prstGeom>
          <a:solidFill>
            <a:srgbClr val="F7F1EC"/>
          </a:solidFill>
          <a:ln w="15240">
            <a:solidFill>
              <a:srgbClr val="935739"/>
            </a:solidFill>
          </a:ln>
        </p:spPr>
        <p:txBody>
          <a:bodyPr wrap="square" anchor="ctr"/>
          <a:lstStyle/>
          <a:p>
            <a:endParaRPr lang="en-US"/>
          </a:p>
        </p:txBody>
      </p:sp>
      <p:sp>
        <p:nvSpPr>
          <p:cNvPr id="107" name="r107"/>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8" name="t108"/>
          <p:cNvSpPr txBox="1"/>
          <p:nvPr/>
        </p:nvSpPr>
        <p:spPr>
          <a:xfrm>
            <a:off x="508000" y="6350000"/>
            <a:ext cx="11176000" cy="508000"/>
          </a:xfrm>
          <a:prstGeom prst="rect">
            <a:avLst/>
          </a:prstGeom>
          <a:noFill/>
          <a:ln>
            <a:noFill/>
          </a:ln>
        </p:spPr>
        <p:txBody>
          <a:bodyPr wrap="square" lIns="76200" tIns="38100" rIns="76200" bIns="38100" anchor="ctr"/>
          <a:lstStyle/>
          <a:p>
            <a:r>
              <a:t>Takeaway: accuracy is already useful for joint-targeted delivery in the current arena.</a:t>
            </a:r>
          </a:p>
        </p:txBody>
      </p:sp>
      <p:sp>
        <p:nvSpPr>
          <p:cNvPr id="112" name="Rectangle 111"/>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3" name="Rectangle 112"/>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12</a:t>
            </a:r>
          </a:p>
        </p:txBody>
      </p:sp>
      <p:sp>
        <p:nvSpPr>
          <p:cNvPr id="3" name="r100">
            <a:extLst>
              <a:ext uri="{FF2B5EF4-FFF2-40B4-BE49-F238E27FC236}">
                <a16:creationId xmlns:a16="http://schemas.microsoft.com/office/drawing/2014/main" id="{62E9525A-AE5C-1C6A-CD62-597C4F50B1DE}"/>
              </a:ext>
            </a:extLst>
          </p:cNvPr>
          <p:cNvSpPr/>
          <p:nvPr/>
        </p:nvSpPr>
        <p:spPr>
          <a:xfrm>
            <a:off x="573405" y="1542658"/>
            <a:ext cx="4223385" cy="74444"/>
          </a:xfrm>
          <a:prstGeom prst="rect">
            <a:avLst/>
          </a:prstGeom>
          <a:solidFill>
            <a:srgbClr val="935739"/>
          </a:solidFill>
          <a:ln>
            <a:noFill/>
          </a:ln>
        </p:spPr>
        <p:txBody>
          <a:bodyPr wrap="square" anchor="ctr"/>
          <a:lstStyle/>
          <a:p>
            <a:endParaRPr lang="en-US"/>
          </a:p>
        </p:txBody>
      </p:sp>
      <p:pic>
        <p:nvPicPr>
          <p:cNvPr id="114" name="Picture 113" descr="viz_backend_comparison.png"/>
          <p:cNvPicPr>
            <a:picLocks noChangeAspect="1"/>
          </p:cNvPicPr>
          <p:nvPr/>
        </p:nvPicPr>
        <p:blipFill>
          <a:blip r:embed="rId4"/>
          <a:stretch>
            <a:fillRect/>
          </a:stretch>
        </p:blipFill>
        <p:spPr>
          <a:xfrm>
            <a:off x="6985000" y="2222500"/>
            <a:ext cx="2159000" cy="3556000"/>
          </a:xfrm>
          <a:prstGeom prst="rect">
            <a:avLst/>
          </a:prstGeom>
        </p:spPr>
      </p:pic>
      <p:pic>
        <p:nvPicPr>
          <p:cNvPr id="115" name="Picture 114" descr="fig_joint_touch_error_boxplot.png"/>
          <p:cNvPicPr>
            <a:picLocks noChangeAspect="1"/>
          </p:cNvPicPr>
          <p:nvPr/>
        </p:nvPicPr>
        <p:blipFill>
          <a:blip r:embed="rId5"/>
          <a:stretch>
            <a:fillRect/>
          </a:stretch>
        </p:blipFill>
        <p:spPr>
          <a:xfrm>
            <a:off x="9461500" y="2222500"/>
            <a:ext cx="2095500" cy="3556000"/>
          </a:xfrm>
          <a:prstGeom prst="rect">
            <a:avLst/>
          </a:prstGeom>
        </p:spPr>
      </p:pic>
      <p:sp>
        <p:nvSpPr>
          <p:cNvPr id="116" name="TextBox 115"/>
          <p:cNvSpPr txBox="1"/>
          <p:nvPr/>
        </p:nvSpPr>
        <p:spPr>
          <a:xfrm>
            <a:off x="6985000" y="5778500"/>
            <a:ext cx="2159000" cy="292608"/>
          </a:xfrm>
          <a:prstGeom prst="rect">
            <a:avLst/>
          </a:prstGeom>
          <a:noFill/>
        </p:spPr>
        <p:txBody>
          <a:bodyPr wrap="square">
            <a:spAutoFit/>
          </a:bodyPr>
          <a:lstStyle/>
          <a:p>
            <a:pPr algn="l"/>
            <a:r>
              <a:rPr sz="1200" i="1">
                <a:solidFill>
                  <a:srgbClr val="8A8A8A"/>
                </a:solidFill>
              </a:rPr>
              <a:t>Figure 6. Backend comparison: YOLO-Pose matches MMPose 3D jitter within 5 mm.</a:t>
            </a:r>
          </a:p>
        </p:txBody>
      </p:sp>
      <p:sp>
        <p:nvSpPr>
          <p:cNvPr id="117" name="TextBox 116"/>
          <p:cNvSpPr txBox="1"/>
          <p:nvPr/>
        </p:nvSpPr>
        <p:spPr>
          <a:xfrm>
            <a:off x="9461500" y="5778500"/>
            <a:ext cx="2095500" cy="292608"/>
          </a:xfrm>
          <a:prstGeom prst="rect">
            <a:avLst/>
          </a:prstGeom>
          <a:noFill/>
        </p:spPr>
        <p:txBody>
          <a:bodyPr wrap="square">
            <a:spAutoFit/>
          </a:bodyPr>
          <a:lstStyle/>
          <a:p>
            <a:pPr algn="l"/>
            <a:r>
              <a:rPr sz="1200" i="1">
                <a:solidFill>
                  <a:srgbClr val="8A8A8A"/>
                </a:solidFill>
              </a:rPr>
              <a:t>Figure 7. Per-joint 3D error increases with height (knee → hip → shoulder) due to visibility geometry.</a:t>
            </a:r>
          </a:p>
        </p:txBody>
      </p:sp>
    </p:spTree>
    <p:extLst>
      <p:ext uri="{BB962C8B-B14F-4D97-AF65-F5344CB8AC3E}">
        <p14:creationId xmlns:p14="http://schemas.microsoft.com/office/powerpoint/2010/main" val="1908977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9308F2B-84C4-18D7-27CE-949CBD503638}"/>
              </a:ext>
            </a:extLst>
          </p:cNvPr>
          <p:cNvSpPr>
            <a:spLocks noGrp="1"/>
          </p:cNvSpPr>
          <p:nvPr>
            <p:ph type="title"/>
          </p:nvPr>
        </p:nvSpPr>
        <p:spPr>
          <a:xfrm>
            <a:off x="508000" y="965200"/>
            <a:ext cx="11176000" cy="711200"/>
          </a:xfrm>
        </p:spPr>
        <p:txBody>
          <a:bodyPr wrap="square" lIns="76200" tIns="38100" rIns="76200" bIns="38100" anchor="ctr"/>
          <a:lstStyle/>
          <a:p>
            <a:pPr algn="l">
              <a:buNone/>
            </a:pPr>
            <a:r>
              <a:rPr lang="en-US" sz="3200" b="1" dirty="0">
                <a:solidFill>
                  <a:srgbClr val="1F1F1F"/>
                </a:solidFill>
                <a:latin typeface="Calibri"/>
              </a:rPr>
              <a:t>Limitations &amp; Challenges</a:t>
            </a:r>
          </a:p>
        </p:txBody>
      </p:sp>
      <p:sp>
        <p:nvSpPr>
          <p:cNvPr id="101" name="t101"/>
          <p:cNvSpPr txBox="1"/>
          <p:nvPr/>
        </p:nvSpPr>
        <p:spPr>
          <a:xfrm>
            <a:off x="508000" y="1629940"/>
            <a:ext cx="11176000" cy="457200"/>
          </a:xfrm>
          <a:prstGeom prst="rect">
            <a:avLst/>
          </a:prstGeom>
          <a:noFill/>
          <a:ln>
            <a:noFill/>
          </a:ln>
        </p:spPr>
        <p:txBody>
          <a:bodyPr wrap="square" lIns="76200" tIns="38100" rIns="76200" bIns="38100" anchor="ctr"/>
          <a:lstStyle/>
          <a:p>
            <a:r>
              <a:rPr sz="1800" b="0">
                <a:solidFill>
                  <a:srgbClr val="1F1F1F"/>
                </a:solidFill>
              </a:rPr>
              <a:t>Closed-loop firing on a moving subject remains Stage 5 and is future work.</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r>
              <a:t>Full moving-subject autonomous firing is future work; thesis validates aim-only plus static shots.</a:t>
            </a:r>
          </a:p>
          <a:p>
            <a:r>
              <a:t>Single subject, single domestic arena, and controlled indoor lighting only.</a:t>
            </a:r>
          </a:p>
          <a:p>
            <a:r>
              <a:t>19 of 81 joint-touch trials were invalid because fewer than 3 reliable views were available.</a:t>
            </a:r>
          </a:p>
          <a:p>
            <a:r>
              <a:t>Empirical RPM → m/s ballistic map is still missing.</a:t>
            </a:r>
          </a:p>
          <a:p>
            <a:r>
              <a:t>Bias correction fit in-sample on the 36-point ball grid; no held-out calibration set.</a:t>
            </a:r>
          </a:p>
        </p:txBody>
      </p:sp>
      <p:sp>
        <p:nvSpPr>
          <p:cNvPr id="103" name="r103"/>
          <p:cNvSpPr/>
          <p:nvPr/>
        </p:nvSpPr>
        <p:spPr>
          <a:xfrm>
            <a:off x="6858000" y="2095500"/>
            <a:ext cx="4826000" cy="3810000"/>
          </a:xfrm>
          <a:prstGeom prst="rect">
            <a:avLst/>
          </a:prstGeom>
          <a:solidFill>
            <a:srgbClr val="F7F1EC"/>
          </a:solidFill>
          <a:ln w="15240">
            <a:solidFill>
              <a:srgbClr val="935739"/>
            </a:solidFill>
          </a:ln>
        </p:spPr>
        <p:txBody>
          <a:bodyPr wrap="square" anchor="ctr"/>
          <a:lstStyle/>
          <a:p>
            <a:endParaRPr lang="en-US"/>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r>
              <a:t>Takeaway: the limitations are clear enough to define the next milestone.</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13</a:t>
            </a:r>
          </a:p>
        </p:txBody>
      </p:sp>
      <p:sp>
        <p:nvSpPr>
          <p:cNvPr id="3" name="r100">
            <a:extLst>
              <a:ext uri="{FF2B5EF4-FFF2-40B4-BE49-F238E27FC236}">
                <a16:creationId xmlns:a16="http://schemas.microsoft.com/office/drawing/2014/main" id="{933E4AE8-D596-CFD3-FEE9-781A07E17DB6}"/>
              </a:ext>
            </a:extLst>
          </p:cNvPr>
          <p:cNvSpPr/>
          <p:nvPr/>
        </p:nvSpPr>
        <p:spPr>
          <a:xfrm>
            <a:off x="598170" y="1555496"/>
            <a:ext cx="4150995" cy="74444"/>
          </a:xfrm>
          <a:prstGeom prst="rect">
            <a:avLst/>
          </a:prstGeom>
          <a:solidFill>
            <a:srgbClr val="935739"/>
          </a:solidFill>
          <a:ln>
            <a:noFill/>
          </a:ln>
        </p:spPr>
        <p:txBody>
          <a:bodyPr wrap="square" anchor="ctr"/>
          <a:lstStyle/>
          <a:p>
            <a:endParaRPr lang="en-US"/>
          </a:p>
        </p:txBody>
      </p:sp>
      <p:pic>
        <p:nvPicPr>
          <p:cNvPr id="112" name="Picture 111" descr="viz_ema_ablation_jitter.png"/>
          <p:cNvPicPr>
            <a:picLocks noChangeAspect="1"/>
          </p:cNvPicPr>
          <p:nvPr/>
        </p:nvPicPr>
        <p:blipFill>
          <a:blip r:embed="rId4"/>
          <a:stretch>
            <a:fillRect/>
          </a:stretch>
        </p:blipFill>
        <p:spPr>
          <a:xfrm>
            <a:off x="6985000" y="2222500"/>
            <a:ext cx="4572000" cy="3556000"/>
          </a:xfrm>
          <a:prstGeom prst="rect">
            <a:avLst/>
          </a:prstGeom>
        </p:spPr>
      </p:pic>
      <p:sp>
        <p:nvSpPr>
          <p:cNvPr id="113" name="TextBox 112"/>
          <p:cNvSpPr txBox="1"/>
          <p:nvPr/>
        </p:nvSpPr>
        <p:spPr>
          <a:xfrm>
            <a:off x="512064" y="5989320"/>
            <a:ext cx="11173968" cy="320040"/>
          </a:xfrm>
          <a:prstGeom prst="rect">
            <a:avLst/>
          </a:prstGeom>
          <a:noFill/>
        </p:spPr>
        <p:txBody>
          <a:bodyPr wrap="square">
            <a:spAutoFit/>
          </a:bodyPr>
          <a:lstStyle/>
          <a:p>
            <a:pPr algn="l"/>
            <a:r>
              <a:rPr sz="1200" i="1">
                <a:solidFill>
                  <a:srgbClr val="8A8A8A"/>
                </a:solidFill>
              </a:rPr>
              <a:t>Figure 3. Per-joint 3D jitter by smoothing strategy (EMA ablation).</a:t>
            </a:r>
          </a:p>
        </p:txBody>
      </p:sp>
    </p:spTree>
    <p:extLst>
      <p:ext uri="{BB962C8B-B14F-4D97-AF65-F5344CB8AC3E}">
        <p14:creationId xmlns:p14="http://schemas.microsoft.com/office/powerpoint/2010/main" val="3326733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2"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5ABDFC1-C322-06B2-128F-8E22988F71D3}"/>
              </a:ext>
            </a:extLst>
          </p:cNvPr>
          <p:cNvSpPr>
            <a:spLocks noGrp="1"/>
          </p:cNvSpPr>
          <p:nvPr>
            <p:ph type="title"/>
          </p:nvPr>
        </p:nvSpPr>
        <p:spPr>
          <a:xfrm>
            <a:off x="507998" y="934720"/>
            <a:ext cx="11176000" cy="711200"/>
          </a:xfrm>
        </p:spPr>
        <p:txBody>
          <a:bodyPr wrap="square" lIns="76200" tIns="38100" rIns="76200" bIns="38100" anchor="ctr"/>
          <a:lstStyle/>
          <a:p>
            <a:pPr algn="l">
              <a:buNone/>
            </a:pPr>
            <a:r>
              <a:rPr lang="en-US" sz="3200" b="1" dirty="0">
                <a:solidFill>
                  <a:srgbClr val="1F1F1F"/>
                </a:solidFill>
                <a:latin typeface="Calibri"/>
              </a:rPr>
              <a:t>Conclusions &amp; Contributions</a:t>
            </a:r>
          </a:p>
        </p:txBody>
      </p:sp>
      <p:sp>
        <p:nvSpPr>
          <p:cNvPr id="101" name="t101"/>
          <p:cNvSpPr txBox="1"/>
          <p:nvPr/>
        </p:nvSpPr>
        <p:spPr>
          <a:xfrm>
            <a:off x="507998" y="1536700"/>
            <a:ext cx="11176000" cy="457200"/>
          </a:xfrm>
          <a:prstGeom prst="rect">
            <a:avLst/>
          </a:prstGeom>
          <a:noFill/>
          <a:ln>
            <a:noFill/>
          </a:ln>
        </p:spPr>
        <p:txBody>
          <a:bodyPr wrap="square" lIns="76200" tIns="38100" rIns="76200" bIns="38100" anchor="ctr"/>
          <a:lstStyle/>
          <a:p>
            <a:r>
              <a:rPr sz="1800" b="0">
                <a:solidFill>
                  <a:srgbClr val="1F1F1F"/>
                </a:solidFill>
              </a:rPr>
              <a:t>The three novelty claims the committee should remember (thesis §1.4).</a:t>
            </a:r>
          </a:p>
        </p:txBody>
      </p:sp>
      <p:sp>
        <p:nvSpPr>
          <p:cNvPr id="120" name="r120"/>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21" name="t121"/>
          <p:cNvSpPr txBox="1"/>
          <p:nvPr/>
        </p:nvSpPr>
        <p:spPr>
          <a:xfrm>
            <a:off x="508000" y="6350000"/>
            <a:ext cx="11176000" cy="508000"/>
          </a:xfrm>
          <a:prstGeom prst="rect">
            <a:avLst/>
          </a:prstGeom>
          <a:noFill/>
          <a:ln>
            <a:noFill/>
          </a:ln>
        </p:spPr>
        <p:txBody>
          <a:bodyPr wrap="square" lIns="76200" tIns="38100" rIns="76200" bIns="38100" anchor="ctr"/>
          <a:lstStyle/>
          <a:p>
            <a:r>
              <a:rPr sz="1400" b="0">
                <a:solidFill>
                  <a:srgbClr val="1F1F1F"/>
                </a:solidFill>
              </a:rPr>
              <a:t>Takeaway: an autonomous, low-cost, safety-gated pose-to-launch loop — the three claims of this thesis.</a:t>
            </a:r>
          </a:p>
        </p:txBody>
      </p:sp>
      <p:sp>
        <p:nvSpPr>
          <p:cNvPr id="125" name="Rectangle 124"/>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6" name="Rectangle 125"/>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14</a:t>
            </a:r>
          </a:p>
        </p:txBody>
      </p:sp>
      <p:sp>
        <p:nvSpPr>
          <p:cNvPr id="3" name="r100">
            <a:extLst>
              <a:ext uri="{FF2B5EF4-FFF2-40B4-BE49-F238E27FC236}">
                <a16:creationId xmlns:a16="http://schemas.microsoft.com/office/drawing/2014/main" id="{7C1B5ED0-3FCA-E1E4-78C7-B8219B83295C}"/>
              </a:ext>
            </a:extLst>
          </p:cNvPr>
          <p:cNvSpPr/>
          <p:nvPr/>
        </p:nvSpPr>
        <p:spPr>
          <a:xfrm>
            <a:off x="586740" y="1499478"/>
            <a:ext cx="4772026" cy="74444"/>
          </a:xfrm>
          <a:prstGeom prst="rect">
            <a:avLst/>
          </a:prstGeom>
          <a:solidFill>
            <a:srgbClr val="935739"/>
          </a:solidFill>
          <a:ln>
            <a:noFill/>
          </a:ln>
        </p:spPr>
        <p:txBody>
          <a:bodyPr wrap="square" anchor="ctr"/>
          <a:lstStyle/>
          <a:p>
            <a:endParaRPr lang="en-US"/>
          </a:p>
        </p:txBody>
      </p:sp>
      <p:sp>
        <p:nvSpPr>
          <p:cNvPr id="127" name="Rounded Rectangle 126"/>
          <p:cNvSpPr/>
          <p:nvPr/>
        </p:nvSpPr>
        <p:spPr>
          <a:xfrm>
            <a:off x="512064" y="2194560"/>
            <a:ext cx="3611880" cy="3611880"/>
          </a:xfrm>
          <a:prstGeom prst="roundRect">
            <a:avLst/>
          </a:prstGeom>
          <a:solidFill>
            <a:srgbClr val="F5F2ED"/>
          </a:solidFill>
          <a:ln w="12700">
            <a:solidFill>
              <a:srgbClr val="E88B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740664" y="2377440"/>
            <a:ext cx="1371600" cy="1280160"/>
          </a:xfrm>
          <a:prstGeom prst="rect">
            <a:avLst/>
          </a:prstGeom>
          <a:noFill/>
        </p:spPr>
        <p:txBody>
          <a:bodyPr wrap="none">
            <a:spAutoFit/>
          </a:bodyPr>
          <a:lstStyle/>
          <a:p>
            <a:r>
              <a:rPr sz="7200" b="1">
                <a:solidFill>
                  <a:srgbClr val="E88B40"/>
                </a:solidFill>
              </a:rPr>
              <a:t>1</a:t>
            </a:r>
          </a:p>
        </p:txBody>
      </p:sp>
      <p:sp>
        <p:nvSpPr>
          <p:cNvPr id="129" name="TextBox 128"/>
          <p:cNvSpPr txBox="1"/>
          <p:nvPr/>
        </p:nvSpPr>
        <p:spPr>
          <a:xfrm>
            <a:off x="740664" y="3611880"/>
            <a:ext cx="3154680" cy="548640"/>
          </a:xfrm>
          <a:prstGeom prst="rect">
            <a:avLst/>
          </a:prstGeom>
          <a:noFill/>
        </p:spPr>
        <p:txBody>
          <a:bodyPr wrap="square">
            <a:spAutoFit/>
          </a:bodyPr>
          <a:lstStyle/>
          <a:p>
            <a:r>
              <a:rPr sz="1800" b="1">
                <a:solidFill>
                  <a:srgbClr val="1F1F1F"/>
                </a:solidFill>
              </a:rPr>
              <a:t>Autonomous aiming machine</a:t>
            </a:r>
          </a:p>
        </p:txBody>
      </p:sp>
      <p:sp>
        <p:nvSpPr>
          <p:cNvPr id="130" name="TextBox 129"/>
          <p:cNvSpPr txBox="1"/>
          <p:nvPr/>
        </p:nvSpPr>
        <p:spPr>
          <a:xfrm>
            <a:off x="740664" y="4251960"/>
            <a:ext cx="3154680" cy="1417320"/>
          </a:xfrm>
          <a:prstGeom prst="rect">
            <a:avLst/>
          </a:prstGeom>
          <a:noFill/>
        </p:spPr>
        <p:txBody>
          <a:bodyPr wrap="square">
            <a:spAutoFit/>
          </a:bodyPr>
          <a:lstStyle/>
          <a:p>
            <a:r>
              <a:rPr sz="1400">
                <a:solidFill>
                  <a:srgbClr val="1F1F1F"/>
                </a:solidFill>
              </a:rPr>
              <a:t>The launcher autonomously computes pitch, yaw, and wheel RPM from live 3D joint coordinates — a qualitative departure from programmed-trajectory commercial launchers.</a:t>
            </a:r>
          </a:p>
        </p:txBody>
      </p:sp>
      <p:sp>
        <p:nvSpPr>
          <p:cNvPr id="131" name="Rounded Rectangle 130"/>
          <p:cNvSpPr/>
          <p:nvPr/>
        </p:nvSpPr>
        <p:spPr>
          <a:xfrm>
            <a:off x="4288536" y="2194560"/>
            <a:ext cx="3611880" cy="3611880"/>
          </a:xfrm>
          <a:prstGeom prst="roundRect">
            <a:avLst/>
          </a:prstGeom>
          <a:solidFill>
            <a:srgbClr val="F5F2ED"/>
          </a:solidFill>
          <a:ln w="12700">
            <a:solidFill>
              <a:srgbClr val="E88B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4517136" y="2377440"/>
            <a:ext cx="1371600" cy="1280160"/>
          </a:xfrm>
          <a:prstGeom prst="rect">
            <a:avLst/>
          </a:prstGeom>
          <a:noFill/>
        </p:spPr>
        <p:txBody>
          <a:bodyPr wrap="none">
            <a:spAutoFit/>
          </a:bodyPr>
          <a:lstStyle/>
          <a:p>
            <a:r>
              <a:rPr sz="7200" b="1">
                <a:solidFill>
                  <a:srgbClr val="E88B40"/>
                </a:solidFill>
              </a:rPr>
              <a:t>2</a:t>
            </a:r>
          </a:p>
        </p:txBody>
      </p:sp>
      <p:sp>
        <p:nvSpPr>
          <p:cNvPr id="133" name="TextBox 132"/>
          <p:cNvSpPr txBox="1"/>
          <p:nvPr/>
        </p:nvSpPr>
        <p:spPr>
          <a:xfrm>
            <a:off x="4517136" y="3611880"/>
            <a:ext cx="3154680" cy="548640"/>
          </a:xfrm>
          <a:prstGeom prst="rect">
            <a:avLst/>
          </a:prstGeom>
          <a:noFill/>
        </p:spPr>
        <p:txBody>
          <a:bodyPr wrap="square">
            <a:spAutoFit/>
          </a:bodyPr>
          <a:lstStyle/>
          <a:p>
            <a:r>
              <a:rPr sz="1800" b="1">
                <a:solidFill>
                  <a:srgbClr val="1F1F1F"/>
                </a:solidFill>
              </a:rPr>
              <a:t>Low-cost pose-to-launch pipeline</a:t>
            </a:r>
          </a:p>
        </p:txBody>
      </p:sp>
      <p:sp>
        <p:nvSpPr>
          <p:cNvPr id="134" name="TextBox 133"/>
          <p:cNvSpPr txBox="1"/>
          <p:nvPr/>
        </p:nvSpPr>
        <p:spPr>
          <a:xfrm>
            <a:off x="4517136" y="4251960"/>
            <a:ext cx="3154680" cy="1417320"/>
          </a:xfrm>
          <a:prstGeom prst="rect">
            <a:avLst/>
          </a:prstGeom>
          <a:noFill/>
        </p:spPr>
        <p:txBody>
          <a:bodyPr wrap="square">
            <a:spAutoFit/>
          </a:bodyPr>
          <a:lstStyle/>
          <a:p>
            <a:r>
              <a:rPr sz="1400">
                <a:solidFill>
                  <a:srgbClr val="1F1F1F"/>
                </a:solidFill>
              </a:rPr>
              <a:t>USD ~200 of perception hardware (4 commodity USB cameras + open-source detectors) delivers sub-200 mm joint accuracy in a real garage arena.</a:t>
            </a:r>
          </a:p>
        </p:txBody>
      </p:sp>
      <p:sp>
        <p:nvSpPr>
          <p:cNvPr id="135" name="Rounded Rectangle 134"/>
          <p:cNvSpPr/>
          <p:nvPr/>
        </p:nvSpPr>
        <p:spPr>
          <a:xfrm>
            <a:off x="8065008" y="2194560"/>
            <a:ext cx="3611880" cy="3611880"/>
          </a:xfrm>
          <a:prstGeom prst="roundRect">
            <a:avLst/>
          </a:prstGeom>
          <a:solidFill>
            <a:srgbClr val="F5F2ED"/>
          </a:solidFill>
          <a:ln w="12700">
            <a:solidFill>
              <a:srgbClr val="E88B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8293608" y="2377440"/>
            <a:ext cx="1371600" cy="1280160"/>
          </a:xfrm>
          <a:prstGeom prst="rect">
            <a:avLst/>
          </a:prstGeom>
          <a:noFill/>
        </p:spPr>
        <p:txBody>
          <a:bodyPr wrap="none">
            <a:spAutoFit/>
          </a:bodyPr>
          <a:lstStyle/>
          <a:p>
            <a:r>
              <a:rPr sz="7200" b="1">
                <a:solidFill>
                  <a:srgbClr val="E88B40"/>
                </a:solidFill>
              </a:rPr>
              <a:t>3</a:t>
            </a:r>
          </a:p>
        </p:txBody>
      </p:sp>
      <p:sp>
        <p:nvSpPr>
          <p:cNvPr id="137" name="TextBox 136"/>
          <p:cNvSpPr txBox="1"/>
          <p:nvPr/>
        </p:nvSpPr>
        <p:spPr>
          <a:xfrm>
            <a:off x="8293608" y="3611880"/>
            <a:ext cx="3154680" cy="548640"/>
          </a:xfrm>
          <a:prstGeom prst="rect">
            <a:avLst/>
          </a:prstGeom>
          <a:noFill/>
        </p:spPr>
        <p:txBody>
          <a:bodyPr wrap="square">
            <a:spAutoFit/>
          </a:bodyPr>
          <a:lstStyle/>
          <a:p>
            <a:r>
              <a:rPr sz="1800" b="1">
                <a:solidFill>
                  <a:srgbClr val="1F1F1F"/>
                </a:solidFill>
              </a:rPr>
              <a:t>Safety-gated integration protocol</a:t>
            </a:r>
          </a:p>
        </p:txBody>
      </p:sp>
      <p:sp>
        <p:nvSpPr>
          <p:cNvPr id="138" name="TextBox 137"/>
          <p:cNvSpPr txBox="1"/>
          <p:nvPr/>
        </p:nvSpPr>
        <p:spPr>
          <a:xfrm>
            <a:off x="8293608" y="4251960"/>
            <a:ext cx="3154680" cy="1417320"/>
          </a:xfrm>
          <a:prstGeom prst="rect">
            <a:avLst/>
          </a:prstGeom>
          <a:noFill/>
        </p:spPr>
        <p:txBody>
          <a:bodyPr wrap="square">
            <a:spAutoFit/>
          </a:bodyPr>
          <a:lstStyle/>
          <a:p>
            <a:r>
              <a:rPr sz="1400">
                <a:solidFill>
                  <a:srgbClr val="1F1F1F"/>
                </a:solidFill>
              </a:rPr>
              <a:t>Six-stage checklist, E-STOP latch &lt; 100 ms, and JSONL decision log make every actuation traceable — reproducible for any vision-guided actuated system.</a:t>
            </a:r>
          </a:p>
        </p:txBody>
      </p:sp>
    </p:spTree>
    <p:extLst>
      <p:ext uri="{BB962C8B-B14F-4D97-AF65-F5344CB8AC3E}">
        <p14:creationId xmlns:p14="http://schemas.microsoft.com/office/powerpoint/2010/main" val="557460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49BBA95-0B93-5D7B-EBD9-2C461300CA2F}"/>
              </a:ext>
            </a:extLst>
          </p:cNvPr>
          <p:cNvSpPr>
            <a:spLocks noGrp="1"/>
          </p:cNvSpPr>
          <p:nvPr>
            <p:ph type="title"/>
          </p:nvPr>
        </p:nvSpPr>
        <p:spPr>
          <a:xfrm>
            <a:off x="507999" y="952500"/>
            <a:ext cx="11176000" cy="711200"/>
          </a:xfrm>
        </p:spPr>
        <p:txBody>
          <a:bodyPr wrap="square" lIns="76200" tIns="38100" rIns="76200" bIns="38100" anchor="ctr"/>
          <a:lstStyle/>
          <a:p>
            <a:pPr algn="l">
              <a:buNone/>
            </a:pPr>
            <a:r>
              <a:rPr lang="en-US" sz="3200" b="1" dirty="0">
                <a:solidFill>
                  <a:srgbClr val="1F1F1F"/>
                </a:solidFill>
                <a:latin typeface="Calibri"/>
              </a:rPr>
              <a:t>Future Work + Ethics &amp; Standards</a:t>
            </a:r>
          </a:p>
        </p:txBody>
      </p:sp>
      <p:sp>
        <p:nvSpPr>
          <p:cNvPr id="101" name="t101"/>
          <p:cNvSpPr txBox="1"/>
          <p:nvPr/>
        </p:nvSpPr>
        <p:spPr>
          <a:xfrm>
            <a:off x="507999" y="1651000"/>
            <a:ext cx="11176000" cy="457200"/>
          </a:xfrm>
          <a:prstGeom prst="rect">
            <a:avLst/>
          </a:prstGeom>
          <a:noFill/>
          <a:ln>
            <a:noFill/>
          </a:ln>
        </p:spPr>
        <p:txBody>
          <a:bodyPr wrap="square" lIns="76200" tIns="38100" rIns="76200" bIns="38100" anchor="ctr"/>
          <a:lstStyle/>
          <a:p>
            <a:r>
              <a:t>The roadmap moves from validated aiming to full autonomous training.</a:t>
            </a:r>
          </a:p>
        </p:txBody>
      </p:sp>
      <p:sp>
        <p:nvSpPr>
          <p:cNvPr id="102" name="t102"/>
          <p:cNvSpPr txBox="1"/>
          <p:nvPr/>
        </p:nvSpPr>
        <p:spPr>
          <a:xfrm>
            <a:off x="508000" y="2095500"/>
            <a:ext cx="5588000" cy="381000"/>
          </a:xfrm>
          <a:prstGeom prst="rect">
            <a:avLst/>
          </a:prstGeom>
          <a:noFill/>
          <a:ln>
            <a:noFill/>
          </a:ln>
        </p:spPr>
        <p:txBody>
          <a:bodyPr wrap="square" lIns="76200" tIns="38100" rIns="76200" bIns="38100" anchor="ctr"/>
          <a:lstStyle/>
          <a:p>
            <a:pPr algn="l">
              <a:buNone/>
            </a:pPr>
            <a:r>
              <a:rPr lang="en-US" sz="2000" b="1" dirty="0">
                <a:solidFill>
                  <a:srgbClr val="935739"/>
                </a:solidFill>
                <a:latin typeface="Arial"/>
              </a:rPr>
              <a:t>Future roadmap</a:t>
            </a:r>
          </a:p>
        </p:txBody>
      </p:sp>
      <p:sp>
        <p:nvSpPr>
          <p:cNvPr id="103" name="t103"/>
          <p:cNvSpPr txBox="1"/>
          <p:nvPr/>
        </p:nvSpPr>
        <p:spPr>
          <a:xfrm>
            <a:off x="508000" y="2540000"/>
            <a:ext cx="5588000" cy="3175000"/>
          </a:xfrm>
          <a:prstGeom prst="rect">
            <a:avLst/>
          </a:prstGeom>
          <a:noFill/>
          <a:ln>
            <a:noFill/>
          </a:ln>
        </p:spPr>
        <p:txBody>
          <a:bodyPr wrap="square" lIns="76200" tIns="38100" rIns="76200" bIns="38100" anchor="ctr"/>
          <a:lstStyle/>
          <a:p>
            <a:r>
              <a:t>Closed-loop autonomous firing on moving subjects</a:t>
            </a:r>
          </a:p>
          <a:p>
            <a:r>
              <a:t>Empirical RPM → m/s ballistic calibration map</a:t>
            </a:r>
          </a:p>
          <a:p>
            <a:r>
              <a:t>SLAM-based camera re-localisation and self-recalibration</a:t>
            </a:r>
          </a:p>
          <a:p>
            <a:r>
              <a:t>Multi-person tracking and target assignment</a:t>
            </a:r>
          </a:p>
          <a:p>
            <a:r>
              <a:t>Virtual 3D Goal: camera-only impact detection, no sensors at the goal</a:t>
            </a:r>
          </a:p>
        </p:txBody>
      </p:sp>
      <p:sp>
        <p:nvSpPr>
          <p:cNvPr id="104" name="t104"/>
          <p:cNvSpPr txBox="1"/>
          <p:nvPr/>
        </p:nvSpPr>
        <p:spPr>
          <a:xfrm>
            <a:off x="6350000" y="2095500"/>
            <a:ext cx="5334000" cy="381000"/>
          </a:xfrm>
          <a:prstGeom prst="rect">
            <a:avLst/>
          </a:prstGeom>
          <a:noFill/>
          <a:ln>
            <a:noFill/>
          </a:ln>
        </p:spPr>
        <p:txBody>
          <a:bodyPr wrap="square" lIns="76200" tIns="38100" rIns="76200" bIns="38100" anchor="ctr"/>
          <a:lstStyle/>
          <a:p>
            <a:pPr algn="l">
              <a:buNone/>
            </a:pPr>
            <a:r>
              <a:rPr lang="en-US" sz="2000" b="1" dirty="0">
                <a:solidFill>
                  <a:srgbClr val="935739"/>
                </a:solidFill>
                <a:latin typeface="Arial"/>
              </a:rPr>
              <a:t>Standards honoured</a:t>
            </a:r>
          </a:p>
        </p:txBody>
      </p:sp>
      <p:sp>
        <p:nvSpPr>
          <p:cNvPr id="105" name="r105"/>
          <p:cNvSpPr/>
          <p:nvPr/>
        </p:nvSpPr>
        <p:spPr>
          <a:xfrm>
            <a:off x="6350000" y="25400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06" name="t106"/>
          <p:cNvSpPr txBox="1"/>
          <p:nvPr/>
        </p:nvSpPr>
        <p:spPr>
          <a:xfrm>
            <a:off x="6502400" y="2692400"/>
            <a:ext cx="2235200" cy="508000"/>
          </a:xfrm>
          <a:prstGeom prst="rect">
            <a:avLst/>
          </a:prstGeom>
          <a:noFill/>
          <a:ln>
            <a:noFill/>
          </a:ln>
        </p:spPr>
        <p:txBody>
          <a:bodyPr wrap="square" lIns="76200" tIns="38100" rIns="76200" bIns="38100" anchor="ctr"/>
          <a:lstStyle/>
          <a:p>
            <a:pPr algn="l">
              <a:buNone/>
            </a:pPr>
            <a:r>
              <a:rPr lang="en-US" sz="1800" b="1" dirty="0">
                <a:solidFill>
                  <a:srgbClr val="935739"/>
                </a:solidFill>
                <a:latin typeface="Arial"/>
              </a:rPr>
              <a:t>ISO 12100</a:t>
            </a:r>
          </a:p>
        </p:txBody>
      </p:sp>
      <p:sp>
        <p:nvSpPr>
          <p:cNvPr id="107" name="t107"/>
          <p:cNvSpPr txBox="1"/>
          <p:nvPr/>
        </p:nvSpPr>
        <p:spPr>
          <a:xfrm>
            <a:off x="6502400" y="3200400"/>
            <a:ext cx="2235200" cy="8636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Machinery safety — risk assessment</a:t>
            </a:r>
          </a:p>
        </p:txBody>
      </p:sp>
      <p:sp>
        <p:nvSpPr>
          <p:cNvPr id="108" name="r108"/>
          <p:cNvSpPr/>
          <p:nvPr/>
        </p:nvSpPr>
        <p:spPr>
          <a:xfrm>
            <a:off x="9017000" y="25400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09" name="t109"/>
          <p:cNvSpPr txBox="1"/>
          <p:nvPr/>
        </p:nvSpPr>
        <p:spPr>
          <a:xfrm>
            <a:off x="9169400" y="2692400"/>
            <a:ext cx="2235200" cy="508000"/>
          </a:xfrm>
          <a:prstGeom prst="rect">
            <a:avLst/>
          </a:prstGeom>
          <a:noFill/>
          <a:ln>
            <a:noFill/>
          </a:ln>
        </p:spPr>
        <p:txBody>
          <a:bodyPr wrap="square" lIns="76200" tIns="38100" rIns="76200" bIns="38100" anchor="ctr"/>
          <a:lstStyle/>
          <a:p>
            <a:pPr algn="l">
              <a:buNone/>
            </a:pPr>
            <a:r>
              <a:rPr lang="en-US" sz="1800" b="1" dirty="0">
                <a:solidFill>
                  <a:srgbClr val="935739"/>
                </a:solidFill>
                <a:latin typeface="Arial"/>
              </a:rPr>
              <a:t>ISO 13849-1</a:t>
            </a:r>
          </a:p>
        </p:txBody>
      </p:sp>
      <p:sp>
        <p:nvSpPr>
          <p:cNvPr id="110" name="t110"/>
          <p:cNvSpPr txBox="1"/>
          <p:nvPr/>
        </p:nvSpPr>
        <p:spPr>
          <a:xfrm>
            <a:off x="9169400" y="3200400"/>
            <a:ext cx="2235200" cy="8636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Cat. 1 stop paths, safety-related control</a:t>
            </a:r>
          </a:p>
        </p:txBody>
      </p:sp>
      <p:sp>
        <p:nvSpPr>
          <p:cNvPr id="111" name="r111"/>
          <p:cNvSpPr/>
          <p:nvPr/>
        </p:nvSpPr>
        <p:spPr>
          <a:xfrm>
            <a:off x="6350000" y="42926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12" name="t112"/>
          <p:cNvSpPr txBox="1"/>
          <p:nvPr/>
        </p:nvSpPr>
        <p:spPr>
          <a:xfrm>
            <a:off x="6502400" y="4445000"/>
            <a:ext cx="2235200" cy="508000"/>
          </a:xfrm>
          <a:prstGeom prst="rect">
            <a:avLst/>
          </a:prstGeom>
          <a:noFill/>
          <a:ln>
            <a:noFill/>
          </a:ln>
        </p:spPr>
        <p:txBody>
          <a:bodyPr wrap="square" lIns="76200" tIns="38100" rIns="76200" bIns="38100" anchor="ctr"/>
          <a:lstStyle/>
          <a:p>
            <a:pPr algn="l">
              <a:buNone/>
            </a:pPr>
            <a:r>
              <a:rPr lang="en-US" sz="1800" b="1" dirty="0">
                <a:solidFill>
                  <a:srgbClr val="935739"/>
                </a:solidFill>
                <a:latin typeface="Arial"/>
              </a:rPr>
              <a:t>IEC 60204-1</a:t>
            </a:r>
          </a:p>
        </p:txBody>
      </p:sp>
      <p:sp>
        <p:nvSpPr>
          <p:cNvPr id="113" name="t113"/>
          <p:cNvSpPr txBox="1"/>
          <p:nvPr/>
        </p:nvSpPr>
        <p:spPr>
          <a:xfrm>
            <a:off x="6502400" y="4953000"/>
            <a:ext cx="2235200" cy="8636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 wiring, fusing, emergency stop</a:t>
            </a:r>
          </a:p>
        </p:txBody>
      </p:sp>
      <p:sp>
        <p:nvSpPr>
          <p:cNvPr id="114" name="r114"/>
          <p:cNvSpPr/>
          <p:nvPr/>
        </p:nvSpPr>
        <p:spPr>
          <a:xfrm>
            <a:off x="9017000" y="42926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15" name="t115"/>
          <p:cNvSpPr txBox="1"/>
          <p:nvPr/>
        </p:nvSpPr>
        <p:spPr>
          <a:xfrm>
            <a:off x="9169400" y="4445000"/>
            <a:ext cx="2235200" cy="508000"/>
          </a:xfrm>
          <a:prstGeom prst="rect">
            <a:avLst/>
          </a:prstGeom>
          <a:noFill/>
          <a:ln>
            <a:noFill/>
          </a:ln>
        </p:spPr>
        <p:txBody>
          <a:bodyPr wrap="square" lIns="76200" tIns="38100" rIns="76200" bIns="38100" anchor="ctr"/>
          <a:lstStyle/>
          <a:p>
            <a:pPr algn="l">
              <a:buNone/>
            </a:pPr>
            <a:r>
              <a:rPr lang="en-US" sz="1800" b="1" dirty="0">
                <a:solidFill>
                  <a:srgbClr val="935739"/>
                </a:solidFill>
                <a:latin typeface="Arial"/>
              </a:rPr>
              <a:t>ISO 10218-1</a:t>
            </a:r>
          </a:p>
        </p:txBody>
      </p:sp>
      <p:sp>
        <p:nvSpPr>
          <p:cNvPr id="116" name="t116"/>
          <p:cNvSpPr txBox="1"/>
          <p:nvPr/>
        </p:nvSpPr>
        <p:spPr>
          <a:xfrm>
            <a:off x="9169400" y="4953000"/>
            <a:ext cx="2235200" cy="8636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Human exclusion during operation</a:t>
            </a:r>
          </a:p>
        </p:txBody>
      </p:sp>
      <p:sp>
        <p:nvSpPr>
          <p:cNvPr id="117" name="t117"/>
          <p:cNvSpPr txBox="1"/>
          <p:nvPr/>
        </p:nvSpPr>
        <p:spPr>
          <a:xfrm>
            <a:off x="508000" y="5842000"/>
            <a:ext cx="5588000" cy="457200"/>
          </a:xfrm>
          <a:prstGeom prst="rect">
            <a:avLst/>
          </a:prstGeom>
          <a:noFill/>
          <a:ln>
            <a:noFill/>
          </a:ln>
        </p:spPr>
        <p:txBody>
          <a:bodyPr wrap="square" lIns="76200" tIns="38100" rIns="76200" bIns="38100" anchor="ctr"/>
          <a:lstStyle/>
          <a:p>
            <a:r>
              <a:t>Applicability: sports training, rehabilitation, and adaptive PE instruction.</a:t>
            </a:r>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r>
              <a:t>Takeaway: the next milestone is full moving-target closed-loop firing.</a:t>
            </a: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15</a:t>
            </a:r>
          </a:p>
        </p:txBody>
      </p:sp>
      <p:sp>
        <p:nvSpPr>
          <p:cNvPr id="3" name="r100">
            <a:extLst>
              <a:ext uri="{FF2B5EF4-FFF2-40B4-BE49-F238E27FC236}">
                <a16:creationId xmlns:a16="http://schemas.microsoft.com/office/drawing/2014/main" id="{3633B827-6659-0835-A46F-46FE8F883854}"/>
              </a:ext>
            </a:extLst>
          </p:cNvPr>
          <p:cNvSpPr/>
          <p:nvPr/>
        </p:nvSpPr>
        <p:spPr>
          <a:xfrm>
            <a:off x="507999" y="1544806"/>
            <a:ext cx="5721351"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3629981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6"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CC71AE8-1E3B-6626-4456-A7CE47DF69C4}"/>
              </a:ext>
            </a:extLst>
          </p:cNvPr>
          <p:cNvSpPr>
            <a:spLocks noGrp="1"/>
          </p:cNvSpPr>
          <p:nvPr>
            <p:ph type="title"/>
          </p:nvPr>
        </p:nvSpPr>
        <p:spPr>
          <a:xfrm>
            <a:off x="507999" y="886460"/>
            <a:ext cx="11176000" cy="711200"/>
          </a:xfrm>
        </p:spPr>
        <p:txBody>
          <a:bodyPr wrap="square" lIns="76200" tIns="38100" rIns="76200" bIns="38100" anchor="ctr"/>
          <a:lstStyle/>
          <a:p>
            <a:pPr algn="l">
              <a:buNone/>
            </a:pPr>
            <a:r>
              <a:rPr lang="en-US" sz="3200" b="1" dirty="0">
                <a:solidFill>
                  <a:srgbClr val="1F1F1F"/>
                </a:solidFill>
                <a:latin typeface="Calibri"/>
              </a:rPr>
              <a:t>A1 · Live Demo</a:t>
            </a:r>
          </a:p>
        </p:txBody>
      </p:sp>
      <p:sp>
        <p:nvSpPr>
          <p:cNvPr id="101" name="t101"/>
          <p:cNvSpPr txBox="1"/>
          <p:nvPr/>
        </p:nvSpPr>
        <p:spPr>
          <a:xfrm>
            <a:off x="508000" y="153887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Arena 3D tracking, trimmed to 20–30 s.</a:t>
            </a:r>
          </a:p>
        </p:txBody>
      </p:sp>
      <p:sp>
        <p:nvSpPr>
          <p:cNvPr id="102" name="r102"/>
          <p:cNvSpPr/>
          <p:nvPr/>
        </p:nvSpPr>
        <p:spPr>
          <a:xfrm>
            <a:off x="1524000" y="2032000"/>
            <a:ext cx="9144000" cy="3937000"/>
          </a:xfrm>
          <a:prstGeom prst="rect">
            <a:avLst/>
          </a:prstGeom>
          <a:solidFill>
            <a:srgbClr val="F7F1EC"/>
          </a:solidFill>
          <a:ln w="15240">
            <a:solidFill>
              <a:srgbClr val="935739"/>
            </a:solidFill>
          </a:ln>
        </p:spPr>
        <p:txBody>
          <a:bodyPr wrap="square" anchor="ctr"/>
          <a:lstStyle/>
          <a:p>
            <a:endParaRPr lang="en-US"/>
          </a:p>
        </p:txBody>
      </p:sp>
      <p:sp>
        <p:nvSpPr>
          <p:cNvPr id="104" name="r104"/>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5" name="t105"/>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Unhide only if the panel asks for a demo or a buffer opens.</a:t>
            </a:r>
          </a:p>
        </p:txBody>
      </p:sp>
      <p:sp>
        <p:nvSpPr>
          <p:cNvPr id="109" name="Rectangle 108"/>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0" name="Rectangle 109"/>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11" name="Rectangle 110"/>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22AB804E-A9CD-797D-41E1-B526FE79EDD8}"/>
              </a:ext>
            </a:extLst>
          </p:cNvPr>
          <p:cNvSpPr/>
          <p:nvPr/>
        </p:nvSpPr>
        <p:spPr>
          <a:xfrm>
            <a:off x="507998" y="1428496"/>
            <a:ext cx="2595247" cy="74444"/>
          </a:xfrm>
          <a:prstGeom prst="rect">
            <a:avLst/>
          </a:prstGeom>
          <a:solidFill>
            <a:srgbClr val="935739"/>
          </a:solidFill>
          <a:ln>
            <a:noFill/>
          </a:ln>
        </p:spPr>
        <p:txBody>
          <a:bodyPr wrap="square" anchor="ctr"/>
          <a:lstStyle/>
          <a:p>
            <a:endParaRPr lang="en-US"/>
          </a:p>
        </p:txBody>
      </p:sp>
      <p:pic>
        <p:nvPicPr>
          <p:cNvPr id="112" name="Picture 111" descr="fig_smoke_frame_0200.png"/>
          <p:cNvPicPr>
            <a:picLocks noChangeAspect="1"/>
          </p:cNvPicPr>
          <p:nvPr/>
        </p:nvPicPr>
        <p:blipFill>
          <a:blip r:embed="rId4"/>
          <a:stretch>
            <a:fillRect/>
          </a:stretch>
        </p:blipFill>
        <p:spPr>
          <a:xfrm>
            <a:off x="1651000" y="2159000"/>
            <a:ext cx="8890000" cy="3683000"/>
          </a:xfrm>
          <a:prstGeom prst="rect">
            <a:avLst/>
          </a:prstGeom>
        </p:spPr>
      </p:pic>
      <p:sp>
        <p:nvSpPr>
          <p:cNvPr id="113" name="TextBox 112"/>
          <p:cNvSpPr txBox="1"/>
          <p:nvPr/>
        </p:nvSpPr>
        <p:spPr>
          <a:xfrm>
            <a:off x="457200" y="5943600"/>
            <a:ext cx="11247120" cy="457200"/>
          </a:xfrm>
          <a:prstGeom prst="rect">
            <a:avLst/>
          </a:prstGeom>
          <a:noFill/>
        </p:spPr>
        <p:txBody>
          <a:bodyPr wrap="square">
            <a:spAutoFit/>
          </a:bodyPr>
          <a:lstStyle/>
          <a:p>
            <a:r>
              <a:rPr sz="1200"/>
              <a:t>Poster frame shown above. Live demo video on disk: Parallel_working/output/recordings/arena3d_20260417_123348.mp4 (trim to 20–30 s, play on demand).</a:t>
            </a:r>
          </a:p>
        </p:txBody>
      </p:sp>
    </p:spTree>
    <p:extLst>
      <p:ext uri="{BB962C8B-B14F-4D97-AF65-F5344CB8AC3E}">
        <p14:creationId xmlns:p14="http://schemas.microsoft.com/office/powerpoint/2010/main" val="1544443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5"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4"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5BDCB89-ABBB-8B2D-BE51-F19EF40035CA}"/>
              </a:ext>
            </a:extLst>
          </p:cNvPr>
          <p:cNvSpPr>
            <a:spLocks noGrp="1"/>
          </p:cNvSpPr>
          <p:nvPr>
            <p:ph type="title"/>
          </p:nvPr>
        </p:nvSpPr>
        <p:spPr>
          <a:xfrm>
            <a:off x="508000" y="916940"/>
            <a:ext cx="11176000" cy="711200"/>
          </a:xfrm>
        </p:spPr>
        <p:txBody>
          <a:bodyPr wrap="square" lIns="76200" tIns="38100" rIns="76200" bIns="38100" anchor="ctr"/>
          <a:lstStyle/>
          <a:p>
            <a:pPr algn="l">
              <a:buNone/>
            </a:pPr>
            <a:r>
              <a:rPr lang="en-US" sz="3200" b="1" dirty="0">
                <a:solidFill>
                  <a:srgbClr val="1F1F1F"/>
                </a:solidFill>
                <a:latin typeface="Calibri"/>
              </a:rPr>
              <a:t>A2 · 10-Layer Safety Stack</a:t>
            </a:r>
          </a:p>
        </p:txBody>
      </p:sp>
      <p:sp>
        <p:nvSpPr>
          <p:cNvPr id="101" name="t101"/>
          <p:cNvSpPr txBox="1"/>
          <p:nvPr/>
        </p:nvSpPr>
        <p:spPr>
          <a:xfrm>
            <a:off x="457200" y="156591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Operator on top, hardware at the bottom.</a:t>
            </a:r>
          </a:p>
        </p:txBody>
      </p:sp>
      <p:sp>
        <p:nvSpPr>
          <p:cNvPr id="102" name="r102"/>
          <p:cNvSpPr/>
          <p:nvPr/>
        </p:nvSpPr>
        <p:spPr>
          <a:xfrm>
            <a:off x="508000" y="20955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r103"/>
          <p:cNvSpPr/>
          <p:nvPr/>
        </p:nvSpPr>
        <p:spPr>
          <a:xfrm>
            <a:off x="1016000" y="20955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04" name="t104"/>
          <p:cNvSpPr txBox="1"/>
          <p:nvPr/>
        </p:nvSpPr>
        <p:spPr>
          <a:xfrm>
            <a:off x="508000" y="20955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L1</a:t>
            </a:r>
          </a:p>
        </p:txBody>
      </p:sp>
      <p:sp>
        <p:nvSpPr>
          <p:cNvPr id="105" name="t105"/>
          <p:cNvSpPr txBox="1"/>
          <p:nvPr/>
        </p:nvSpPr>
        <p:spPr>
          <a:xfrm>
            <a:off x="1143000" y="20955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Zone gate — reject targets outside safe arena</a:t>
            </a:r>
          </a:p>
        </p:txBody>
      </p:sp>
      <p:sp>
        <p:nvSpPr>
          <p:cNvPr id="106" name="r106"/>
          <p:cNvSpPr/>
          <p:nvPr/>
        </p:nvSpPr>
        <p:spPr>
          <a:xfrm>
            <a:off x="508000" y="28321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r107"/>
          <p:cNvSpPr/>
          <p:nvPr/>
        </p:nvSpPr>
        <p:spPr>
          <a:xfrm>
            <a:off x="1016000" y="28321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08" name="t108"/>
          <p:cNvSpPr txBox="1"/>
          <p:nvPr/>
        </p:nvSpPr>
        <p:spPr>
          <a:xfrm>
            <a:off x="508000" y="28321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L2</a:t>
            </a:r>
          </a:p>
        </p:txBody>
      </p:sp>
      <p:sp>
        <p:nvSpPr>
          <p:cNvPr id="109" name="t109"/>
          <p:cNvSpPr txBox="1"/>
          <p:nvPr/>
        </p:nvSpPr>
        <p:spPr>
          <a:xfrm>
            <a:off x="1143000" y="28321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Confidence gate — per-joint + ball detection score</a:t>
            </a:r>
          </a:p>
        </p:txBody>
      </p:sp>
      <p:sp>
        <p:nvSpPr>
          <p:cNvPr id="110" name="r110"/>
          <p:cNvSpPr/>
          <p:nvPr/>
        </p:nvSpPr>
        <p:spPr>
          <a:xfrm>
            <a:off x="508000" y="35687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1" name="r111"/>
          <p:cNvSpPr/>
          <p:nvPr/>
        </p:nvSpPr>
        <p:spPr>
          <a:xfrm>
            <a:off x="1016000" y="35687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12" name="t112"/>
          <p:cNvSpPr txBox="1"/>
          <p:nvPr/>
        </p:nvSpPr>
        <p:spPr>
          <a:xfrm>
            <a:off x="508000" y="35687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L3</a:t>
            </a:r>
          </a:p>
        </p:txBody>
      </p:sp>
      <p:sp>
        <p:nvSpPr>
          <p:cNvPr id="113" name="t113"/>
          <p:cNvSpPr txBox="1"/>
          <p:nvPr/>
        </p:nvSpPr>
        <p:spPr>
          <a:xfrm>
            <a:off x="1143000" y="35687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Stability gate — multi-frame temporal filter</a:t>
            </a:r>
          </a:p>
        </p:txBody>
      </p:sp>
      <p:sp>
        <p:nvSpPr>
          <p:cNvPr id="114" name="r114"/>
          <p:cNvSpPr/>
          <p:nvPr/>
        </p:nvSpPr>
        <p:spPr>
          <a:xfrm>
            <a:off x="508000" y="43053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5" name="r115"/>
          <p:cNvSpPr/>
          <p:nvPr/>
        </p:nvSpPr>
        <p:spPr>
          <a:xfrm>
            <a:off x="1016000" y="43053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16" name="t116"/>
          <p:cNvSpPr txBox="1"/>
          <p:nvPr/>
        </p:nvSpPr>
        <p:spPr>
          <a:xfrm>
            <a:off x="508000" y="43053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L4</a:t>
            </a:r>
          </a:p>
        </p:txBody>
      </p:sp>
      <p:sp>
        <p:nvSpPr>
          <p:cNvPr id="117" name="t117"/>
          <p:cNvSpPr txBox="1"/>
          <p:nvPr/>
        </p:nvSpPr>
        <p:spPr>
          <a:xfrm>
            <a:off x="1143000" y="43053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Angle clamp (Python side)</a:t>
            </a:r>
          </a:p>
        </p:txBody>
      </p:sp>
      <p:sp>
        <p:nvSpPr>
          <p:cNvPr id="118" name="r118"/>
          <p:cNvSpPr/>
          <p:nvPr/>
        </p:nvSpPr>
        <p:spPr>
          <a:xfrm>
            <a:off x="508000" y="50419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9" name="r119"/>
          <p:cNvSpPr/>
          <p:nvPr/>
        </p:nvSpPr>
        <p:spPr>
          <a:xfrm>
            <a:off x="1016000" y="50419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0" name="t120"/>
          <p:cNvSpPr txBox="1"/>
          <p:nvPr/>
        </p:nvSpPr>
        <p:spPr>
          <a:xfrm>
            <a:off x="508000" y="50419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L5</a:t>
            </a:r>
          </a:p>
        </p:txBody>
      </p:sp>
      <p:sp>
        <p:nvSpPr>
          <p:cNvPr id="121" name="t121"/>
          <p:cNvSpPr txBox="1"/>
          <p:nvPr/>
        </p:nvSpPr>
        <p:spPr>
          <a:xfrm>
            <a:off x="1143000" y="50419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Angle clamp (firmware side)</a:t>
            </a:r>
          </a:p>
        </p:txBody>
      </p:sp>
      <p:sp>
        <p:nvSpPr>
          <p:cNvPr id="122" name="r122"/>
          <p:cNvSpPr/>
          <p:nvPr/>
        </p:nvSpPr>
        <p:spPr>
          <a:xfrm>
            <a:off x="6350000" y="20955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23" name="r123"/>
          <p:cNvSpPr/>
          <p:nvPr/>
        </p:nvSpPr>
        <p:spPr>
          <a:xfrm>
            <a:off x="6858000" y="20955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4" name="t124"/>
          <p:cNvSpPr txBox="1"/>
          <p:nvPr/>
        </p:nvSpPr>
        <p:spPr>
          <a:xfrm>
            <a:off x="6350000" y="20955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L6</a:t>
            </a:r>
          </a:p>
        </p:txBody>
      </p:sp>
      <p:sp>
        <p:nvSpPr>
          <p:cNvPr id="125" name="t125"/>
          <p:cNvSpPr txBox="1"/>
          <p:nvPr/>
        </p:nvSpPr>
        <p:spPr>
          <a:xfrm>
            <a:off x="6985000" y="20955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RPM gate (Python side)</a:t>
            </a:r>
          </a:p>
        </p:txBody>
      </p:sp>
      <p:sp>
        <p:nvSpPr>
          <p:cNvPr id="126" name="r126"/>
          <p:cNvSpPr/>
          <p:nvPr/>
        </p:nvSpPr>
        <p:spPr>
          <a:xfrm>
            <a:off x="6350000" y="28321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27" name="r127"/>
          <p:cNvSpPr/>
          <p:nvPr/>
        </p:nvSpPr>
        <p:spPr>
          <a:xfrm>
            <a:off x="6858000" y="28321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8" name="t128"/>
          <p:cNvSpPr txBox="1"/>
          <p:nvPr/>
        </p:nvSpPr>
        <p:spPr>
          <a:xfrm>
            <a:off x="6350000" y="28321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L7</a:t>
            </a:r>
          </a:p>
        </p:txBody>
      </p:sp>
      <p:sp>
        <p:nvSpPr>
          <p:cNvPr id="129" name="t129"/>
          <p:cNvSpPr txBox="1"/>
          <p:nvPr/>
        </p:nvSpPr>
        <p:spPr>
          <a:xfrm>
            <a:off x="6985000" y="28321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RPM gate (firmware side)</a:t>
            </a:r>
          </a:p>
        </p:txBody>
      </p:sp>
      <p:sp>
        <p:nvSpPr>
          <p:cNvPr id="130" name="r130"/>
          <p:cNvSpPr/>
          <p:nvPr/>
        </p:nvSpPr>
        <p:spPr>
          <a:xfrm>
            <a:off x="6350000" y="35687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1" name="r131"/>
          <p:cNvSpPr/>
          <p:nvPr/>
        </p:nvSpPr>
        <p:spPr>
          <a:xfrm>
            <a:off x="6858000" y="35687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32" name="t132"/>
          <p:cNvSpPr txBox="1"/>
          <p:nvPr/>
        </p:nvSpPr>
        <p:spPr>
          <a:xfrm>
            <a:off x="6350000" y="35687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L8</a:t>
            </a:r>
          </a:p>
        </p:txBody>
      </p:sp>
      <p:sp>
        <p:nvSpPr>
          <p:cNvPr id="133" name="t133"/>
          <p:cNvSpPr txBox="1"/>
          <p:nvPr/>
        </p:nvSpPr>
        <p:spPr>
          <a:xfrm>
            <a:off x="6985000" y="35687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Arm state + typed confirmation</a:t>
            </a:r>
          </a:p>
        </p:txBody>
      </p:sp>
      <p:sp>
        <p:nvSpPr>
          <p:cNvPr id="134" name="r134"/>
          <p:cNvSpPr/>
          <p:nvPr/>
        </p:nvSpPr>
        <p:spPr>
          <a:xfrm>
            <a:off x="6350000" y="43053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5" name="r135"/>
          <p:cNvSpPr/>
          <p:nvPr/>
        </p:nvSpPr>
        <p:spPr>
          <a:xfrm>
            <a:off x="6858000" y="43053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36" name="t136"/>
          <p:cNvSpPr txBox="1"/>
          <p:nvPr/>
        </p:nvSpPr>
        <p:spPr>
          <a:xfrm>
            <a:off x="6350000" y="43053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L9</a:t>
            </a:r>
          </a:p>
        </p:txBody>
      </p:sp>
      <p:sp>
        <p:nvSpPr>
          <p:cNvPr id="137" name="t137"/>
          <p:cNvSpPr txBox="1"/>
          <p:nvPr/>
        </p:nvSpPr>
        <p:spPr>
          <a:xfrm>
            <a:off x="6985000" y="43053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Hardware E-STOP (NC) + link-loss watchdog</a:t>
            </a:r>
          </a:p>
        </p:txBody>
      </p:sp>
      <p:sp>
        <p:nvSpPr>
          <p:cNvPr id="138" name="r138"/>
          <p:cNvSpPr/>
          <p:nvPr/>
        </p:nvSpPr>
        <p:spPr>
          <a:xfrm>
            <a:off x="6350000" y="50419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9" name="r139"/>
          <p:cNvSpPr/>
          <p:nvPr/>
        </p:nvSpPr>
        <p:spPr>
          <a:xfrm>
            <a:off x="6858000" y="50419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40" name="t140"/>
          <p:cNvSpPr txBox="1"/>
          <p:nvPr/>
        </p:nvSpPr>
        <p:spPr>
          <a:xfrm>
            <a:off x="6350000" y="50419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L10</a:t>
            </a:r>
          </a:p>
        </p:txBody>
      </p:sp>
      <p:sp>
        <p:nvSpPr>
          <p:cNvPr id="141" name="t141"/>
          <p:cNvSpPr txBox="1"/>
          <p:nvPr/>
        </p:nvSpPr>
        <p:spPr>
          <a:xfrm>
            <a:off x="6985000" y="50419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Python exception path — safe shutdown</a:t>
            </a:r>
          </a:p>
        </p:txBody>
      </p:sp>
      <p:sp>
        <p:nvSpPr>
          <p:cNvPr id="142" name="r142"/>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43" name="t143"/>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Use if the panel asks what happens if X fails.</a:t>
            </a:r>
          </a:p>
        </p:txBody>
      </p:sp>
      <p:sp>
        <p:nvSpPr>
          <p:cNvPr id="147" name="Rectangle 146"/>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8" name="Rectangle 147"/>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49" name="Rectangle 148"/>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B3E265EE-9302-9C25-01CF-EE7318C6E940}"/>
              </a:ext>
            </a:extLst>
          </p:cNvPr>
          <p:cNvSpPr/>
          <p:nvPr/>
        </p:nvSpPr>
        <p:spPr>
          <a:xfrm>
            <a:off x="508000" y="1489710"/>
            <a:ext cx="4408805"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4069390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6"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D7196EA-4C9F-8DE6-C2EA-FC25EFDDC416}"/>
              </a:ext>
            </a:extLst>
          </p:cNvPr>
          <p:cNvSpPr>
            <a:spLocks noGrp="1"/>
          </p:cNvSpPr>
          <p:nvPr>
            <p:ph type="title"/>
          </p:nvPr>
        </p:nvSpPr>
        <p:spPr>
          <a:xfrm>
            <a:off x="457200" y="901700"/>
            <a:ext cx="11176000" cy="711200"/>
          </a:xfrm>
        </p:spPr>
        <p:txBody>
          <a:bodyPr wrap="square" lIns="76200" tIns="38100" rIns="76200" bIns="38100" anchor="ctr"/>
          <a:lstStyle/>
          <a:p>
            <a:pPr algn="l">
              <a:buNone/>
            </a:pPr>
            <a:r>
              <a:rPr lang="en-US" sz="3200" b="1" dirty="0">
                <a:solidFill>
                  <a:srgbClr val="1F1F1F"/>
                </a:solidFill>
                <a:latin typeface="Calibri"/>
              </a:rPr>
              <a:t>A3 · End-to-End Latency Budget</a:t>
            </a:r>
          </a:p>
        </p:txBody>
      </p:sp>
      <p:sp>
        <p:nvSpPr>
          <p:cNvPr id="101" name="t101"/>
          <p:cNvSpPr txBox="1"/>
          <p:nvPr/>
        </p:nvSpPr>
        <p:spPr>
          <a:xfrm>
            <a:off x="457200" y="1585236"/>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Per-stage timings from the live run.</a:t>
            </a:r>
          </a:p>
        </p:txBody>
      </p:sp>
      <p:sp>
        <p:nvSpPr>
          <p:cNvPr id="102" name="r102"/>
          <p:cNvSpPr/>
          <p:nvPr/>
        </p:nvSpPr>
        <p:spPr>
          <a:xfrm>
            <a:off x="508000" y="2095500"/>
            <a:ext cx="11176000" cy="3810000"/>
          </a:xfrm>
          <a:prstGeom prst="rect">
            <a:avLst/>
          </a:prstGeom>
          <a:solidFill>
            <a:srgbClr val="F7F1EC"/>
          </a:solidFill>
          <a:ln w="15240">
            <a:solidFill>
              <a:srgbClr val="935739"/>
            </a:solidFill>
          </a:ln>
        </p:spPr>
        <p:txBody>
          <a:bodyPr wrap="square" anchor="ctr"/>
          <a:lstStyle/>
          <a:p>
            <a:endParaRPr lang="en-US"/>
          </a:p>
        </p:txBody>
      </p:sp>
      <p:sp>
        <p:nvSpPr>
          <p:cNvPr id="104" name="r104"/>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5" name="t105"/>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Use if the panel asks about real-time guarantees.</a:t>
            </a:r>
          </a:p>
        </p:txBody>
      </p:sp>
      <p:sp>
        <p:nvSpPr>
          <p:cNvPr id="109" name="Rectangle 108"/>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0" name="Rectangle 109"/>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11" name="Rectangle 110"/>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77B2BB00-275B-25A8-6896-9AB082B1BF25}"/>
              </a:ext>
            </a:extLst>
          </p:cNvPr>
          <p:cNvSpPr/>
          <p:nvPr/>
        </p:nvSpPr>
        <p:spPr>
          <a:xfrm>
            <a:off x="508001" y="1473942"/>
            <a:ext cx="5317490" cy="74444"/>
          </a:xfrm>
          <a:prstGeom prst="rect">
            <a:avLst/>
          </a:prstGeom>
          <a:solidFill>
            <a:srgbClr val="935739"/>
          </a:solidFill>
          <a:ln>
            <a:noFill/>
          </a:ln>
        </p:spPr>
        <p:txBody>
          <a:bodyPr wrap="square" anchor="ctr"/>
          <a:lstStyle/>
          <a:p>
            <a:endParaRPr lang="en-US"/>
          </a:p>
        </p:txBody>
      </p:sp>
      <p:graphicFrame>
        <p:nvGraphicFramePr>
          <p:cNvPr id="112" name="Table 111"/>
          <p:cNvGraphicFramePr>
            <a:graphicFrameLocks noGrp="1"/>
          </p:cNvGraphicFramePr>
          <p:nvPr/>
        </p:nvGraphicFramePr>
        <p:xfrm>
          <a:off x="635000" y="2222500"/>
          <a:ext cx="10922000" cy="3556000"/>
        </p:xfrm>
        <a:graphic>
          <a:graphicData uri="http://schemas.openxmlformats.org/drawingml/2006/table">
            <a:tbl>
              <a:tblPr firstRow="1" bandRow="1">
                <a:tableStyleId>{5C22544A-7EE6-4342-B048-85BDC9FD1C3A}</a:tableStyleId>
              </a:tblPr>
              <a:tblGrid>
                <a:gridCol w="3640666"/>
                <a:gridCol w="3640666"/>
                <a:gridCol w="3640668"/>
              </a:tblGrid>
              <a:tr h="355600">
                <a:tc>
                  <a:txBody>
                    <a:bodyPr/>
                    <a:lstStyle/>
                    <a:p>
                      <a:r>
                        <a:rPr b="1" sz="1400"/>
                        <a:t>Stage</a:t>
                      </a:r>
                    </a:p>
                  </a:txBody>
                  <a:tcPr/>
                </a:tc>
                <a:tc>
                  <a:txBody>
                    <a:bodyPr/>
                    <a:lstStyle/>
                    <a:p>
                      <a:r>
                        <a:rPr b="1" sz="1400"/>
                        <a:t>Mean (ms)</a:t>
                      </a:r>
                    </a:p>
                  </a:txBody>
                  <a:tcPr/>
                </a:tc>
                <a:tc>
                  <a:txBody>
                    <a:bodyPr/>
                    <a:lstStyle/>
                    <a:p>
                      <a:r>
                        <a:rPr b="1" sz="1400"/>
                        <a:t>P95 (ms)</a:t>
                      </a:r>
                    </a:p>
                  </a:txBody>
                  <a:tcPr/>
                </a:tc>
              </a:tr>
              <a:tr h="355600">
                <a:tc>
                  <a:txBody>
                    <a:bodyPr/>
                    <a:lstStyle/>
                    <a:p>
                      <a:r>
                        <a:rPr sz="1200"/>
                        <a:t>Camera capture (per-frame)</a:t>
                      </a:r>
                    </a:p>
                  </a:txBody>
                  <a:tcPr/>
                </a:tc>
                <a:tc>
                  <a:txBody>
                    <a:bodyPr/>
                    <a:lstStyle/>
                    <a:p>
                      <a:r>
                        <a:rPr sz="1200"/>
                        <a:t>0.0</a:t>
                      </a:r>
                    </a:p>
                  </a:txBody>
                  <a:tcPr/>
                </a:tc>
                <a:tc>
                  <a:txBody>
                    <a:bodyPr/>
                    <a:lstStyle/>
                    <a:p>
                      <a:r>
                        <a:rPr sz="1200"/>
                        <a:t>0.0</a:t>
                      </a:r>
                    </a:p>
                  </a:txBody>
                  <a:tcPr/>
                </a:tc>
              </a:tr>
              <a:tr h="355600">
                <a:tc>
                  <a:txBody>
                    <a:bodyPr/>
                    <a:lstStyle/>
                    <a:p>
                      <a:r>
                        <a:rPr sz="1200"/>
                        <a:t>YOLO ball detection</a:t>
                      </a:r>
                    </a:p>
                  </a:txBody>
                  <a:tcPr/>
                </a:tc>
                <a:tc>
                  <a:txBody>
                    <a:bodyPr/>
                    <a:lstStyle/>
                    <a:p>
                      <a:r>
                        <a:rPr sz="1200"/>
                        <a:t>13.9</a:t>
                      </a:r>
                    </a:p>
                  </a:txBody>
                  <a:tcPr/>
                </a:tc>
                <a:tc>
                  <a:txBody>
                    <a:bodyPr/>
                    <a:lstStyle/>
                    <a:p>
                      <a:r>
                        <a:rPr sz="1200"/>
                        <a:t>13.2</a:t>
                      </a:r>
                    </a:p>
                  </a:txBody>
                  <a:tcPr/>
                </a:tc>
              </a:tr>
              <a:tr h="355600">
                <a:tc>
                  <a:txBody>
                    <a:bodyPr/>
                    <a:lstStyle/>
                    <a:p>
                      <a:r>
                        <a:rPr sz="1200"/>
                        <a:t>MMPose / YOLO-Pose</a:t>
                      </a:r>
                    </a:p>
                  </a:txBody>
                  <a:tcPr/>
                </a:tc>
                <a:tc>
                  <a:txBody>
                    <a:bodyPr/>
                    <a:lstStyle/>
                    <a:p>
                      <a:r>
                        <a:rPr sz="1200"/>
                        <a:t>36.4</a:t>
                      </a:r>
                    </a:p>
                  </a:txBody>
                  <a:tcPr/>
                </a:tc>
                <a:tc>
                  <a:txBody>
                    <a:bodyPr/>
                    <a:lstStyle/>
                    <a:p>
                      <a:r>
                        <a:rPr sz="1200"/>
                        <a:t>32.5</a:t>
                      </a:r>
                    </a:p>
                  </a:txBody>
                  <a:tcPr/>
                </a:tc>
              </a:tr>
              <a:tr h="355600">
                <a:tc>
                  <a:txBody>
                    <a:bodyPr/>
                    <a:lstStyle/>
                    <a:p>
                      <a:r>
                        <a:rPr sz="1200"/>
                        <a:t>SVD-DLT triangulation</a:t>
                      </a:r>
                    </a:p>
                  </a:txBody>
                  <a:tcPr/>
                </a:tc>
                <a:tc>
                  <a:txBody>
                    <a:bodyPr/>
                    <a:lstStyle/>
                    <a:p>
                      <a:r>
                        <a:rPr sz="1200"/>
                        <a:t>2.2</a:t>
                      </a:r>
                    </a:p>
                  </a:txBody>
                  <a:tcPr/>
                </a:tc>
                <a:tc>
                  <a:txBody>
                    <a:bodyPr/>
                    <a:lstStyle/>
                    <a:p>
                      <a:r>
                        <a:rPr sz="1200"/>
                        <a:t>2.6</a:t>
                      </a:r>
                    </a:p>
                  </a:txBody>
                  <a:tcPr/>
                </a:tc>
              </a:tr>
              <a:tr h="355600">
                <a:tc>
                  <a:txBody>
                    <a:bodyPr/>
                    <a:lstStyle/>
                    <a:p>
                      <a:r>
                        <a:rPr sz="1200"/>
                        <a:t>UDP target broadcast</a:t>
                      </a:r>
                    </a:p>
                  </a:txBody>
                  <a:tcPr/>
                </a:tc>
                <a:tc>
                  <a:txBody>
                    <a:bodyPr/>
                    <a:lstStyle/>
                    <a:p>
                      <a:r>
                        <a:rPr sz="1200"/>
                        <a:t>0.2</a:t>
                      </a:r>
                    </a:p>
                  </a:txBody>
                  <a:tcPr/>
                </a:tc>
                <a:tc>
                  <a:txBody>
                    <a:bodyPr/>
                    <a:lstStyle/>
                    <a:p>
                      <a:r>
                        <a:rPr sz="1200"/>
                        <a:t>0.3</a:t>
                      </a:r>
                    </a:p>
                  </a:txBody>
                  <a:tcPr/>
                </a:tc>
              </a:tr>
              <a:tr h="355600">
                <a:tc>
                  <a:txBody>
                    <a:bodyPr/>
                    <a:lstStyle/>
                    <a:p>
                      <a:r>
                        <a:rPr sz="1200"/>
                        <a:t>3D render (cv2 backend)</a:t>
                      </a:r>
                    </a:p>
                  </a:txBody>
                  <a:tcPr/>
                </a:tc>
                <a:tc>
                  <a:txBody>
                    <a:bodyPr/>
                    <a:lstStyle/>
                    <a:p>
                      <a:r>
                        <a:rPr sz="1200"/>
                        <a:t>5.5</a:t>
                      </a:r>
                    </a:p>
                  </a:txBody>
                  <a:tcPr/>
                </a:tc>
                <a:tc>
                  <a:txBody>
                    <a:bodyPr/>
                    <a:lstStyle/>
                    <a:p>
                      <a:r>
                        <a:rPr sz="1200"/>
                        <a:t>5.3</a:t>
                      </a:r>
                    </a:p>
                  </a:txBody>
                  <a:tcPr/>
                </a:tc>
              </a:tr>
              <a:tr h="355600">
                <a:tc>
                  <a:txBody>
                    <a:bodyPr/>
                    <a:lstStyle/>
                    <a:p>
                      <a:r>
                        <a:rPr sz="1200"/>
                        <a:t>2D mosaic render</a:t>
                      </a:r>
                    </a:p>
                  </a:txBody>
                  <a:tcPr/>
                </a:tc>
                <a:tc>
                  <a:txBody>
                    <a:bodyPr/>
                    <a:lstStyle/>
                    <a:p>
                      <a:r>
                        <a:rPr sz="1200"/>
                        <a:t>3.6</a:t>
                      </a:r>
                    </a:p>
                  </a:txBody>
                  <a:tcPr/>
                </a:tc>
                <a:tc>
                  <a:txBody>
                    <a:bodyPr/>
                    <a:lstStyle/>
                    <a:p>
                      <a:r>
                        <a:rPr sz="1200"/>
                        <a:t>3.8</a:t>
                      </a:r>
                    </a:p>
                  </a:txBody>
                  <a:tcPr/>
                </a:tc>
              </a:tr>
              <a:tr h="355600">
                <a:tc>
                  <a:txBody>
                    <a:bodyPr/>
                    <a:lstStyle/>
                    <a:p>
                      <a:r>
                        <a:rPr sz="1200"/>
                        <a:t>End-to-end perception</a:t>
                      </a:r>
                    </a:p>
                  </a:txBody>
                  <a:tcPr/>
                </a:tc>
                <a:tc>
                  <a:txBody>
                    <a:bodyPr/>
                    <a:lstStyle/>
                    <a:p>
                      <a:r>
                        <a:rPr sz="1200"/>
                        <a:t>72.8</a:t>
                      </a:r>
                    </a:p>
                  </a:txBody>
                  <a:tcPr/>
                </a:tc>
                <a:tc>
                  <a:txBody>
                    <a:bodyPr/>
                    <a:lstStyle/>
                    <a:p>
                      <a:r>
                        <a:rPr sz="1200"/>
                        <a:t>79.9</a:t>
                      </a:r>
                    </a:p>
                  </a:txBody>
                  <a:tcPr/>
                </a:tc>
              </a:tr>
              <a:tr h="355600">
                <a:tc>
                  <a:txBody>
                    <a:bodyPr/>
                    <a:lstStyle/>
                    <a:p>
                      <a:r>
                        <a:rPr sz="1200"/>
                        <a:t>Total loop (incl. render)</a:t>
                      </a:r>
                    </a:p>
                  </a:txBody>
                  <a:tcPr/>
                </a:tc>
                <a:tc>
                  <a:txBody>
                    <a:bodyPr/>
                    <a:lstStyle/>
                    <a:p>
                      <a:r>
                        <a:rPr sz="1200"/>
                        <a:t>71.7</a:t>
                      </a:r>
                    </a:p>
                  </a:txBody>
                  <a:tcPr/>
                </a:tc>
                <a:tc>
                  <a:txBody>
                    <a:bodyPr/>
                    <a:lstStyle/>
                    <a:p>
                      <a:r>
                        <a:rPr sz="1200"/>
                        <a:t>68.0</a:t>
                      </a:r>
                    </a:p>
                  </a:txBody>
                  <a:tcPr/>
                </a:tc>
              </a:tr>
            </a:tbl>
          </a:graphicData>
        </a:graphic>
      </p:graphicFrame>
      <p:sp>
        <p:nvSpPr>
          <p:cNvPr id="113" name="TextBox 112"/>
          <p:cNvSpPr txBox="1"/>
          <p:nvPr/>
        </p:nvSpPr>
        <p:spPr>
          <a:xfrm>
            <a:off x="512064" y="1783080"/>
            <a:ext cx="11173968" cy="320040"/>
          </a:xfrm>
          <a:prstGeom prst="rect">
            <a:avLst/>
          </a:prstGeom>
          <a:noFill/>
        </p:spPr>
        <p:txBody>
          <a:bodyPr wrap="square">
            <a:spAutoFit/>
          </a:bodyPr>
          <a:lstStyle/>
          <a:p>
            <a:pPr algn="l"/>
            <a:r>
              <a:rPr sz="1200" i="1">
                <a:solidFill>
                  <a:srgbClr val="8A8A8A"/>
                </a:solidFill>
              </a:rPr>
              <a:t>Table 4. Per-stage latency (ms) measured live — mean and P95 from perf_blm_20260417_134210.jsonl.</a:t>
            </a:r>
          </a:p>
        </p:txBody>
      </p:sp>
    </p:spTree>
    <p:extLst>
      <p:ext uri="{BB962C8B-B14F-4D97-AF65-F5344CB8AC3E}">
        <p14:creationId xmlns:p14="http://schemas.microsoft.com/office/powerpoint/2010/main" val="928597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B47B634-81FA-4540-CC47-DAD39BDB980A}"/>
              </a:ext>
            </a:extLst>
          </p:cNvPr>
          <p:cNvSpPr>
            <a:spLocks noGrp="1"/>
          </p:cNvSpPr>
          <p:nvPr>
            <p:ph type="title"/>
          </p:nvPr>
        </p:nvSpPr>
        <p:spPr>
          <a:xfrm>
            <a:off x="508000" y="861060"/>
            <a:ext cx="11176000" cy="711200"/>
          </a:xfrm>
        </p:spPr>
        <p:txBody>
          <a:bodyPr wrap="square" lIns="76200" tIns="38100" rIns="76200" bIns="38100" anchor="ctr"/>
          <a:lstStyle/>
          <a:p>
            <a:pPr algn="l">
              <a:buNone/>
            </a:pPr>
            <a:r>
              <a:rPr lang="en-US" sz="3200" b="1" dirty="0">
                <a:solidFill>
                  <a:srgbClr val="1F1F1F"/>
                </a:solidFill>
                <a:latin typeface="Calibri"/>
              </a:rPr>
              <a:t>A4 · ECE Curriculum Mapping</a:t>
            </a:r>
          </a:p>
        </p:txBody>
      </p:sp>
      <p:sp>
        <p:nvSpPr>
          <p:cNvPr id="101" name="t101"/>
          <p:cNvSpPr txBox="1"/>
          <p:nvPr/>
        </p:nvSpPr>
        <p:spPr>
          <a:xfrm>
            <a:off x="457200" y="162343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Courses → concepts → evidence in the thesis.</a:t>
            </a:r>
          </a:p>
        </p:txBody>
      </p:sp>
      <p:sp>
        <p:nvSpPr>
          <p:cNvPr id="102" name="r102"/>
          <p:cNvSpPr/>
          <p:nvPr/>
        </p:nvSpPr>
        <p:spPr>
          <a:xfrm>
            <a:off x="508000" y="2159000"/>
            <a:ext cx="2540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159000"/>
            <a:ext cx="2336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Course</a:t>
            </a:r>
          </a:p>
        </p:txBody>
      </p:sp>
      <p:sp>
        <p:nvSpPr>
          <p:cNvPr id="104" name="r104"/>
          <p:cNvSpPr/>
          <p:nvPr/>
        </p:nvSpPr>
        <p:spPr>
          <a:xfrm>
            <a:off x="3048000" y="2159000"/>
            <a:ext cx="4318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3149600" y="2159000"/>
            <a:ext cx="4114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Concept used</a:t>
            </a:r>
          </a:p>
        </p:txBody>
      </p:sp>
      <p:sp>
        <p:nvSpPr>
          <p:cNvPr id="106" name="r106"/>
          <p:cNvSpPr/>
          <p:nvPr/>
        </p:nvSpPr>
        <p:spPr>
          <a:xfrm>
            <a:off x="7366000" y="2159000"/>
            <a:ext cx="4318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7467600" y="2159000"/>
            <a:ext cx="4114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Evidence in thesis</a:t>
            </a:r>
          </a:p>
        </p:txBody>
      </p:sp>
      <p:sp>
        <p:nvSpPr>
          <p:cNvPr id="108" name="r108"/>
          <p:cNvSpPr/>
          <p:nvPr/>
        </p:nvSpPr>
        <p:spPr>
          <a:xfrm>
            <a:off x="508000" y="26162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609600" y="26162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Signals &amp; Systems</a:t>
            </a:r>
          </a:p>
        </p:txBody>
      </p:sp>
      <p:sp>
        <p:nvSpPr>
          <p:cNvPr id="110" name="r110"/>
          <p:cNvSpPr/>
          <p:nvPr/>
        </p:nvSpPr>
        <p:spPr>
          <a:xfrm>
            <a:off x="3048000" y="26162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3149600" y="26162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Kalman filter, EMA, frequency domain</a:t>
            </a:r>
          </a:p>
        </p:txBody>
      </p:sp>
      <p:sp>
        <p:nvSpPr>
          <p:cNvPr id="112" name="r112"/>
          <p:cNvSpPr/>
          <p:nvPr/>
        </p:nvSpPr>
        <p:spPr>
          <a:xfrm>
            <a:off x="7366000" y="26162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7467600" y="26162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Per-joint CV Kalman; adaptive EMA tuning</a:t>
            </a:r>
          </a:p>
        </p:txBody>
      </p:sp>
      <p:sp>
        <p:nvSpPr>
          <p:cNvPr id="114" name="r114"/>
          <p:cNvSpPr/>
          <p:nvPr/>
        </p:nvSpPr>
        <p:spPr>
          <a:xfrm>
            <a:off x="508000" y="3327400"/>
            <a:ext cx="2540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09600" y="33274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 Systems</a:t>
            </a:r>
          </a:p>
        </p:txBody>
      </p:sp>
      <p:sp>
        <p:nvSpPr>
          <p:cNvPr id="116" name="r116"/>
          <p:cNvSpPr/>
          <p:nvPr/>
        </p:nvSpPr>
        <p:spPr>
          <a:xfrm>
            <a:off x="3048000" y="33274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3149600" y="33274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Closed-loop feedback, stability</a:t>
            </a:r>
          </a:p>
        </p:txBody>
      </p:sp>
      <p:sp>
        <p:nvSpPr>
          <p:cNvPr id="118" name="r118"/>
          <p:cNvSpPr/>
          <p:nvPr/>
        </p:nvSpPr>
        <p:spPr>
          <a:xfrm>
            <a:off x="7366000" y="33274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7467600" y="33274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Supervisor → FSM → motor loop; stop paths</a:t>
            </a:r>
          </a:p>
        </p:txBody>
      </p:sp>
      <p:sp>
        <p:nvSpPr>
          <p:cNvPr id="120" name="r120"/>
          <p:cNvSpPr/>
          <p:nvPr/>
        </p:nvSpPr>
        <p:spPr>
          <a:xfrm>
            <a:off x="508000" y="40386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609600" y="40386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Embedded Systems</a:t>
            </a:r>
          </a:p>
        </p:txBody>
      </p:sp>
      <p:sp>
        <p:nvSpPr>
          <p:cNvPr id="122" name="r122"/>
          <p:cNvSpPr/>
          <p:nvPr/>
        </p:nvSpPr>
        <p:spPr>
          <a:xfrm>
            <a:off x="3048000" y="40386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3149600" y="40386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RTOS-like cooperative FSM, UART</a:t>
            </a:r>
          </a:p>
        </p:txBody>
      </p:sp>
      <p:sp>
        <p:nvSpPr>
          <p:cNvPr id="124" name="r124"/>
          <p:cNvSpPr/>
          <p:nvPr/>
        </p:nvSpPr>
        <p:spPr>
          <a:xfrm>
            <a:off x="7366000" y="40386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7467600" y="40386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control_12_full.ino at 921,600 baud</a:t>
            </a:r>
          </a:p>
        </p:txBody>
      </p:sp>
      <p:sp>
        <p:nvSpPr>
          <p:cNvPr id="126" name="r126"/>
          <p:cNvSpPr/>
          <p:nvPr/>
        </p:nvSpPr>
        <p:spPr>
          <a:xfrm>
            <a:off x="508000" y="4749800"/>
            <a:ext cx="2540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47498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Computer Networks</a:t>
            </a:r>
          </a:p>
        </p:txBody>
      </p:sp>
      <p:sp>
        <p:nvSpPr>
          <p:cNvPr id="128" name="r128"/>
          <p:cNvSpPr/>
          <p:nvPr/>
        </p:nvSpPr>
        <p:spPr>
          <a:xfrm>
            <a:off x="3048000" y="47498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3149600" y="47498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UDP vs TCP, link-loss handling</a:t>
            </a:r>
          </a:p>
        </p:txBody>
      </p:sp>
      <p:sp>
        <p:nvSpPr>
          <p:cNvPr id="130" name="r130"/>
          <p:cNvSpPr/>
          <p:nvPr/>
        </p:nvSpPr>
        <p:spPr>
          <a:xfrm>
            <a:off x="7366000" y="47498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7467600" y="47498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UDP target broadcast + watchdog timeout</a:t>
            </a:r>
          </a:p>
        </p:txBody>
      </p:sp>
      <p:sp>
        <p:nvSpPr>
          <p:cNvPr id="132" name="r132"/>
          <p:cNvSpPr/>
          <p:nvPr/>
        </p:nvSpPr>
        <p:spPr>
          <a:xfrm>
            <a:off x="508000" y="54610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609600" y="54610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Engineering Ethics</a:t>
            </a:r>
          </a:p>
        </p:txBody>
      </p:sp>
      <p:sp>
        <p:nvSpPr>
          <p:cNvPr id="134" name="r134"/>
          <p:cNvSpPr/>
          <p:nvPr/>
        </p:nvSpPr>
        <p:spPr>
          <a:xfrm>
            <a:off x="3048000" y="54610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5" name="t135"/>
          <p:cNvSpPr txBox="1"/>
          <p:nvPr/>
        </p:nvSpPr>
        <p:spPr>
          <a:xfrm>
            <a:off x="3149600" y="54610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Risk, safety, responsible deployment</a:t>
            </a:r>
          </a:p>
        </p:txBody>
      </p:sp>
      <p:sp>
        <p:nvSpPr>
          <p:cNvPr id="136" name="r136"/>
          <p:cNvSpPr/>
          <p:nvPr/>
        </p:nvSpPr>
        <p:spPr>
          <a:xfrm>
            <a:off x="7366000" y="54610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7" name="t137"/>
          <p:cNvSpPr txBox="1"/>
          <p:nvPr/>
        </p:nvSpPr>
        <p:spPr>
          <a:xfrm>
            <a:off x="7467600" y="54610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ISO 12100 / 13849-1 / IEC 60204-1 alignment</a:t>
            </a:r>
          </a:p>
        </p:txBody>
      </p:sp>
      <p:sp>
        <p:nvSpPr>
          <p:cNvPr id="138" name="r13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39" name="t139"/>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i="1" dirty="0">
                <a:solidFill>
                  <a:srgbClr val="2A231F"/>
                </a:solidFill>
                <a:latin typeface="Arial"/>
              </a:rPr>
              <a:t>Use only if asked which courses prepared you for this.</a:t>
            </a:r>
          </a:p>
        </p:txBody>
      </p:sp>
      <p:sp>
        <p:nvSpPr>
          <p:cNvPr id="143" name="Rectangle 14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4" name="Rectangle 143"/>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45" name="Rectangle 144"/>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870A77FA-55AB-2C84-A9B7-85EE9BCEEE0F}"/>
              </a:ext>
            </a:extLst>
          </p:cNvPr>
          <p:cNvSpPr/>
          <p:nvPr/>
        </p:nvSpPr>
        <p:spPr>
          <a:xfrm>
            <a:off x="508000" y="1480406"/>
            <a:ext cx="4976496"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3125582066"/>
      </p:ext>
    </p:extLst>
  </p:cSld>
  <p:clrMapOvr>
    <a:masterClrMapping/>
  </p:clrMapOvr>
</p:sld>
</file>

<file path=ppt/theme/theme1.xml><?xml version="1.0" encoding="utf-8"?>
<a:theme xmlns:a="http://schemas.openxmlformats.org/drawingml/2006/main" name="Office Theme [1776860679598]">
  <a:themeElements>
    <a:clrScheme name="Office">
      <a:dk1>
        <a:srgbClr val="1F1F1F"/>
      </a:dk1>
      <a:lt1>
        <a:srgbClr val="FFFFFF"/>
      </a:lt1>
      <a:dk2>
        <a:srgbClr val="1F1F1F"/>
      </a:dk2>
      <a:lt2>
        <a:srgbClr val="F5F2ED"/>
      </a:lt2>
      <a:accent1>
        <a:srgbClr val="E88B40"/>
      </a:accent1>
      <a:accent2>
        <a:srgbClr val="8A8A8A"/>
      </a:accent2>
      <a:accent3>
        <a:srgbClr val="F5F2ED"/>
      </a:accent3>
      <a:accent4>
        <a:srgbClr val="E88B40"/>
      </a:accent4>
      <a:accent5>
        <a:srgbClr val="8A8A8A"/>
      </a:accent5>
      <a:accent6>
        <a:srgbClr val="1F1F1F"/>
      </a:accent6>
      <a:hlink>
        <a:srgbClr val="467886"/>
      </a:hlink>
      <a:folHlink>
        <a:srgbClr val="96607D"/>
      </a:folHlink>
    </a:clrScheme>
    <a:fontScheme name="Office">
      <a:majorFont>
        <a:latin typeface="Inter"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9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24FA760-3D64-4F25-90A9-3FE5D1EC8637}">
  <we:reference id="WA200010001" version="1.0.0.1" store="Omex" storeType="OMEX"/>
  <we:alternateReferences>
    <we:reference id="WA200010001" version="1.0.0.1" store="WA200010001" storeType="OMEX"/>
  </we:alternateReferences>
  <we:properties>
    <we:property name="claude.fileId" value="&quot;5920ec40-e389-470f-84dd-2198c41ad1f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199</TotalTime>
  <Words>3660</Words>
  <Application>Microsoft Office PowerPoint</Application>
  <PresentationFormat>Widescreen</PresentationFormat>
  <Paragraphs>358</Paragraphs>
  <Slides>19</Slides>
  <Notes>19</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Arial</vt:lpstr>
      <vt:lpstr>Calibri</vt:lpstr>
      <vt:lpstr>Consolas</vt:lpstr>
      <vt:lpstr>Inter</vt:lpstr>
      <vt:lpstr>Office Theme [1776860679598]</vt:lpstr>
      <vt:lpstr>Pose-Guided Predictive Ballistics with Multi-Camera 3D Tracking</vt:lpstr>
      <vt:lpstr>Motivation</vt:lpstr>
      <vt:lpstr>Problem Statement &amp; Objectives</vt:lpstr>
      <vt:lpstr>Background &amp; Related Work</vt:lpstr>
      <vt:lpstr>Proposed System — Engineering First</vt:lpstr>
      <vt:lpstr>Architecture &amp; Pipeline</vt:lpstr>
      <vt:lpstr>Hardware Implementation</vt:lpstr>
      <vt:lpstr>Software Implementation</vt:lpstr>
      <vt:lpstr>Calibration &amp; Geometry</vt:lpstr>
      <vt:lpstr>Methodology &amp; Experiments</vt:lpstr>
      <vt:lpstr>Key Results — Accuracy, Latency, Throughput</vt:lpstr>
      <vt:lpstr>Analysis &amp; Interpretation</vt:lpstr>
      <vt:lpstr>Limitations &amp; Challenges</vt:lpstr>
      <vt:lpstr>Conclusions &amp; Contributions</vt:lpstr>
      <vt:lpstr>Future Work + Ethics &amp; Standards</vt:lpstr>
      <vt:lpstr>A1 · Live Demo</vt:lpstr>
      <vt:lpstr>A2 · 10-Layer Safety Stack</vt:lpstr>
      <vt:lpstr>A3 · End-to-End Latency Budget</vt:lpstr>
      <vt:lpstr>A4 · ECE Curriculum Mapping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Dana Askar</dc:creator>
  <cp:lastModifiedBy>Dana Askar</cp:lastModifiedBy>
  <cp:revision>10</cp:revision>
  <dcterms:created xsi:type="dcterms:W3CDTF">2026-04-22T12:20:04Z</dcterms:created>
  <dcterms:modified xsi:type="dcterms:W3CDTF">2026-04-23T08:46:07Z</dcterms:modified>
</cp:coreProperties>
</file>