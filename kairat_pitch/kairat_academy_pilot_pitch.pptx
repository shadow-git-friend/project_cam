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4F4F2"/>
          </a:solidFill>
          <a:ln w="6350">
            <a:solidFill>
              <a:srgbClr val="F4F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ve_blm_aim_demo_po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999" y="0"/>
            <a:ext cx="56592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300000" y="0"/>
            <a:ext cx="432000" cy="6858000"/>
          </a:xfrm>
          <a:prstGeom prst="rect">
            <a:avLst/>
          </a:prstGeom>
          <a:solidFill>
            <a:srgbClr val="FFD300"/>
          </a:solidFill>
          <a:ln w="6350"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3999" y="331200"/>
            <a:ext cx="3024000" cy="1512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050" b="1">
                <a:solidFill>
                  <a:srgbClr val="606060"/>
                </a:solidFill>
                <a:latin typeface="Arial"/>
              </a:rPr>
              <a:t>PROJECT_CAM / PROXIBALL 3D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000" y="774000"/>
            <a:ext cx="5580000" cy="936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3400" b="1">
                <a:solidFill>
                  <a:srgbClr val="121212"/>
                </a:solidFill>
                <a:latin typeface="Arial"/>
              </a:rPr>
              <a:t>Проект для
Академии Кайрат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999" y="1962000"/>
            <a:ext cx="5112000" cy="737999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950" b="1">
                <a:solidFill>
                  <a:srgbClr val="1F1F1F"/>
                </a:solidFill>
                <a:latin typeface="Arial"/>
              </a:rPr>
              <a:t>Мы превращаем обычную тренировку в измеряемую, персональную и интерактивную.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4800" y="2887200"/>
            <a:ext cx="4752000" cy="288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450" b="0">
                <a:solidFill>
                  <a:srgbClr val="606060"/>
                </a:solidFill>
                <a:latin typeface="Arial"/>
              </a:rPr>
              <a:t>3D-поза игрока + умная подача мяча + безопасная роботизированная пушка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3999" y="3761999"/>
            <a:ext cx="1872000" cy="81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4799" y="3851999"/>
            <a:ext cx="1655999" cy="1512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950" b="1">
                <a:solidFill>
                  <a:srgbClr val="606060"/>
                </a:solidFill>
                <a:latin typeface="Arial"/>
              </a:rPr>
              <a:t>Цель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4799" y="4021199"/>
            <a:ext cx="1655999" cy="2592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2400" b="1">
                <a:solidFill>
                  <a:srgbClr val="FFD300"/>
                </a:solidFill>
                <a:latin typeface="Arial"/>
              </a:rPr>
              <a:t>3 мес.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799" y="4294799"/>
            <a:ext cx="1638000" cy="198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880" b="0">
                <a:solidFill>
                  <a:srgbClr val="606060"/>
                </a:solidFill>
                <a:latin typeface="Arial"/>
              </a:rPr>
              <a:t>пилот в академии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30000" y="3761999"/>
            <a:ext cx="1872000" cy="81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30800" y="3851999"/>
            <a:ext cx="1655999" cy="1512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950" b="1">
                <a:solidFill>
                  <a:srgbClr val="606060"/>
                </a:solidFill>
                <a:latin typeface="Arial"/>
              </a:rPr>
              <a:t>Фокус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0800" y="4021199"/>
            <a:ext cx="1655999" cy="2592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2000" b="1">
                <a:solidFill>
                  <a:srgbClr val="121212"/>
                </a:solidFill>
                <a:latin typeface="Arial"/>
              </a:rPr>
              <a:t>U-команды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0800" y="4294799"/>
            <a:ext cx="1638000" cy="198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880" b="0">
                <a:solidFill>
                  <a:srgbClr val="606060"/>
                </a:solidFill>
                <a:latin typeface="Arial"/>
              </a:rPr>
              <a:t>дети и юниоры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46000" y="3761999"/>
            <a:ext cx="1872000" cy="81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6800" y="3851999"/>
            <a:ext cx="1655999" cy="1512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950" b="1">
                <a:solidFill>
                  <a:srgbClr val="606060"/>
                </a:solidFill>
                <a:latin typeface="Arial"/>
              </a:rPr>
              <a:t>Формат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6800" y="4021199"/>
            <a:ext cx="1655999" cy="2592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2400" b="1">
                <a:solidFill>
                  <a:srgbClr val="121212"/>
                </a:solidFill>
                <a:latin typeface="Arial"/>
              </a:rPr>
              <a:t>1 арена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6800" y="4294799"/>
            <a:ext cx="1638000" cy="198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880" b="0">
                <a:solidFill>
                  <a:srgbClr val="606060"/>
                </a:solidFill>
                <a:latin typeface="Arial"/>
              </a:rPr>
              <a:t>установка + отчёты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999" y="5813999"/>
            <a:ext cx="4536000" cy="270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400" b="0">
                <a:solidFill>
                  <a:srgbClr val="121212"/>
                </a:solidFill>
                <a:latin typeface="Arial"/>
              </a:rPr>
              <a:t>Для тренера: понятная обратная связь по реакции, движению и точности без лабораторной инфраструктуры.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000" y="6570000"/>
            <a:ext cx="3600000" cy="125999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850" b="0">
                <a:solidFill>
                  <a:srgbClr val="606060"/>
                </a:solidFill>
                <a:latin typeface="Arial"/>
              </a:rPr>
              <a:t>Project_Cam × Kairat Academy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94000" y="6570000"/>
            <a:ext cx="288000" cy="125999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r"/>
            <a:r>
              <a:rPr sz="850" b="0">
                <a:solidFill>
                  <a:srgbClr val="60606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4F4F2"/>
          </a:solidFill>
          <a:ln w="6350">
            <a:solidFill>
              <a:srgbClr val="F4F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8000" y="259200"/>
            <a:ext cx="9180000" cy="413999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3100" b="1">
                <a:solidFill>
                  <a:srgbClr val="121212"/>
                </a:solidFill>
                <a:latin typeface="Arial"/>
              </a:rPr>
              <a:t>Что уже работает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02000"/>
            <a:ext cx="2124000" cy="43200"/>
          </a:xfrm>
          <a:prstGeom prst="rect">
            <a:avLst/>
          </a:prstGeom>
          <a:solidFill>
            <a:srgbClr val="FFD300"/>
          </a:solidFill>
          <a:ln w="6350"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8000" y="810000"/>
            <a:ext cx="9252000" cy="251999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250" b="0">
                <a:solidFill>
                  <a:srgbClr val="606060"/>
                </a:solidFill>
                <a:latin typeface="Arial"/>
              </a:rPr>
              <a:t>Показываем не идею, а живой прототип: человек, 3D-скелет, прицеливание и физическая пушка.</a:t>
            </a:r>
          </a:p>
        </p:txBody>
      </p:sp>
      <p:pic>
        <p:nvPicPr>
          <p:cNvPr id="6" name="live_blm_aim_dem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78000" y="1206000"/>
            <a:ext cx="6120000" cy="439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78000" y="5112000"/>
            <a:ext cx="486000" cy="342000"/>
          </a:xfrm>
          <a:prstGeom prst="roundRect">
            <a:avLst/>
          </a:prstGeom>
          <a:solidFill>
            <a:srgbClr val="121212"/>
          </a:solidFill>
          <a:ln w="635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Triangle 7"/>
          <p:cNvSpPr/>
          <p:nvPr/>
        </p:nvSpPr>
        <p:spPr>
          <a:xfrm>
            <a:off x="5929200" y="5187601"/>
            <a:ext cx="172800" cy="172800"/>
          </a:xfrm>
          <a:prstGeom prst="rtTriangle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6000" y="1324800"/>
            <a:ext cx="46800" cy="198000"/>
          </a:xfrm>
          <a:prstGeom prst="rect">
            <a:avLst/>
          </a:prstGeom>
          <a:solidFill>
            <a:srgbClr val="FFD300"/>
          </a:solidFill>
          <a:ln w="6350"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01999" y="1278000"/>
            <a:ext cx="4338001" cy="2952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520" b="0">
                <a:solidFill>
                  <a:srgbClr val="121212"/>
                </a:solidFill>
                <a:latin typeface="Arial"/>
              </a:rPr>
              <a:t>4 камеры строят 3D-положение игрока в реальном времени.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76000" y="1828800"/>
            <a:ext cx="46800" cy="198000"/>
          </a:xfrm>
          <a:prstGeom prst="rect">
            <a:avLst/>
          </a:prstGeom>
          <a:solidFill>
            <a:srgbClr val="FFD300"/>
          </a:solidFill>
          <a:ln w="6350"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01999" y="1782000"/>
            <a:ext cx="4338001" cy="2952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520" b="0">
                <a:solidFill>
                  <a:srgbClr val="121212"/>
                </a:solidFill>
                <a:latin typeface="Arial"/>
              </a:rPr>
              <a:t>Система выбирает сустав: колено, плечо, корпус или голову.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76000" y="2332800"/>
            <a:ext cx="46800" cy="198000"/>
          </a:xfrm>
          <a:prstGeom prst="rect">
            <a:avLst/>
          </a:prstGeom>
          <a:solidFill>
            <a:srgbClr val="FFD300"/>
          </a:solidFill>
          <a:ln w="6350"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01999" y="2286000"/>
            <a:ext cx="4338001" cy="2952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520" b="0">
                <a:solidFill>
                  <a:srgbClr val="121212"/>
                </a:solidFill>
                <a:latin typeface="Arial"/>
              </a:rPr>
              <a:t>BLM получает безопасную команду: угол, направление и скорость.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76000" y="2836800"/>
            <a:ext cx="46800" cy="198000"/>
          </a:xfrm>
          <a:prstGeom prst="rect">
            <a:avLst/>
          </a:prstGeom>
          <a:solidFill>
            <a:srgbClr val="FFD300"/>
          </a:solidFill>
          <a:ln w="6350"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01999" y="2790000"/>
            <a:ext cx="4338001" cy="2952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520" b="0">
                <a:solidFill>
                  <a:srgbClr val="121212"/>
                </a:solidFill>
                <a:latin typeface="Arial"/>
              </a:rPr>
              <a:t>Цикл reload → aim → shoot уже проверен на стенде.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93999" y="3311999"/>
            <a:ext cx="1872000" cy="81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4799" y="3401999"/>
            <a:ext cx="1655999" cy="1512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950" b="1">
                <a:solidFill>
                  <a:srgbClr val="606060"/>
                </a:solidFill>
                <a:latin typeface="Arial"/>
              </a:rPr>
              <a:t>Живой режим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4799" y="3571199"/>
            <a:ext cx="1655999" cy="2592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2400" b="1">
                <a:solidFill>
                  <a:srgbClr val="48AA56"/>
                </a:solidFill>
                <a:latin typeface="Arial"/>
              </a:rPr>
              <a:t>15 FPS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4799" y="3844799"/>
            <a:ext cx="1638000" cy="198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880" b="0">
                <a:solidFill>
                  <a:srgbClr val="606060"/>
                </a:solidFill>
                <a:latin typeface="Arial"/>
              </a:rPr>
              <a:t>реальная частота прототипа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0000" y="3311999"/>
            <a:ext cx="1872000" cy="81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10800" y="3401999"/>
            <a:ext cx="1655999" cy="1512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950" b="1">
                <a:solidFill>
                  <a:srgbClr val="606060"/>
                </a:solidFill>
                <a:latin typeface="Arial"/>
              </a:rPr>
              <a:t>Задержка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0800" y="3571199"/>
            <a:ext cx="1655999" cy="2592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2400" b="1">
                <a:solidFill>
                  <a:srgbClr val="48AA56"/>
                </a:solidFill>
                <a:latin typeface="Arial"/>
              </a:rPr>
              <a:t>~64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0800" y="3844799"/>
            <a:ext cx="1638000" cy="198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880" b="0">
                <a:solidFill>
                  <a:srgbClr val="606060"/>
                </a:solidFill>
                <a:latin typeface="Arial"/>
              </a:rPr>
              <a:t>средний live-loop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93999" y="4338000"/>
            <a:ext cx="1872000" cy="81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4799" y="4428000"/>
            <a:ext cx="1655999" cy="1512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950" b="1">
                <a:solidFill>
                  <a:srgbClr val="606060"/>
                </a:solidFill>
                <a:latin typeface="Arial"/>
              </a:rPr>
              <a:t>Безопасность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4799" y="4597200"/>
            <a:ext cx="1655999" cy="2592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2400" b="1">
                <a:solidFill>
                  <a:srgbClr val="48AA56"/>
                </a:solidFill>
                <a:latin typeface="Arial"/>
              </a:rPr>
              <a:t>S0–S4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4799" y="4870800"/>
            <a:ext cx="1638000" cy="198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880" b="0">
                <a:solidFill>
                  <a:srgbClr val="606060"/>
                </a:solidFill>
                <a:latin typeface="Arial"/>
              </a:rPr>
              <a:t>поэтапная проверка BLM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10000" y="4338000"/>
            <a:ext cx="1872000" cy="81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10800" y="4428000"/>
            <a:ext cx="1655999" cy="1512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950" b="1">
                <a:solidFill>
                  <a:srgbClr val="606060"/>
                </a:solidFill>
                <a:latin typeface="Arial"/>
              </a:rPr>
              <a:t>Управление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0800" y="4597200"/>
            <a:ext cx="1655999" cy="2592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2400" b="1">
                <a:solidFill>
                  <a:srgbClr val="48AA56"/>
                </a:solidFill>
                <a:latin typeface="Arial"/>
              </a:rPr>
              <a:t>3D→aim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10800" y="4870800"/>
            <a:ext cx="1638000" cy="198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880" b="0">
                <a:solidFill>
                  <a:srgbClr val="606060"/>
                </a:solidFill>
                <a:latin typeface="Arial"/>
              </a:rPr>
              <a:t>3D цель → команда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3999" y="5526000"/>
            <a:ext cx="4320000" cy="450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500" b="1">
                <a:solidFill>
                  <a:srgbClr val="121212"/>
                </a:solidFill>
                <a:latin typeface="Arial"/>
              </a:rPr>
              <a:t>Главная мысль: прототип уже видит игрока, понимает цель и переводит её в действие машины.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8000" y="6570000"/>
            <a:ext cx="3600000" cy="125999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850" b="0">
                <a:solidFill>
                  <a:srgbClr val="606060"/>
                </a:solidFill>
                <a:latin typeface="Arial"/>
              </a:rPr>
              <a:t>Project_Cam × Kairat Academy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94000" y="6570000"/>
            <a:ext cx="288000" cy="125999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r"/>
            <a:r>
              <a:rPr sz="850" b="0">
                <a:solidFill>
                  <a:srgbClr val="60606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4F4F2"/>
          </a:solidFill>
          <a:ln w="6350">
            <a:solidFill>
              <a:srgbClr val="F4F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8000" y="259200"/>
            <a:ext cx="9180000" cy="413999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3100" b="1">
                <a:solidFill>
                  <a:srgbClr val="121212"/>
                </a:solidFill>
                <a:latin typeface="Arial"/>
              </a:rPr>
              <a:t>Как это помогает тренеру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02000"/>
            <a:ext cx="2124000" cy="43200"/>
          </a:xfrm>
          <a:prstGeom prst="rect">
            <a:avLst/>
          </a:prstGeom>
          <a:solidFill>
            <a:srgbClr val="FFD300"/>
          </a:solidFill>
          <a:ln w="6350"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8000" y="810000"/>
            <a:ext cx="9252000" cy="251999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250" b="0">
                <a:solidFill>
                  <a:srgbClr val="606060"/>
                </a:solidFill>
                <a:latin typeface="Arial"/>
              </a:rPr>
              <a:t>Система не заменяет тренера. Она даёт измерения, которые тренер обычно видит только субъективно.</a:t>
            </a:r>
          </a:p>
        </p:txBody>
      </p:sp>
      <p:pic>
        <p:nvPicPr>
          <p:cNvPr id="6" name="arena_3d_skelet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78000" y="1206000"/>
            <a:ext cx="4806000" cy="4518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464000" y="5238000"/>
            <a:ext cx="486000" cy="342000"/>
          </a:xfrm>
          <a:prstGeom prst="roundRect">
            <a:avLst/>
          </a:prstGeom>
          <a:solidFill>
            <a:srgbClr val="121212"/>
          </a:solidFill>
          <a:ln w="635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Triangle 7"/>
          <p:cNvSpPr/>
          <p:nvPr/>
        </p:nvSpPr>
        <p:spPr>
          <a:xfrm>
            <a:off x="4615200" y="5313601"/>
            <a:ext cx="172800" cy="172800"/>
          </a:xfrm>
          <a:prstGeom prst="rtTriangle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90000" y="1278000"/>
            <a:ext cx="6048000" cy="84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70000" y="1393200"/>
            <a:ext cx="5544000" cy="1728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550" b="1">
                <a:solidFill>
                  <a:srgbClr val="121212"/>
                </a:solidFill>
                <a:latin typeface="Arial"/>
              </a:rPr>
              <a:t>Тест реакции вратаря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70000" y="1612800"/>
            <a:ext cx="5472000" cy="34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220" b="0">
                <a:solidFill>
                  <a:srgbClr val="606060"/>
                </a:solidFill>
                <a:latin typeface="Arial"/>
              </a:rPr>
              <a:t>Пушка подаёт в зону, система считает время реакции и движение центра тела.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90000" y="2268000"/>
            <a:ext cx="6048000" cy="84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70000" y="2383200"/>
            <a:ext cx="5544000" cy="1728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550" b="1">
                <a:solidFill>
                  <a:srgbClr val="121212"/>
                </a:solidFill>
                <a:latin typeface="Arial"/>
              </a:rPr>
              <a:t>Адресные упражнения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70000" y="2602800"/>
            <a:ext cx="5472000" cy="34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220" b="0">
                <a:solidFill>
                  <a:srgbClr val="606060"/>
                </a:solidFill>
                <a:latin typeface="Arial"/>
              </a:rPr>
              <a:t>Можно тренировать приём, уход, блок и координацию через конкретные зоны тела.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90000" y="3258000"/>
            <a:ext cx="6048000" cy="84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70000" y="3373200"/>
            <a:ext cx="5544000" cy="1728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550" b="1">
                <a:solidFill>
                  <a:srgbClr val="121212"/>
                </a:solidFill>
                <a:latin typeface="Arial"/>
              </a:rPr>
              <a:t>Оценка движения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70000" y="3592800"/>
            <a:ext cx="5472000" cy="34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220" b="0">
                <a:solidFill>
                  <a:srgbClr val="606060"/>
                </a:solidFill>
                <a:latin typeface="Arial"/>
              </a:rPr>
              <a:t>3D-скелет помогает увидеть асимметрию, колено, корпус и качество повторов.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90000" y="4248000"/>
            <a:ext cx="6048000" cy="84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70000" y="4363200"/>
            <a:ext cx="5544000" cy="1728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550" b="1">
                <a:solidFill>
                  <a:srgbClr val="121212"/>
                </a:solidFill>
                <a:latin typeface="Arial"/>
              </a:rPr>
              <a:t>Отчёт после сессии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70000" y="4582800"/>
            <a:ext cx="5472000" cy="34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220" b="0">
                <a:solidFill>
                  <a:srgbClr val="606060"/>
                </a:solidFill>
                <a:latin typeface="Arial"/>
              </a:rPr>
              <a:t>Тренер и физиотерапевт получают понятный файл: что улучшать и что повторить.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6000" y="5526000"/>
            <a:ext cx="5688000" cy="360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450" b="1">
                <a:solidFill>
                  <a:srgbClr val="121212"/>
                </a:solidFill>
                <a:latin typeface="Arial"/>
              </a:rPr>
              <a:t>Для академии это масштабируемый формат: один короткий тест можно повторять для десятков игроков и сравнивать прогресс.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000" y="6570000"/>
            <a:ext cx="3600000" cy="125999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850" b="0">
                <a:solidFill>
                  <a:srgbClr val="606060"/>
                </a:solidFill>
                <a:latin typeface="Arial"/>
              </a:rPr>
              <a:t>Project_Cam × Kairat Academy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94000" y="6570000"/>
            <a:ext cx="288000" cy="125999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r"/>
            <a:r>
              <a:rPr sz="850" b="0">
                <a:solidFill>
                  <a:srgbClr val="60606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4F4F2"/>
          </a:solidFill>
          <a:ln w="6350">
            <a:solidFill>
              <a:srgbClr val="F4F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8000" y="259200"/>
            <a:ext cx="9180000" cy="413999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3100" b="1">
                <a:solidFill>
                  <a:srgbClr val="121212"/>
                </a:solidFill>
                <a:latin typeface="Arial"/>
              </a:rPr>
              <a:t>Почему это отличается от обычной пушки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02000"/>
            <a:ext cx="2124000" cy="43200"/>
          </a:xfrm>
          <a:prstGeom prst="rect">
            <a:avLst/>
          </a:prstGeom>
          <a:solidFill>
            <a:srgbClr val="FFD300"/>
          </a:solidFill>
          <a:ln w="6350"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8000" y="810000"/>
            <a:ext cx="9252000" cy="251999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250" b="0">
                <a:solidFill>
                  <a:srgbClr val="606060"/>
                </a:solidFill>
                <a:latin typeface="Arial"/>
              </a:rPr>
              <a:t>Ценность не в механике отдельно, а в связке: измерение игрока → адаптивная подача → отчёт для тренера.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378000" y="1260000"/>
            <a:ext cx="2592000" cy="360000"/>
          </a:xfrm>
          <a:prstGeom prst="rect">
            <a:avLst/>
          </a:prstGeom>
          <a:solidFill>
            <a:srgbClr val="121212"/>
          </a:solidFill>
          <a:ln w="635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000" y="1339200"/>
            <a:ext cx="2412000" cy="180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Подход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0000" y="1260000"/>
            <a:ext cx="4212000" cy="360000"/>
          </a:xfrm>
          <a:prstGeom prst="rect">
            <a:avLst/>
          </a:prstGeom>
          <a:solidFill>
            <a:srgbClr val="1F1F1F"/>
          </a:solidFill>
          <a:ln w="635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0000" y="1339200"/>
            <a:ext cx="4032000" cy="180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Что умеет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82000" y="1260000"/>
            <a:ext cx="4212000" cy="360000"/>
          </a:xfrm>
          <a:prstGeom prst="rect">
            <a:avLst/>
          </a:prstGeom>
          <a:solidFill>
            <a:srgbClr val="1F1F1F"/>
          </a:solidFill>
          <a:ln w="635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72000" y="1339200"/>
            <a:ext cx="4032000" cy="180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Ограничение / преимущество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8000" y="1620000"/>
            <a:ext cx="2592000" cy="774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000" y="1745999"/>
            <a:ext cx="2412000" cy="468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370" b="1">
                <a:solidFill>
                  <a:srgbClr val="121212"/>
                </a:solidFill>
                <a:latin typeface="Arial"/>
              </a:rPr>
              <a:t>Обычная пушка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0000" y="1620000"/>
            <a:ext cx="4212000" cy="774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0000" y="1745999"/>
            <a:ext cx="4032000" cy="468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320" b="0">
                <a:solidFill>
                  <a:srgbClr val="121212"/>
                </a:solidFill>
                <a:latin typeface="Arial"/>
              </a:rPr>
              <a:t>Повторяет один и тот же удар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82000" y="1620000"/>
            <a:ext cx="4212000" cy="774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72000" y="1745999"/>
            <a:ext cx="4032000" cy="468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320" b="0">
                <a:solidFill>
                  <a:srgbClr val="121212"/>
                </a:solidFill>
                <a:latin typeface="Arial"/>
              </a:rPr>
              <a:t>Дёшево, но не реагирует на игрока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8000" y="2394000"/>
            <a:ext cx="2592000" cy="774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000" y="2519999"/>
            <a:ext cx="2412000" cy="468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370" b="1">
                <a:solidFill>
                  <a:srgbClr val="121212"/>
                </a:solidFill>
                <a:latin typeface="Arial"/>
              </a:rPr>
              <a:t>Motion-capture лаборатория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70000" y="2394000"/>
            <a:ext cx="4212000" cy="774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0000" y="2519999"/>
            <a:ext cx="4032000" cy="468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320" b="0">
                <a:solidFill>
                  <a:srgbClr val="121212"/>
                </a:solidFill>
                <a:latin typeface="Arial"/>
              </a:rPr>
              <a:t>Очень точные измерения движения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82000" y="2394000"/>
            <a:ext cx="4212000" cy="774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72000" y="2519999"/>
            <a:ext cx="4032000" cy="468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320" b="0">
                <a:solidFill>
                  <a:srgbClr val="121212"/>
                </a:solidFill>
                <a:latin typeface="Arial"/>
              </a:rPr>
              <a:t>Дорого, маркеры, не подходит для ежедневной тренировки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8000" y="3168000"/>
            <a:ext cx="2592000" cy="774000"/>
          </a:xfrm>
          <a:prstGeom prst="rect">
            <a:avLst/>
          </a:prstGeom>
          <a:solidFill>
            <a:srgbClr val="FFF8D6"/>
          </a:solidFill>
          <a:ln w="6350"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000" y="3293999"/>
            <a:ext cx="2412000" cy="468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370" b="1">
                <a:solidFill>
                  <a:srgbClr val="121212"/>
                </a:solidFill>
                <a:latin typeface="Arial"/>
              </a:rPr>
              <a:t>Project_Cam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70000" y="3168000"/>
            <a:ext cx="4212000" cy="774000"/>
          </a:xfrm>
          <a:prstGeom prst="rect">
            <a:avLst/>
          </a:prstGeom>
          <a:solidFill>
            <a:srgbClr val="FFF8D6"/>
          </a:solidFill>
          <a:ln w="6350"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0000" y="3293999"/>
            <a:ext cx="4032000" cy="468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320" b="1">
                <a:solidFill>
                  <a:srgbClr val="121212"/>
                </a:solidFill>
                <a:latin typeface="Arial"/>
              </a:rPr>
              <a:t>3D-трекинг + физическая подача + безопасность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82000" y="3168000"/>
            <a:ext cx="4212000" cy="774000"/>
          </a:xfrm>
          <a:prstGeom prst="rect">
            <a:avLst/>
          </a:prstGeom>
          <a:solidFill>
            <a:srgbClr val="FFF8D6"/>
          </a:solidFill>
          <a:ln w="6350"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72000" y="3293999"/>
            <a:ext cx="4032000" cy="468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320" b="1">
                <a:solidFill>
                  <a:srgbClr val="121212"/>
                </a:solidFill>
                <a:latin typeface="Arial"/>
              </a:rPr>
              <a:t>Пилотируемая система для футбольной академии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8000" y="4230000"/>
            <a:ext cx="10800000" cy="251999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800" b="1">
                <a:solidFill>
                  <a:srgbClr val="121212"/>
                </a:solidFill>
                <a:latin typeface="Arial"/>
              </a:rPr>
              <a:t>Доказательная база прототипа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8000" y="4626000"/>
            <a:ext cx="1872000" cy="81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8800" y="4716000"/>
            <a:ext cx="1655999" cy="1512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950" b="1">
                <a:solidFill>
                  <a:srgbClr val="606060"/>
                </a:solidFill>
                <a:latin typeface="Arial"/>
              </a:rPr>
              <a:t>Мяч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8800" y="4885200"/>
            <a:ext cx="1655999" cy="2592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2400" b="1">
                <a:solidFill>
                  <a:srgbClr val="48AA56"/>
                </a:solidFill>
                <a:latin typeface="Arial"/>
              </a:rPr>
              <a:t>95.17 mm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800" y="5158800"/>
            <a:ext cx="1638000" cy="198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880" b="0">
                <a:solidFill>
                  <a:srgbClr val="606060"/>
                </a:solidFill>
                <a:latin typeface="Arial"/>
              </a:rPr>
              <a:t>средняя ошибка после коррекции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94000" y="4626000"/>
            <a:ext cx="1872000" cy="81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94800" y="4716000"/>
            <a:ext cx="1655999" cy="1512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950" b="1">
                <a:solidFill>
                  <a:srgbClr val="606060"/>
                </a:solidFill>
                <a:latin typeface="Arial"/>
              </a:rPr>
              <a:t>Суставы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94800" y="4885200"/>
            <a:ext cx="1655999" cy="2592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2000" b="1">
                <a:solidFill>
                  <a:srgbClr val="48AA56"/>
                </a:solidFill>
                <a:latin typeface="Arial"/>
              </a:rPr>
              <a:t>143.38 mm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94800" y="5158800"/>
            <a:ext cx="1638000" cy="198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880" b="0">
                <a:solidFill>
                  <a:srgbClr val="606060"/>
                </a:solidFill>
                <a:latin typeface="Arial"/>
              </a:rPr>
              <a:t>средняя ошибка joint-touch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10000" y="4626000"/>
            <a:ext cx="1872000" cy="81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10800" y="4716000"/>
            <a:ext cx="1655999" cy="1512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950" b="1">
                <a:solidFill>
                  <a:srgbClr val="606060"/>
                </a:solidFill>
                <a:latin typeface="Arial"/>
              </a:rPr>
              <a:t>Скорость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10800" y="4885200"/>
            <a:ext cx="1655999" cy="2592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2400" b="1">
                <a:solidFill>
                  <a:srgbClr val="48AA56"/>
                </a:solidFill>
                <a:latin typeface="Arial"/>
              </a:rPr>
              <a:t>15 FPS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10800" y="5158800"/>
            <a:ext cx="1638000" cy="198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880" b="0">
                <a:solidFill>
                  <a:srgbClr val="606060"/>
                </a:solidFill>
                <a:latin typeface="Arial"/>
              </a:rPr>
              <a:t>живой режим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26000" y="4626000"/>
            <a:ext cx="1872000" cy="81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26800" y="4716000"/>
            <a:ext cx="1655999" cy="1512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950" b="1">
                <a:solidFill>
                  <a:srgbClr val="606060"/>
                </a:solidFill>
                <a:latin typeface="Arial"/>
              </a:rPr>
              <a:t>Безопасность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6800" y="4885200"/>
            <a:ext cx="1655999" cy="2592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2400" b="1">
                <a:solidFill>
                  <a:srgbClr val="48AA56"/>
                </a:solidFill>
                <a:latin typeface="Arial"/>
              </a:rPr>
              <a:t>10 слоёв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6800" y="5158800"/>
            <a:ext cx="1638000" cy="198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880" b="0">
                <a:solidFill>
                  <a:srgbClr val="606060"/>
                </a:solidFill>
                <a:latin typeface="Arial"/>
              </a:rPr>
              <a:t>ПО + прошивка + оператор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42000" y="4626000"/>
            <a:ext cx="1872000" cy="81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42800" y="4716000"/>
            <a:ext cx="1655999" cy="1512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950" b="1">
                <a:solidFill>
                  <a:srgbClr val="606060"/>
                </a:solidFill>
                <a:latin typeface="Arial"/>
              </a:rPr>
              <a:t>Демо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42800" y="4885200"/>
            <a:ext cx="1655999" cy="2592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2400" b="1">
                <a:solidFill>
                  <a:srgbClr val="48AA56"/>
                </a:solidFill>
                <a:latin typeface="Arial"/>
              </a:rPr>
              <a:t>видео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2800" y="5158800"/>
            <a:ext cx="1638000" cy="198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880" b="0">
                <a:solidFill>
                  <a:srgbClr val="606060"/>
                </a:solidFill>
                <a:latin typeface="Arial"/>
              </a:rPr>
              <a:t>реальное железо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8000" y="6570000"/>
            <a:ext cx="3600000" cy="125999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850" b="0">
                <a:solidFill>
                  <a:srgbClr val="606060"/>
                </a:solidFill>
                <a:latin typeface="Arial"/>
              </a:rPr>
              <a:t>Project_Cam × Kairat Academy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94000" y="6570000"/>
            <a:ext cx="288000" cy="125999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r"/>
            <a:r>
              <a:rPr sz="850" b="0">
                <a:solidFill>
                  <a:srgbClr val="60606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4F4F2"/>
          </a:solidFill>
          <a:ln w="6350">
            <a:solidFill>
              <a:srgbClr val="F4F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8000" y="259200"/>
            <a:ext cx="9180000" cy="413999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3100" b="1">
                <a:solidFill>
                  <a:srgbClr val="121212"/>
                </a:solidFill>
                <a:latin typeface="Arial"/>
              </a:rPr>
              <a:t>Пилот с Кайратом: что нужно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02000"/>
            <a:ext cx="2124000" cy="43200"/>
          </a:xfrm>
          <a:prstGeom prst="rect">
            <a:avLst/>
          </a:prstGeom>
          <a:solidFill>
            <a:srgbClr val="FFD300"/>
          </a:solidFill>
          <a:ln w="6350"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8000" y="810000"/>
            <a:ext cx="9252000" cy="251999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250" b="0">
                <a:solidFill>
                  <a:srgbClr val="606060"/>
                </a:solidFill>
                <a:latin typeface="Arial"/>
              </a:rPr>
              <a:t>Предложение: 3-месячный пилот, чтобы проверить систему на реальных тренировочных сценариях академии.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8000" y="1206000"/>
            <a:ext cx="4932000" cy="4068000"/>
          </a:xfrm>
          <a:prstGeom prst="roundRect">
            <a:avLst/>
          </a:prstGeom>
          <a:solidFill>
            <a:srgbClr val="121212"/>
          </a:solidFill>
          <a:ln w="635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000" y="1458000"/>
            <a:ext cx="4284000" cy="234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400" b="1">
                <a:solidFill>
                  <a:srgbClr val="FFD300"/>
                </a:solidFill>
                <a:latin typeface="Arial"/>
              </a:rPr>
              <a:t>Инвестиционный запрос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000" y="1818000"/>
            <a:ext cx="4140000" cy="70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rial"/>
              </a:rPr>
              <a:t>3-месячный
пилот академии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" y="2682000"/>
            <a:ext cx="4176000" cy="450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280" b="0">
                <a:solidFill>
                  <a:srgbClr val="FFFFFF"/>
                </a:solidFill>
                <a:latin typeface="Arial"/>
              </a:rPr>
              <a:t>Первый конкретный пункт: апгрейд камер и синхронизации для стабильной работы на скорости.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000" y="3330000"/>
            <a:ext cx="4176000" cy="2232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850" b="1">
                <a:solidFill>
                  <a:srgbClr val="FFD300"/>
                </a:solidFill>
                <a:latin typeface="Arial"/>
              </a:rPr>
              <a:t>~1.84 млн KZT на оборудование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" y="3643199"/>
            <a:ext cx="4068000" cy="378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rial"/>
              </a:rPr>
              <a:t>6 global-shutter камер, 60 FPS, hardware trigger, GigE, объективы, NVMe и синхронизация.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00" y="4410000"/>
            <a:ext cx="4212000" cy="450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230" b="1">
                <a:solidFill>
                  <a:srgbClr val="FFD300"/>
                </a:solidFill>
                <a:latin typeface="Arial"/>
              </a:rPr>
              <a:t>Это не «починка прототипа», а переход от лабораторного proof-of-concept к надёжности академического масштаба.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000" y="1278000"/>
            <a:ext cx="5616000" cy="90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58000" y="1414800"/>
            <a:ext cx="1224000" cy="180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550" b="1">
                <a:solidFill>
                  <a:srgbClr val="121212"/>
                </a:solidFill>
                <a:latin typeface="Arial"/>
              </a:rPr>
              <a:t>Месяц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53999" y="1403999"/>
            <a:ext cx="43200" cy="594000"/>
          </a:xfrm>
          <a:prstGeom prst="rect">
            <a:avLst/>
          </a:prstGeom>
          <a:solidFill>
            <a:srgbClr val="FFD300"/>
          </a:solidFill>
          <a:ln w="6350"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98000" y="1403999"/>
            <a:ext cx="3564000" cy="396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Arial"/>
              </a:rPr>
              <a:t>установка, калибровка, safety check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000" y="2340000"/>
            <a:ext cx="5616000" cy="90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8000" y="2476800"/>
            <a:ext cx="1224000" cy="180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550" b="1">
                <a:solidFill>
                  <a:srgbClr val="121212"/>
                </a:solidFill>
                <a:latin typeface="Arial"/>
              </a:rPr>
              <a:t>Месяц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53999" y="2465999"/>
            <a:ext cx="43200" cy="594000"/>
          </a:xfrm>
          <a:prstGeom prst="rect">
            <a:avLst/>
          </a:prstGeom>
          <a:solidFill>
            <a:srgbClr val="FFD300"/>
          </a:solidFill>
          <a:ln w="6350"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98000" y="2465999"/>
            <a:ext cx="3564000" cy="396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Arial"/>
              </a:rPr>
              <a:t>тренерские сессии: реакция, зоны, отчёты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000" y="3402000"/>
            <a:ext cx="5616000" cy="90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58000" y="3538800"/>
            <a:ext cx="1224000" cy="180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550" b="1">
                <a:solidFill>
                  <a:srgbClr val="121212"/>
                </a:solidFill>
                <a:latin typeface="Arial"/>
              </a:rPr>
              <a:t>Месяц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53999" y="3527999"/>
            <a:ext cx="43200" cy="594000"/>
          </a:xfrm>
          <a:prstGeom prst="rect">
            <a:avLst/>
          </a:prstGeom>
          <a:solidFill>
            <a:srgbClr val="FFD300"/>
          </a:solidFill>
          <a:ln w="6350"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98000" y="3527999"/>
            <a:ext cx="3564000" cy="396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Arial"/>
              </a:rPr>
              <a:t>итоговый отчёт и решение о внедрении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000" y="4626000"/>
            <a:ext cx="5616000" cy="954000"/>
          </a:xfrm>
          <a:prstGeom prst="roundRect">
            <a:avLst/>
          </a:prstGeom>
          <a:solidFill>
            <a:srgbClr val="FFF8D6"/>
          </a:solidFill>
          <a:ln w="6350">
            <a:solidFill>
              <a:srgbClr val="E2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58000" y="4770000"/>
            <a:ext cx="5112000" cy="198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600" b="1">
                <a:solidFill>
                  <a:srgbClr val="121212"/>
                </a:solidFill>
                <a:latin typeface="Arial"/>
              </a:rPr>
              <a:t>Что получает Кайрат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58000" y="5040000"/>
            <a:ext cx="5076000" cy="34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350" b="0">
                <a:solidFill>
                  <a:srgbClr val="1F1F1F"/>
                </a:solidFill>
                <a:latin typeface="Arial"/>
              </a:rPr>
              <a:t>пилотную спортивную технологию, данные по игрокам, видео-доказательство и понятный план масштабирования.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000" y="5976000"/>
            <a:ext cx="5184000" cy="251999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050" b="0">
                <a:solidFill>
                  <a:srgbClr val="606060"/>
                </a:solidFill>
                <a:latin typeface="Arial"/>
              </a:rPr>
              <a:t>Источник масштаба: официальный сайт ФК «Кайрат» указывает 1000+ воспитанников и 50+ специалистов академии.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8000" y="6570000"/>
            <a:ext cx="3600000" cy="125999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850" b="0">
                <a:solidFill>
                  <a:srgbClr val="606060"/>
                </a:solidFill>
                <a:latin typeface="Arial"/>
              </a:rPr>
              <a:t>Project_Cam × Kairat Academy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94000" y="6570000"/>
            <a:ext cx="288000" cy="125999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r"/>
            <a:r>
              <a:rPr sz="850" b="0">
                <a:solidFill>
                  <a:srgbClr val="60606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