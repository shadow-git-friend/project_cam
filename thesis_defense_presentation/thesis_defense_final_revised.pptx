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301" r:id="rId2"/>
    <p:sldId id="262" r:id="rId3"/>
    <p:sldId id="280" r:id="rId4"/>
    <p:sldId id="281" r:id="rId5"/>
    <p:sldId id="311" r:id="rId6"/>
    <p:sldId id="302" r:id="rId7"/>
    <p:sldId id="303" r:id="rId8"/>
    <p:sldId id="304" r:id="rId9"/>
    <p:sldId id="285" r:id="rId10"/>
    <p:sldId id="305" r:id="rId11"/>
    <p:sldId id="306" r:id="rId12"/>
    <p:sldId id="288" r:id="rId13"/>
    <p:sldId id="307" r:id="rId14"/>
    <p:sldId id="309" r:id="rId15"/>
    <p:sldId id="310" r:id="rId16"/>
    <p:sldId id="297" r:id="rId17"/>
    <p:sldId id="298" r:id="rId18"/>
    <p:sldId id="299" r:id="rId19"/>
    <p:sldId id="300" r:id="rId20"/>
    <p:sldId id="314" r:id="rId21"/>
    <p:sldId id="315" r:id="rId22"/>
    <p:sldId id="316" r:id="rId23"/>
    <p:sldId id="317" r:id="rId2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57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536" autoAdjust="0"/>
  </p:normalViewPr>
  <p:slideViewPr>
    <p:cSldViewPr snapToGrid="0">
      <p:cViewPr>
        <p:scale>
          <a:sx n="75" d="100"/>
          <a:sy n="75" d="100"/>
        </p:scale>
        <p:origin x="946" y="-110"/>
      </p:cViewPr>
      <p:guideLst/>
    </p:cSldViewPr>
  </p:slideViewPr>
  <p:notesTextViewPr>
    <p:cViewPr>
      <p:scale>
        <a:sx n="1" d="1"/>
        <a:sy n="1" d="1"/>
      </p:scale>
      <p:origin x="0" y="-379"/>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s>
</file>

<file path=ppt/diagrams/_rels/data3.xml.rels><?xml version='1.0' encoding='UTF-8' standalone='yes'?>
<Relationships xmlns="http://schemas.openxmlformats.org/package/2006/relationships"><Relationship Id="rId1" Type="http://schemas.openxmlformats.org/officeDocument/2006/relationships/image" Target="../media/image17.svg"/><Relationship Id="rId2" Type="http://schemas.openxmlformats.org/officeDocument/2006/relationships/image" Target="../media/image18.svg"/><Relationship Id="rId3" Type="http://schemas.openxmlformats.org/officeDocument/2006/relationships/image" Target="../media/image19.svg"/><Relationship Id="rId4" Type="http://schemas.openxmlformats.org/officeDocument/2006/relationships/image" Target="../media/image20.svg"/><Relationship Id="rId5" Type="http://schemas.openxmlformats.org/officeDocument/2006/relationships/image" Target="../media/image21.svg"/></Relationships>
</file>

<file path=ppt/diagrams/_rels/drawing3.xml.rels><?xml version='1.0' encoding='UTF-8' standalone='yes'?>
<Relationships xmlns="http://schemas.openxmlformats.org/package/2006/relationships"><Relationship Id="rId1" Type="http://schemas.openxmlformats.org/officeDocument/2006/relationships/image" Target="../media/image17.svg"/><Relationship Id="rId2" Type="http://schemas.openxmlformats.org/officeDocument/2006/relationships/image" Target="../media/image18.svg"/><Relationship Id="rId3" Type="http://schemas.openxmlformats.org/officeDocument/2006/relationships/image" Target="../media/image19.svg"/><Relationship Id="rId4" Type="http://schemas.openxmlformats.org/officeDocument/2006/relationships/image" Target="../media/image20.svg"/><Relationship Id="rId5"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91F381-1BEC-44C9-802F-F6C32D6F5BE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82AF866-105B-4B75-9911-C1BE08BB98DD}">
      <dgm:prSet/>
      <dgm:spPr/>
      <dgm:t>
        <a:bodyPr/>
        <a:lstStyle/>
        <a:p>
          <a:r>
            <a:rPr lang="en-US" dirty="0"/>
            <a:t>Inherited platform:</a:t>
          </a:r>
          <a:br>
            <a:rPr lang="en-US" dirty="0"/>
          </a:br>
          <a:r>
            <a:rPr lang="en-US" dirty="0"/>
            <a:t>2-DOF BLM, flywheels, ESP32, pan/tilt</a:t>
          </a:r>
        </a:p>
      </dgm:t>
    </dgm:pt>
    <dgm:pt modelId="{38D5F7EB-B92B-46B7-ADF1-F65AF42C1C9B}" type="parTrans" cxnId="{E4EABCD0-4A25-490B-9B3A-83408AEA6A3E}">
      <dgm:prSet/>
      <dgm:spPr/>
      <dgm:t>
        <a:bodyPr/>
        <a:lstStyle/>
        <a:p>
          <a:endParaRPr lang="en-US"/>
        </a:p>
      </dgm:t>
    </dgm:pt>
    <dgm:pt modelId="{4652E74C-D138-466A-9827-3FE24D6C7D3F}" type="sibTrans" cxnId="{E4EABCD0-4A25-490B-9B3A-83408AEA6A3E}">
      <dgm:prSet/>
      <dgm:spPr/>
      <dgm:t>
        <a:bodyPr/>
        <a:lstStyle/>
        <a:p>
          <a:endParaRPr lang="en-US"/>
        </a:p>
      </dgm:t>
    </dgm:pt>
    <dgm:pt modelId="{18E5211F-4F3C-4607-A999-D8FC9B3CF931}">
      <dgm:prSet/>
      <dgm:spPr/>
      <dgm:t>
        <a:bodyPr/>
        <a:lstStyle/>
        <a:p>
          <a:r>
            <a:rPr lang="en-US" b="1" dirty="0"/>
            <a:t>Thesis contribution:</a:t>
          </a:r>
          <a:br>
            <a:rPr lang="en-US" dirty="0"/>
          </a:br>
          <a:r>
            <a:rPr lang="en-US" dirty="0"/>
            <a:t>4-camera perception, 3D triangulation, targeting</a:t>
          </a:r>
        </a:p>
      </dgm:t>
    </dgm:pt>
    <dgm:pt modelId="{E395C71F-22A0-4FC6-AB57-D946FD4BC4F6}" type="parTrans" cxnId="{BB7C11C4-997F-47B6-A3D8-5D02A6FE8330}">
      <dgm:prSet/>
      <dgm:spPr/>
      <dgm:t>
        <a:bodyPr/>
        <a:lstStyle/>
        <a:p>
          <a:endParaRPr lang="en-US"/>
        </a:p>
      </dgm:t>
    </dgm:pt>
    <dgm:pt modelId="{13244B90-8CA4-48DF-A961-F2E0C4826FF6}" type="sibTrans" cxnId="{BB7C11C4-997F-47B6-A3D8-5D02A6FE8330}">
      <dgm:prSet/>
      <dgm:spPr/>
      <dgm:t>
        <a:bodyPr/>
        <a:lstStyle/>
        <a:p>
          <a:endParaRPr lang="en-US"/>
        </a:p>
      </dgm:t>
    </dgm:pt>
    <dgm:pt modelId="{41ABF383-7B8A-4C90-BF4D-13BB3F1E37F9}">
      <dgm:prSet/>
      <dgm:spPr/>
      <dgm:t>
        <a:bodyPr/>
        <a:lstStyle/>
        <a:p>
          <a:r>
            <a:rPr lang="en-US" b="1" dirty="0"/>
            <a:t>Core integration:</a:t>
          </a:r>
          <a:br>
            <a:rPr lang="en-US" dirty="0"/>
          </a:br>
          <a:r>
            <a:rPr lang="en-US" dirty="0"/>
            <a:t>pose → prediction → ballistics → safety gate</a:t>
          </a:r>
        </a:p>
      </dgm:t>
    </dgm:pt>
    <dgm:pt modelId="{7BF876C3-37CA-46E8-815A-AFDCE936083D}" type="parTrans" cxnId="{C1014430-0EFB-468D-B1A5-7D812A09D6A2}">
      <dgm:prSet/>
      <dgm:spPr/>
      <dgm:t>
        <a:bodyPr/>
        <a:lstStyle/>
        <a:p>
          <a:endParaRPr lang="en-US"/>
        </a:p>
      </dgm:t>
    </dgm:pt>
    <dgm:pt modelId="{EC188E65-E45B-46EC-8D90-043242EDA0F2}" type="sibTrans" cxnId="{C1014430-0EFB-468D-B1A5-7D812A09D6A2}">
      <dgm:prSet/>
      <dgm:spPr/>
      <dgm:t>
        <a:bodyPr/>
        <a:lstStyle/>
        <a:p>
          <a:endParaRPr lang="en-US"/>
        </a:p>
      </dgm:t>
    </dgm:pt>
    <dgm:pt modelId="{B4B54CDD-9E17-4306-A3E0-2600939F7CF0}">
      <dgm:prSet/>
      <dgm:spPr/>
      <dgm:t>
        <a:bodyPr/>
        <a:lstStyle/>
        <a:p>
          <a:r>
            <a:rPr lang="en-US" b="1" dirty="0"/>
            <a:t>Validated scope:</a:t>
          </a:r>
          <a:br>
            <a:rPr lang="en-US" dirty="0"/>
          </a:br>
          <a:r>
            <a:rPr lang="en-US" dirty="0"/>
            <a:t>static/live-aim tests; moving-target firing pending</a:t>
          </a:r>
        </a:p>
      </dgm:t>
    </dgm:pt>
    <dgm:pt modelId="{E1F8BD44-6C22-4D2B-8609-FCF586D53A2C}" type="parTrans" cxnId="{1F9C15D2-9F55-437B-B30B-B2949A6BC448}">
      <dgm:prSet/>
      <dgm:spPr/>
      <dgm:t>
        <a:bodyPr/>
        <a:lstStyle/>
        <a:p>
          <a:endParaRPr lang="en-US"/>
        </a:p>
      </dgm:t>
    </dgm:pt>
    <dgm:pt modelId="{FC2EDE68-AF01-4DE4-A21B-F4DBD48A302E}" type="sibTrans" cxnId="{1F9C15D2-9F55-437B-B30B-B2949A6BC448}">
      <dgm:prSet/>
      <dgm:spPr/>
      <dgm:t>
        <a:bodyPr/>
        <a:lstStyle/>
        <a:p>
          <a:endParaRPr lang="en-US"/>
        </a:p>
      </dgm:t>
    </dgm:pt>
    <dgm:pt modelId="{D0F39B36-0C14-4207-93FB-25657E71FE2F}" type="pres">
      <dgm:prSet presAssocID="{2891F381-1BEC-44C9-802F-F6C32D6F5BE5}" presName="linear" presStyleCnt="0">
        <dgm:presLayoutVars>
          <dgm:animLvl val="lvl"/>
          <dgm:resizeHandles val="exact"/>
        </dgm:presLayoutVars>
      </dgm:prSet>
      <dgm:spPr/>
    </dgm:pt>
    <dgm:pt modelId="{8D941246-42E7-42B0-9DAA-9738ED811F41}" type="pres">
      <dgm:prSet presAssocID="{A82AF866-105B-4B75-9911-C1BE08BB98DD}" presName="parentText" presStyleLbl="node1" presStyleIdx="0" presStyleCnt="4">
        <dgm:presLayoutVars>
          <dgm:chMax val="0"/>
          <dgm:bulletEnabled val="1"/>
        </dgm:presLayoutVars>
      </dgm:prSet>
      <dgm:spPr/>
    </dgm:pt>
    <dgm:pt modelId="{717DE9C0-0175-47D2-9946-A528B0454896}" type="pres">
      <dgm:prSet presAssocID="{4652E74C-D138-466A-9827-3FE24D6C7D3F}" presName="spacer" presStyleCnt="0"/>
      <dgm:spPr/>
    </dgm:pt>
    <dgm:pt modelId="{B27E5A58-80C2-43D1-B216-DD7F5BB89C0A}" type="pres">
      <dgm:prSet presAssocID="{18E5211F-4F3C-4607-A999-D8FC9B3CF931}" presName="parentText" presStyleLbl="node1" presStyleIdx="1" presStyleCnt="4">
        <dgm:presLayoutVars>
          <dgm:chMax val="0"/>
          <dgm:bulletEnabled val="1"/>
        </dgm:presLayoutVars>
      </dgm:prSet>
      <dgm:spPr/>
    </dgm:pt>
    <dgm:pt modelId="{A0661ACC-877A-481A-AF54-11E52B11F5FE}" type="pres">
      <dgm:prSet presAssocID="{13244B90-8CA4-48DF-A961-F2E0C4826FF6}" presName="spacer" presStyleCnt="0"/>
      <dgm:spPr/>
    </dgm:pt>
    <dgm:pt modelId="{1DBC4697-0941-4BB3-A420-A71A18693C76}" type="pres">
      <dgm:prSet presAssocID="{41ABF383-7B8A-4C90-BF4D-13BB3F1E37F9}" presName="parentText" presStyleLbl="node1" presStyleIdx="2" presStyleCnt="4">
        <dgm:presLayoutVars>
          <dgm:chMax val="0"/>
          <dgm:bulletEnabled val="1"/>
        </dgm:presLayoutVars>
      </dgm:prSet>
      <dgm:spPr/>
    </dgm:pt>
    <dgm:pt modelId="{91AB3EE0-C4EC-4317-9CD7-AC10BE1729E6}" type="pres">
      <dgm:prSet presAssocID="{EC188E65-E45B-46EC-8D90-043242EDA0F2}" presName="spacer" presStyleCnt="0"/>
      <dgm:spPr/>
    </dgm:pt>
    <dgm:pt modelId="{02B9E093-835E-4DB9-80F2-17392336FE53}" type="pres">
      <dgm:prSet presAssocID="{B4B54CDD-9E17-4306-A3E0-2600939F7CF0}" presName="parentText" presStyleLbl="node1" presStyleIdx="3" presStyleCnt="4">
        <dgm:presLayoutVars>
          <dgm:chMax val="0"/>
          <dgm:bulletEnabled val="1"/>
        </dgm:presLayoutVars>
      </dgm:prSet>
      <dgm:spPr/>
    </dgm:pt>
  </dgm:ptLst>
  <dgm:cxnLst>
    <dgm:cxn modelId="{C1014430-0EFB-468D-B1A5-7D812A09D6A2}" srcId="{2891F381-1BEC-44C9-802F-F6C32D6F5BE5}" destId="{41ABF383-7B8A-4C90-BF4D-13BB3F1E37F9}" srcOrd="2" destOrd="0" parTransId="{7BF876C3-37CA-46E8-815A-AFDCE936083D}" sibTransId="{EC188E65-E45B-46EC-8D90-043242EDA0F2}"/>
    <dgm:cxn modelId="{D62CFB5B-6E55-4F40-B7EA-A49CA06EF105}" type="presOf" srcId="{41ABF383-7B8A-4C90-BF4D-13BB3F1E37F9}" destId="{1DBC4697-0941-4BB3-A420-A71A18693C76}" srcOrd="0" destOrd="0" presId="urn:microsoft.com/office/officeart/2005/8/layout/vList2"/>
    <dgm:cxn modelId="{BB7C11C4-997F-47B6-A3D8-5D02A6FE8330}" srcId="{2891F381-1BEC-44C9-802F-F6C32D6F5BE5}" destId="{18E5211F-4F3C-4607-A999-D8FC9B3CF931}" srcOrd="1" destOrd="0" parTransId="{E395C71F-22A0-4FC6-AB57-D946FD4BC4F6}" sibTransId="{13244B90-8CA4-48DF-A961-F2E0C4826FF6}"/>
    <dgm:cxn modelId="{DF82C1C6-8D18-4027-A6C8-15B17A194CF3}" type="presOf" srcId="{B4B54CDD-9E17-4306-A3E0-2600939F7CF0}" destId="{02B9E093-835E-4DB9-80F2-17392336FE53}" srcOrd="0" destOrd="0" presId="urn:microsoft.com/office/officeart/2005/8/layout/vList2"/>
    <dgm:cxn modelId="{E4EABCD0-4A25-490B-9B3A-83408AEA6A3E}" srcId="{2891F381-1BEC-44C9-802F-F6C32D6F5BE5}" destId="{A82AF866-105B-4B75-9911-C1BE08BB98DD}" srcOrd="0" destOrd="0" parTransId="{38D5F7EB-B92B-46B7-ADF1-F65AF42C1C9B}" sibTransId="{4652E74C-D138-466A-9827-3FE24D6C7D3F}"/>
    <dgm:cxn modelId="{1F9C15D2-9F55-437B-B30B-B2949A6BC448}" srcId="{2891F381-1BEC-44C9-802F-F6C32D6F5BE5}" destId="{B4B54CDD-9E17-4306-A3E0-2600939F7CF0}" srcOrd="3" destOrd="0" parTransId="{E1F8BD44-6C22-4D2B-8609-FCF586D53A2C}" sibTransId="{FC2EDE68-AF01-4DE4-A21B-F4DBD48A302E}"/>
    <dgm:cxn modelId="{0F6408D6-8CC0-4CA6-8F15-6A3F3D48E77D}" type="presOf" srcId="{18E5211F-4F3C-4607-A999-D8FC9B3CF931}" destId="{B27E5A58-80C2-43D1-B216-DD7F5BB89C0A}" srcOrd="0" destOrd="0" presId="urn:microsoft.com/office/officeart/2005/8/layout/vList2"/>
    <dgm:cxn modelId="{0BD754DB-5247-4278-8328-A0B8CD17DE28}" type="presOf" srcId="{A82AF866-105B-4B75-9911-C1BE08BB98DD}" destId="{8D941246-42E7-42B0-9DAA-9738ED811F41}" srcOrd="0" destOrd="0" presId="urn:microsoft.com/office/officeart/2005/8/layout/vList2"/>
    <dgm:cxn modelId="{7E7C6AF2-96CB-4FAD-8FE9-D3A49D735907}" type="presOf" srcId="{2891F381-1BEC-44C9-802F-F6C32D6F5BE5}" destId="{D0F39B36-0C14-4207-93FB-25657E71FE2F}" srcOrd="0" destOrd="0" presId="urn:microsoft.com/office/officeart/2005/8/layout/vList2"/>
    <dgm:cxn modelId="{CA54E62C-75CA-4D53-A5AD-4A328A46872E}" type="presParOf" srcId="{D0F39B36-0C14-4207-93FB-25657E71FE2F}" destId="{8D941246-42E7-42B0-9DAA-9738ED811F41}" srcOrd="0" destOrd="0" presId="urn:microsoft.com/office/officeart/2005/8/layout/vList2"/>
    <dgm:cxn modelId="{92A57E30-EFCD-4E87-B17F-3A2E3E1A1F36}" type="presParOf" srcId="{D0F39B36-0C14-4207-93FB-25657E71FE2F}" destId="{717DE9C0-0175-47D2-9946-A528B0454896}" srcOrd="1" destOrd="0" presId="urn:microsoft.com/office/officeart/2005/8/layout/vList2"/>
    <dgm:cxn modelId="{95C39960-BE9C-4260-873B-1BACEC580DAF}" type="presParOf" srcId="{D0F39B36-0C14-4207-93FB-25657E71FE2F}" destId="{B27E5A58-80C2-43D1-B216-DD7F5BB89C0A}" srcOrd="2" destOrd="0" presId="urn:microsoft.com/office/officeart/2005/8/layout/vList2"/>
    <dgm:cxn modelId="{91A83F51-0C63-4D0D-B33F-D3D8193C2856}" type="presParOf" srcId="{D0F39B36-0C14-4207-93FB-25657E71FE2F}" destId="{A0661ACC-877A-481A-AF54-11E52B11F5FE}" srcOrd="3" destOrd="0" presId="urn:microsoft.com/office/officeart/2005/8/layout/vList2"/>
    <dgm:cxn modelId="{16F42718-4036-405A-9F0C-544C99F67654}" type="presParOf" srcId="{D0F39B36-0C14-4207-93FB-25657E71FE2F}" destId="{1DBC4697-0941-4BB3-A420-A71A18693C76}" srcOrd="4" destOrd="0" presId="urn:microsoft.com/office/officeart/2005/8/layout/vList2"/>
    <dgm:cxn modelId="{DA7F8F1D-0A18-4E18-97A3-DBC48585681F}" type="presParOf" srcId="{D0F39B36-0C14-4207-93FB-25657E71FE2F}" destId="{91AB3EE0-C4EC-4317-9CD7-AC10BE1729E6}" srcOrd="5" destOrd="0" presId="urn:microsoft.com/office/officeart/2005/8/layout/vList2"/>
    <dgm:cxn modelId="{82416FE8-0617-4D54-870B-FE4228C056CA}" type="presParOf" srcId="{D0F39B36-0C14-4207-93FB-25657E71FE2F}" destId="{02B9E093-835E-4DB9-80F2-17392336FE53}"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F43525-F0F0-4CC0-9849-5264E3E87185}" type="doc">
      <dgm:prSet loTypeId="urn:microsoft.com/office/officeart/2005/8/layout/hProcess11" loCatId="process" qsTypeId="urn:microsoft.com/office/officeart/2005/8/quickstyle/simple1" qsCatId="simple" csTypeId="urn:microsoft.com/office/officeart/2005/8/colors/accent1_2" csCatId="accent1"/>
      <dgm:spPr/>
      <dgm:t>
        <a:bodyPr/>
        <a:lstStyle/>
        <a:p>
          <a:endParaRPr lang="ru-RU"/>
        </a:p>
      </dgm:t>
    </dgm:pt>
    <dgm:pt modelId="{A30721DC-B14C-4271-9EF0-AACEA625FFAF}">
      <dgm:prSet custT="1"/>
      <dgm:spPr/>
      <dgm:t>
        <a:bodyPr/>
        <a:lstStyle/>
        <a:p>
          <a:r>
            <a:rPr lang="en-US" sz="1050" b="1" dirty="0"/>
            <a:t>Synchronized 4-view capture at 1280×720.</a:t>
          </a:r>
          <a:endParaRPr lang="ru-RU" sz="1050" b="1" dirty="0"/>
        </a:p>
      </dgm:t>
    </dgm:pt>
    <dgm:pt modelId="{9C75D6C3-AF45-42BF-A399-04879CEB605E}" type="parTrans" cxnId="{1A0A76E5-F132-43B8-80E8-DA1228564C3B}">
      <dgm:prSet/>
      <dgm:spPr/>
      <dgm:t>
        <a:bodyPr/>
        <a:lstStyle/>
        <a:p>
          <a:endParaRPr lang="ru-RU"/>
        </a:p>
      </dgm:t>
    </dgm:pt>
    <dgm:pt modelId="{96ADACF2-9536-4943-910E-161B27B55D10}" type="sibTrans" cxnId="{1A0A76E5-F132-43B8-80E8-DA1228564C3B}">
      <dgm:prSet/>
      <dgm:spPr/>
      <dgm:t>
        <a:bodyPr/>
        <a:lstStyle/>
        <a:p>
          <a:endParaRPr lang="ru-RU"/>
        </a:p>
      </dgm:t>
    </dgm:pt>
    <dgm:pt modelId="{83C1DC67-ECD3-4A24-85F6-42310D8187C7}">
      <dgm:prSet custT="1"/>
      <dgm:spPr/>
      <dgm:t>
        <a:bodyPr/>
        <a:lstStyle/>
        <a:p>
          <a:r>
            <a:rPr lang="en-US" sz="1050" b="1" dirty="0"/>
            <a:t>DLT/SVD triangulation with robust outlier rejection.</a:t>
          </a:r>
          <a:endParaRPr lang="ru-RU" sz="1050" b="1" dirty="0"/>
        </a:p>
      </dgm:t>
    </dgm:pt>
    <dgm:pt modelId="{AF1A53DD-A540-4748-8DFD-D5305FC9E480}" type="parTrans" cxnId="{8D7A1F3D-70D3-425E-98AE-49C6DD3DE478}">
      <dgm:prSet/>
      <dgm:spPr/>
      <dgm:t>
        <a:bodyPr/>
        <a:lstStyle/>
        <a:p>
          <a:endParaRPr lang="ru-RU"/>
        </a:p>
      </dgm:t>
    </dgm:pt>
    <dgm:pt modelId="{1D38BCE1-DF5A-42F2-9382-F360C1E5715D}" type="sibTrans" cxnId="{8D7A1F3D-70D3-425E-98AE-49C6DD3DE478}">
      <dgm:prSet/>
      <dgm:spPr/>
      <dgm:t>
        <a:bodyPr/>
        <a:lstStyle/>
        <a:p>
          <a:endParaRPr lang="ru-RU"/>
        </a:p>
      </dgm:t>
    </dgm:pt>
    <dgm:pt modelId="{BA3E1FEB-CAC1-4957-8327-872E4916C25F}">
      <dgm:prSet custT="1"/>
      <dgm:spPr/>
      <dgm:t>
        <a:bodyPr/>
        <a:lstStyle/>
        <a:p>
          <a:r>
            <a:rPr lang="en-US" sz="1050" b="1" dirty="0"/>
            <a:t>Adaptive EMA + constant-velocity Kalman for predictive lead-time compensation.</a:t>
          </a:r>
          <a:endParaRPr lang="ru-RU" sz="1050" b="1" dirty="0"/>
        </a:p>
      </dgm:t>
    </dgm:pt>
    <dgm:pt modelId="{C870AAD3-DB34-4837-826F-6AC67F45AAD6}" type="parTrans" cxnId="{16F0C8D7-EE68-4E9E-B765-449297B91983}">
      <dgm:prSet/>
      <dgm:spPr/>
      <dgm:t>
        <a:bodyPr/>
        <a:lstStyle/>
        <a:p>
          <a:endParaRPr lang="ru-RU"/>
        </a:p>
      </dgm:t>
    </dgm:pt>
    <dgm:pt modelId="{7F66EB83-674A-418D-A721-2A83F43DC971}" type="sibTrans" cxnId="{16F0C8D7-EE68-4E9E-B765-449297B91983}">
      <dgm:prSet/>
      <dgm:spPr/>
      <dgm:t>
        <a:bodyPr/>
        <a:lstStyle/>
        <a:p>
          <a:endParaRPr lang="ru-RU"/>
        </a:p>
      </dgm:t>
    </dgm:pt>
    <dgm:pt modelId="{511E5FC4-7286-455A-A657-1CE47DCD40E4}">
      <dgm:prSet custT="1"/>
      <dgm:spPr/>
      <dgm:t>
        <a:bodyPr/>
        <a:lstStyle/>
        <a:p>
          <a:r>
            <a:rPr lang="en-US" sz="1050" b="1" dirty="0"/>
            <a:t>921,600-baud serial link to ESP32 cooperative FSM.</a:t>
          </a:r>
          <a:endParaRPr lang="ru-RU" sz="1050" b="1" dirty="0"/>
        </a:p>
      </dgm:t>
    </dgm:pt>
    <dgm:pt modelId="{FB178812-67AC-4717-BE9C-C11105CDE87B}" type="parTrans" cxnId="{496E7513-6201-479E-BE57-C8E8BC45C54C}">
      <dgm:prSet/>
      <dgm:spPr/>
      <dgm:t>
        <a:bodyPr/>
        <a:lstStyle/>
        <a:p>
          <a:endParaRPr lang="ru-RU"/>
        </a:p>
      </dgm:t>
    </dgm:pt>
    <dgm:pt modelId="{A7B49001-3EC9-4F10-B4BB-0774F87C0247}" type="sibTrans" cxnId="{496E7513-6201-479E-BE57-C8E8BC45C54C}">
      <dgm:prSet/>
      <dgm:spPr/>
      <dgm:t>
        <a:bodyPr/>
        <a:lstStyle/>
        <a:p>
          <a:endParaRPr lang="ru-RU"/>
        </a:p>
      </dgm:t>
    </dgm:pt>
    <dgm:pt modelId="{60BADF24-58F7-447C-AD13-730B4DA376FC}" type="pres">
      <dgm:prSet presAssocID="{B8F43525-F0F0-4CC0-9849-5264E3E87185}" presName="Name0" presStyleCnt="0">
        <dgm:presLayoutVars>
          <dgm:dir/>
          <dgm:resizeHandles val="exact"/>
        </dgm:presLayoutVars>
      </dgm:prSet>
      <dgm:spPr/>
    </dgm:pt>
    <dgm:pt modelId="{D401D9C4-A2F6-4786-958C-661317504254}" type="pres">
      <dgm:prSet presAssocID="{B8F43525-F0F0-4CC0-9849-5264E3E87185}" presName="arrow" presStyleLbl="bgShp" presStyleIdx="0" presStyleCnt="1"/>
      <dgm:spPr/>
    </dgm:pt>
    <dgm:pt modelId="{DABB3F34-D587-49BB-BA26-5582242FFAAD}" type="pres">
      <dgm:prSet presAssocID="{B8F43525-F0F0-4CC0-9849-5264E3E87185}" presName="points" presStyleCnt="0"/>
      <dgm:spPr/>
    </dgm:pt>
    <dgm:pt modelId="{DD48BE50-EC80-42E0-9E72-BF9136F365B6}" type="pres">
      <dgm:prSet presAssocID="{A30721DC-B14C-4271-9EF0-AACEA625FFAF}" presName="compositeA" presStyleCnt="0"/>
      <dgm:spPr/>
    </dgm:pt>
    <dgm:pt modelId="{EAD08757-8152-4299-A276-FBF5B37ABB26}" type="pres">
      <dgm:prSet presAssocID="{A30721DC-B14C-4271-9EF0-AACEA625FFAF}" presName="textA" presStyleLbl="revTx" presStyleIdx="0" presStyleCnt="4">
        <dgm:presLayoutVars>
          <dgm:bulletEnabled val="1"/>
        </dgm:presLayoutVars>
      </dgm:prSet>
      <dgm:spPr/>
    </dgm:pt>
    <dgm:pt modelId="{7D6490B3-1E55-4465-B03C-EB7AFE3A27EA}" type="pres">
      <dgm:prSet presAssocID="{A30721DC-B14C-4271-9EF0-AACEA625FFAF}" presName="circleA" presStyleLbl="node1" presStyleIdx="0" presStyleCnt="4"/>
      <dgm:spPr/>
    </dgm:pt>
    <dgm:pt modelId="{ED16F188-4EDE-41F5-8F76-8CE49BEB3BF7}" type="pres">
      <dgm:prSet presAssocID="{A30721DC-B14C-4271-9EF0-AACEA625FFAF}" presName="spaceA" presStyleCnt="0"/>
      <dgm:spPr/>
    </dgm:pt>
    <dgm:pt modelId="{7BAA5F02-E9CC-462C-92CC-D7F1DEDC3443}" type="pres">
      <dgm:prSet presAssocID="{96ADACF2-9536-4943-910E-161B27B55D10}" presName="space" presStyleCnt="0"/>
      <dgm:spPr/>
    </dgm:pt>
    <dgm:pt modelId="{93F8C015-628B-46AE-AF75-DD88AFD94C63}" type="pres">
      <dgm:prSet presAssocID="{83C1DC67-ECD3-4A24-85F6-42310D8187C7}" presName="compositeB" presStyleCnt="0"/>
      <dgm:spPr/>
    </dgm:pt>
    <dgm:pt modelId="{21542E7C-C2C7-4573-A937-4D83A70DDAFC}" type="pres">
      <dgm:prSet presAssocID="{83C1DC67-ECD3-4A24-85F6-42310D8187C7}" presName="textB" presStyleLbl="revTx" presStyleIdx="1" presStyleCnt="4">
        <dgm:presLayoutVars>
          <dgm:bulletEnabled val="1"/>
        </dgm:presLayoutVars>
      </dgm:prSet>
      <dgm:spPr/>
    </dgm:pt>
    <dgm:pt modelId="{1646903D-DFAA-472B-9B73-53ED89CA8391}" type="pres">
      <dgm:prSet presAssocID="{83C1DC67-ECD3-4A24-85F6-42310D8187C7}" presName="circleB" presStyleLbl="node1" presStyleIdx="1" presStyleCnt="4"/>
      <dgm:spPr/>
    </dgm:pt>
    <dgm:pt modelId="{25D453D2-A7F2-4CD7-AD1A-1D9DEAF0AA4D}" type="pres">
      <dgm:prSet presAssocID="{83C1DC67-ECD3-4A24-85F6-42310D8187C7}" presName="spaceB" presStyleCnt="0"/>
      <dgm:spPr/>
    </dgm:pt>
    <dgm:pt modelId="{13491604-7BF6-4A01-AE21-B9559158DCE1}" type="pres">
      <dgm:prSet presAssocID="{1D38BCE1-DF5A-42F2-9382-F360C1E5715D}" presName="space" presStyleCnt="0"/>
      <dgm:spPr/>
    </dgm:pt>
    <dgm:pt modelId="{01AF760F-12A1-448A-8E14-4FA184D62884}" type="pres">
      <dgm:prSet presAssocID="{BA3E1FEB-CAC1-4957-8327-872E4916C25F}" presName="compositeA" presStyleCnt="0"/>
      <dgm:spPr/>
    </dgm:pt>
    <dgm:pt modelId="{D6770158-BE5F-4924-A3F0-8753C082ABAC}" type="pres">
      <dgm:prSet presAssocID="{BA3E1FEB-CAC1-4957-8327-872E4916C25F}" presName="textA" presStyleLbl="revTx" presStyleIdx="2" presStyleCnt="4">
        <dgm:presLayoutVars>
          <dgm:bulletEnabled val="1"/>
        </dgm:presLayoutVars>
      </dgm:prSet>
      <dgm:spPr/>
    </dgm:pt>
    <dgm:pt modelId="{115C05C3-BC68-40A6-8B44-2670B0C49640}" type="pres">
      <dgm:prSet presAssocID="{BA3E1FEB-CAC1-4957-8327-872E4916C25F}" presName="circleA" presStyleLbl="node1" presStyleIdx="2" presStyleCnt="4"/>
      <dgm:spPr/>
    </dgm:pt>
    <dgm:pt modelId="{D8833A3E-6EB4-41DC-ACBF-9E3BDF17C0D9}" type="pres">
      <dgm:prSet presAssocID="{BA3E1FEB-CAC1-4957-8327-872E4916C25F}" presName="spaceA" presStyleCnt="0"/>
      <dgm:spPr/>
    </dgm:pt>
    <dgm:pt modelId="{6C93AC18-780F-4530-A5C0-4D39F3EB4E3C}" type="pres">
      <dgm:prSet presAssocID="{7F66EB83-674A-418D-A721-2A83F43DC971}" presName="space" presStyleCnt="0"/>
      <dgm:spPr/>
    </dgm:pt>
    <dgm:pt modelId="{C249425D-60F5-4ED6-9DCF-6F89B18C2EAA}" type="pres">
      <dgm:prSet presAssocID="{511E5FC4-7286-455A-A657-1CE47DCD40E4}" presName="compositeB" presStyleCnt="0"/>
      <dgm:spPr/>
    </dgm:pt>
    <dgm:pt modelId="{E5B47425-981B-4E54-A46E-88113407D89A}" type="pres">
      <dgm:prSet presAssocID="{511E5FC4-7286-455A-A657-1CE47DCD40E4}" presName="textB" presStyleLbl="revTx" presStyleIdx="3" presStyleCnt="4">
        <dgm:presLayoutVars>
          <dgm:bulletEnabled val="1"/>
        </dgm:presLayoutVars>
      </dgm:prSet>
      <dgm:spPr/>
    </dgm:pt>
    <dgm:pt modelId="{BB585EAF-FF22-4D4F-B7C4-155FDEB819EA}" type="pres">
      <dgm:prSet presAssocID="{511E5FC4-7286-455A-A657-1CE47DCD40E4}" presName="circleB" presStyleLbl="node1" presStyleIdx="3" presStyleCnt="4"/>
      <dgm:spPr/>
    </dgm:pt>
    <dgm:pt modelId="{CCED1D99-B26F-4CE7-8AD8-E7CFEFD0AF6B}" type="pres">
      <dgm:prSet presAssocID="{511E5FC4-7286-455A-A657-1CE47DCD40E4}" presName="spaceB" presStyleCnt="0"/>
      <dgm:spPr/>
    </dgm:pt>
  </dgm:ptLst>
  <dgm:cxnLst>
    <dgm:cxn modelId="{E6287E03-6E88-4423-A8E6-7A2F9D4BDAFA}" type="presOf" srcId="{83C1DC67-ECD3-4A24-85F6-42310D8187C7}" destId="{21542E7C-C2C7-4573-A937-4D83A70DDAFC}" srcOrd="0" destOrd="0" presId="urn:microsoft.com/office/officeart/2005/8/layout/hProcess11"/>
    <dgm:cxn modelId="{496E7513-6201-479E-BE57-C8E8BC45C54C}" srcId="{B8F43525-F0F0-4CC0-9849-5264E3E87185}" destId="{511E5FC4-7286-455A-A657-1CE47DCD40E4}" srcOrd="3" destOrd="0" parTransId="{FB178812-67AC-4717-BE9C-C11105CDE87B}" sibTransId="{A7B49001-3EC9-4F10-B4BB-0774F87C0247}"/>
    <dgm:cxn modelId="{C3FBF02F-DBDF-41B9-9E53-F34527C003F8}" type="presOf" srcId="{511E5FC4-7286-455A-A657-1CE47DCD40E4}" destId="{E5B47425-981B-4E54-A46E-88113407D89A}" srcOrd="0" destOrd="0" presId="urn:microsoft.com/office/officeart/2005/8/layout/hProcess11"/>
    <dgm:cxn modelId="{8D7A1F3D-70D3-425E-98AE-49C6DD3DE478}" srcId="{B8F43525-F0F0-4CC0-9849-5264E3E87185}" destId="{83C1DC67-ECD3-4A24-85F6-42310D8187C7}" srcOrd="1" destOrd="0" parTransId="{AF1A53DD-A540-4748-8DFD-D5305FC9E480}" sibTransId="{1D38BCE1-DF5A-42F2-9382-F360C1E5715D}"/>
    <dgm:cxn modelId="{8CE79196-487C-4729-9B9A-0C055878CA73}" type="presOf" srcId="{B8F43525-F0F0-4CC0-9849-5264E3E87185}" destId="{60BADF24-58F7-447C-AD13-730B4DA376FC}" srcOrd="0" destOrd="0" presId="urn:microsoft.com/office/officeart/2005/8/layout/hProcess11"/>
    <dgm:cxn modelId="{B7C57BC9-99A6-44CD-A0B9-7D24C6DBD6D2}" type="presOf" srcId="{BA3E1FEB-CAC1-4957-8327-872E4916C25F}" destId="{D6770158-BE5F-4924-A3F0-8753C082ABAC}" srcOrd="0" destOrd="0" presId="urn:microsoft.com/office/officeart/2005/8/layout/hProcess11"/>
    <dgm:cxn modelId="{16F0C8D7-EE68-4E9E-B765-449297B91983}" srcId="{B8F43525-F0F0-4CC0-9849-5264E3E87185}" destId="{BA3E1FEB-CAC1-4957-8327-872E4916C25F}" srcOrd="2" destOrd="0" parTransId="{C870AAD3-DB34-4837-826F-6AC67F45AAD6}" sibTransId="{7F66EB83-674A-418D-A721-2A83F43DC971}"/>
    <dgm:cxn modelId="{C721DADC-206E-496E-B229-02C1DF65E65F}" type="presOf" srcId="{A30721DC-B14C-4271-9EF0-AACEA625FFAF}" destId="{EAD08757-8152-4299-A276-FBF5B37ABB26}" srcOrd="0" destOrd="0" presId="urn:microsoft.com/office/officeart/2005/8/layout/hProcess11"/>
    <dgm:cxn modelId="{1A0A76E5-F132-43B8-80E8-DA1228564C3B}" srcId="{B8F43525-F0F0-4CC0-9849-5264E3E87185}" destId="{A30721DC-B14C-4271-9EF0-AACEA625FFAF}" srcOrd="0" destOrd="0" parTransId="{9C75D6C3-AF45-42BF-A399-04879CEB605E}" sibTransId="{96ADACF2-9536-4943-910E-161B27B55D10}"/>
    <dgm:cxn modelId="{FD3C9D53-0F7A-4517-9F11-9BC66ABE8321}" type="presParOf" srcId="{60BADF24-58F7-447C-AD13-730B4DA376FC}" destId="{D401D9C4-A2F6-4786-958C-661317504254}" srcOrd="0" destOrd="0" presId="urn:microsoft.com/office/officeart/2005/8/layout/hProcess11"/>
    <dgm:cxn modelId="{74C75AE3-148B-4025-B2C7-DD864D500127}" type="presParOf" srcId="{60BADF24-58F7-447C-AD13-730B4DA376FC}" destId="{DABB3F34-D587-49BB-BA26-5582242FFAAD}" srcOrd="1" destOrd="0" presId="urn:microsoft.com/office/officeart/2005/8/layout/hProcess11"/>
    <dgm:cxn modelId="{EC8352C7-7A9B-4F0E-B698-1722AF505C78}" type="presParOf" srcId="{DABB3F34-D587-49BB-BA26-5582242FFAAD}" destId="{DD48BE50-EC80-42E0-9E72-BF9136F365B6}" srcOrd="0" destOrd="0" presId="urn:microsoft.com/office/officeart/2005/8/layout/hProcess11"/>
    <dgm:cxn modelId="{4CDC17D2-44BF-4CCB-9E56-E4D2A0A65480}" type="presParOf" srcId="{DD48BE50-EC80-42E0-9E72-BF9136F365B6}" destId="{EAD08757-8152-4299-A276-FBF5B37ABB26}" srcOrd="0" destOrd="0" presId="urn:microsoft.com/office/officeart/2005/8/layout/hProcess11"/>
    <dgm:cxn modelId="{2F4BEEAB-CDCE-469D-955D-05CE28700DF1}" type="presParOf" srcId="{DD48BE50-EC80-42E0-9E72-BF9136F365B6}" destId="{7D6490B3-1E55-4465-B03C-EB7AFE3A27EA}" srcOrd="1" destOrd="0" presId="urn:microsoft.com/office/officeart/2005/8/layout/hProcess11"/>
    <dgm:cxn modelId="{2F82CF9E-A9D6-434B-AE7A-CFE2BAF76B65}" type="presParOf" srcId="{DD48BE50-EC80-42E0-9E72-BF9136F365B6}" destId="{ED16F188-4EDE-41F5-8F76-8CE49BEB3BF7}" srcOrd="2" destOrd="0" presId="urn:microsoft.com/office/officeart/2005/8/layout/hProcess11"/>
    <dgm:cxn modelId="{29EFB8CD-7959-4378-BEBC-5EB74F0008C8}" type="presParOf" srcId="{DABB3F34-D587-49BB-BA26-5582242FFAAD}" destId="{7BAA5F02-E9CC-462C-92CC-D7F1DEDC3443}" srcOrd="1" destOrd="0" presId="urn:microsoft.com/office/officeart/2005/8/layout/hProcess11"/>
    <dgm:cxn modelId="{FF69BC28-0F54-48E4-84B3-062C101AA430}" type="presParOf" srcId="{DABB3F34-D587-49BB-BA26-5582242FFAAD}" destId="{93F8C015-628B-46AE-AF75-DD88AFD94C63}" srcOrd="2" destOrd="0" presId="urn:microsoft.com/office/officeart/2005/8/layout/hProcess11"/>
    <dgm:cxn modelId="{E72B6CDB-0C80-478D-A7E5-C99F8C9E5090}" type="presParOf" srcId="{93F8C015-628B-46AE-AF75-DD88AFD94C63}" destId="{21542E7C-C2C7-4573-A937-4D83A70DDAFC}" srcOrd="0" destOrd="0" presId="urn:microsoft.com/office/officeart/2005/8/layout/hProcess11"/>
    <dgm:cxn modelId="{4F149371-982A-45C3-968C-9BF4674FFE12}" type="presParOf" srcId="{93F8C015-628B-46AE-AF75-DD88AFD94C63}" destId="{1646903D-DFAA-472B-9B73-53ED89CA8391}" srcOrd="1" destOrd="0" presId="urn:microsoft.com/office/officeart/2005/8/layout/hProcess11"/>
    <dgm:cxn modelId="{10265A43-9121-496D-BED6-7BF7DD6B6AA0}" type="presParOf" srcId="{93F8C015-628B-46AE-AF75-DD88AFD94C63}" destId="{25D453D2-A7F2-4CD7-AD1A-1D9DEAF0AA4D}" srcOrd="2" destOrd="0" presId="urn:microsoft.com/office/officeart/2005/8/layout/hProcess11"/>
    <dgm:cxn modelId="{02E6185D-9E43-4BB6-8E65-8058293CB14D}" type="presParOf" srcId="{DABB3F34-D587-49BB-BA26-5582242FFAAD}" destId="{13491604-7BF6-4A01-AE21-B9559158DCE1}" srcOrd="3" destOrd="0" presId="urn:microsoft.com/office/officeart/2005/8/layout/hProcess11"/>
    <dgm:cxn modelId="{4DCFA69A-BD67-42BB-9ECC-E55DCCDFA29D}" type="presParOf" srcId="{DABB3F34-D587-49BB-BA26-5582242FFAAD}" destId="{01AF760F-12A1-448A-8E14-4FA184D62884}" srcOrd="4" destOrd="0" presId="urn:microsoft.com/office/officeart/2005/8/layout/hProcess11"/>
    <dgm:cxn modelId="{539EE320-2254-4847-B3DE-CB48093206F3}" type="presParOf" srcId="{01AF760F-12A1-448A-8E14-4FA184D62884}" destId="{D6770158-BE5F-4924-A3F0-8753C082ABAC}" srcOrd="0" destOrd="0" presId="urn:microsoft.com/office/officeart/2005/8/layout/hProcess11"/>
    <dgm:cxn modelId="{0BF99042-2BB3-48A9-AC42-0641594C4296}" type="presParOf" srcId="{01AF760F-12A1-448A-8E14-4FA184D62884}" destId="{115C05C3-BC68-40A6-8B44-2670B0C49640}" srcOrd="1" destOrd="0" presId="urn:microsoft.com/office/officeart/2005/8/layout/hProcess11"/>
    <dgm:cxn modelId="{087842B7-6DD5-4C00-8013-1BEFEB9C3081}" type="presParOf" srcId="{01AF760F-12A1-448A-8E14-4FA184D62884}" destId="{D8833A3E-6EB4-41DC-ACBF-9E3BDF17C0D9}" srcOrd="2" destOrd="0" presId="urn:microsoft.com/office/officeart/2005/8/layout/hProcess11"/>
    <dgm:cxn modelId="{B99B7457-C73F-41D5-8A6D-ECC326BE760B}" type="presParOf" srcId="{DABB3F34-D587-49BB-BA26-5582242FFAAD}" destId="{6C93AC18-780F-4530-A5C0-4D39F3EB4E3C}" srcOrd="5" destOrd="0" presId="urn:microsoft.com/office/officeart/2005/8/layout/hProcess11"/>
    <dgm:cxn modelId="{E4855F6E-72AF-4D21-9F32-251800ABE3C2}" type="presParOf" srcId="{DABB3F34-D587-49BB-BA26-5582242FFAAD}" destId="{C249425D-60F5-4ED6-9DCF-6F89B18C2EAA}" srcOrd="6" destOrd="0" presId="urn:microsoft.com/office/officeart/2005/8/layout/hProcess11"/>
    <dgm:cxn modelId="{587061A5-5E75-404F-B32A-7900CE0B68D2}" type="presParOf" srcId="{C249425D-60F5-4ED6-9DCF-6F89B18C2EAA}" destId="{E5B47425-981B-4E54-A46E-88113407D89A}" srcOrd="0" destOrd="0" presId="urn:microsoft.com/office/officeart/2005/8/layout/hProcess11"/>
    <dgm:cxn modelId="{005889F0-518A-467D-B6C7-533FC5952B37}" type="presParOf" srcId="{C249425D-60F5-4ED6-9DCF-6F89B18C2EAA}" destId="{BB585EAF-FF22-4D4F-B7C4-155FDEB819EA}" srcOrd="1" destOrd="0" presId="urn:microsoft.com/office/officeart/2005/8/layout/hProcess11"/>
    <dgm:cxn modelId="{9F5DA02F-B219-426B-BB55-9BAEBAA7E0F2}" type="presParOf" srcId="{C249425D-60F5-4ED6-9DCF-6F89B18C2EAA}" destId="{CCED1D99-B26F-4CE7-8AD8-E7CFEFD0AF6B}"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818EECF-E132-4C5D-99F9-7A89A40F574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E5B3E46-D947-44D5-935F-59893FFA817C}">
      <dgm:prSet/>
      <dgm:spPr/>
      <dgm:t>
        <a:bodyPr/>
        <a:lstStyle/>
        <a:p>
          <a:pPr>
            <a:lnSpc>
              <a:spcPct val="100000"/>
            </a:lnSpc>
          </a:pPr>
          <a:r>
            <a:rPr lang="en-US" b="1" dirty="0"/>
            <a:t>Boundary</a:t>
          </a:r>
        </a:p>
        <a:p>
          <a:pPr>
            <a:lnSpc>
              <a:spcPct val="100000"/>
            </a:lnSpc>
          </a:pPr>
          <a:r>
            <a:rPr lang="en-US" dirty="0"/>
            <a:t>Moving-target closed-loop firing pending</a:t>
          </a:r>
        </a:p>
      </dgm:t>
    </dgm:pt>
    <dgm:pt modelId="{B6B22E0F-BBBA-49C9-82B5-5115F0C9C677}" type="parTrans" cxnId="{341D9E1C-343B-45D2-AD5E-DC55FCBAFD8E}">
      <dgm:prSet/>
      <dgm:spPr/>
      <dgm:t>
        <a:bodyPr/>
        <a:lstStyle/>
        <a:p>
          <a:endParaRPr lang="en-US"/>
        </a:p>
      </dgm:t>
    </dgm:pt>
    <dgm:pt modelId="{3F5DEA99-6804-4AE8-A313-FD15522E9642}" type="sibTrans" cxnId="{341D9E1C-343B-45D2-AD5E-DC55FCBAFD8E}">
      <dgm:prSet/>
      <dgm:spPr/>
      <dgm:t>
        <a:bodyPr/>
        <a:lstStyle/>
        <a:p>
          <a:endParaRPr lang="en-US"/>
        </a:p>
      </dgm:t>
    </dgm:pt>
    <dgm:pt modelId="{EF3B1EB9-93D3-4525-8B83-7CD5EB49E03F}">
      <dgm:prSet/>
      <dgm:spPr/>
      <dgm:t>
        <a:bodyPr/>
        <a:lstStyle/>
        <a:p>
          <a:pPr>
            <a:lnSpc>
              <a:spcPct val="100000"/>
            </a:lnSpc>
          </a:pPr>
          <a:r>
            <a:rPr lang="en-US" b="1" dirty="0" err="1"/>
            <a:t>Generalisation</a:t>
          </a:r>
          <a:br>
            <a:rPr lang="en-US" dirty="0"/>
          </a:br>
          <a:r>
            <a:rPr lang="en-US" dirty="0"/>
            <a:t>Single subject, one arena, indoor lighting</a:t>
          </a:r>
        </a:p>
      </dgm:t>
    </dgm:pt>
    <dgm:pt modelId="{767FDF0E-1DD9-48BD-868E-734ABE2C1F41}" type="parTrans" cxnId="{2D50D7E7-9E14-47CD-A943-99F28AF1ABFF}">
      <dgm:prSet/>
      <dgm:spPr/>
      <dgm:t>
        <a:bodyPr/>
        <a:lstStyle/>
        <a:p>
          <a:endParaRPr lang="en-US"/>
        </a:p>
      </dgm:t>
    </dgm:pt>
    <dgm:pt modelId="{E0AE2B38-3A4F-4EF3-811E-9053A99094F2}" type="sibTrans" cxnId="{2D50D7E7-9E14-47CD-A943-99F28AF1ABFF}">
      <dgm:prSet/>
      <dgm:spPr/>
      <dgm:t>
        <a:bodyPr/>
        <a:lstStyle/>
        <a:p>
          <a:endParaRPr lang="en-US"/>
        </a:p>
      </dgm:t>
    </dgm:pt>
    <dgm:pt modelId="{4CDAB935-826E-49C9-A806-8129A14B3195}">
      <dgm:prSet/>
      <dgm:spPr/>
      <dgm:t>
        <a:bodyPr/>
        <a:lstStyle/>
        <a:p>
          <a:pPr>
            <a:lnSpc>
              <a:spcPct val="100000"/>
            </a:lnSpc>
          </a:pPr>
          <a:r>
            <a:rPr lang="en-US" b="1" dirty="0"/>
            <a:t>Visibility</a:t>
          </a:r>
          <a:br>
            <a:rPr lang="en-US" dirty="0"/>
          </a:br>
          <a:r>
            <a:rPr lang="en-US" dirty="0"/>
            <a:t>19 / 81 joint trials invalid from occlusion</a:t>
          </a:r>
        </a:p>
      </dgm:t>
    </dgm:pt>
    <dgm:pt modelId="{9C2855DE-C80F-434F-9F61-463C6086BA9C}" type="parTrans" cxnId="{65C47871-09DD-4873-A2F2-2AC7778DEEB3}">
      <dgm:prSet/>
      <dgm:spPr/>
      <dgm:t>
        <a:bodyPr/>
        <a:lstStyle/>
        <a:p>
          <a:endParaRPr lang="en-US"/>
        </a:p>
      </dgm:t>
    </dgm:pt>
    <dgm:pt modelId="{012DE6CB-57C5-4E68-AFB8-0BFBB77E5B7D}" type="sibTrans" cxnId="{65C47871-09DD-4873-A2F2-2AC7778DEEB3}">
      <dgm:prSet/>
      <dgm:spPr/>
      <dgm:t>
        <a:bodyPr/>
        <a:lstStyle/>
        <a:p>
          <a:endParaRPr lang="en-US"/>
        </a:p>
      </dgm:t>
    </dgm:pt>
    <dgm:pt modelId="{766C13A4-B6DD-414C-A82A-E7BEBD264E8C}">
      <dgm:prSet/>
      <dgm:spPr/>
      <dgm:t>
        <a:bodyPr/>
        <a:lstStyle/>
        <a:p>
          <a:pPr>
            <a:lnSpc>
              <a:spcPct val="100000"/>
            </a:lnSpc>
          </a:pPr>
          <a:r>
            <a:rPr lang="en-US" b="1" dirty="0"/>
            <a:t>Ballistics</a:t>
          </a:r>
          <a:br>
            <a:rPr lang="en-US" dirty="0"/>
          </a:br>
          <a:r>
            <a:rPr lang="en-US" dirty="0"/>
            <a:t>RPM → velocity calibration missing</a:t>
          </a:r>
        </a:p>
      </dgm:t>
    </dgm:pt>
    <dgm:pt modelId="{BBA02122-8265-49A8-8989-3BC91835C34B}" type="parTrans" cxnId="{51FBF895-AC47-45BF-A1D1-315844C1623F}">
      <dgm:prSet/>
      <dgm:spPr/>
      <dgm:t>
        <a:bodyPr/>
        <a:lstStyle/>
        <a:p>
          <a:endParaRPr lang="en-US"/>
        </a:p>
      </dgm:t>
    </dgm:pt>
    <dgm:pt modelId="{4357ECD6-6B2B-4045-BCFE-0C088C25C0DA}" type="sibTrans" cxnId="{51FBF895-AC47-45BF-A1D1-315844C1623F}">
      <dgm:prSet/>
      <dgm:spPr/>
      <dgm:t>
        <a:bodyPr/>
        <a:lstStyle/>
        <a:p>
          <a:endParaRPr lang="en-US"/>
        </a:p>
      </dgm:t>
    </dgm:pt>
    <dgm:pt modelId="{2C177D34-6CE9-4BE8-96CE-D3C3ED0AF093}">
      <dgm:prSet/>
      <dgm:spPr/>
      <dgm:t>
        <a:bodyPr/>
        <a:lstStyle/>
        <a:p>
          <a:pPr>
            <a:lnSpc>
              <a:spcPct val="100000"/>
            </a:lnSpc>
          </a:pPr>
          <a:r>
            <a:rPr lang="en-US" b="1" dirty="0"/>
            <a:t>Hardware drift</a:t>
          </a:r>
          <a:br>
            <a:rPr lang="en-US" dirty="0"/>
          </a:br>
          <a:r>
            <a:rPr lang="en-US" dirty="0"/>
            <a:t>Pan/tilt homing needs more validation</a:t>
          </a:r>
        </a:p>
      </dgm:t>
    </dgm:pt>
    <dgm:pt modelId="{8CE71C5D-2ED9-40D2-9BFC-3A513950A3D8}" type="parTrans" cxnId="{02444AF7-1FF8-422D-9990-BD2E0EA027FD}">
      <dgm:prSet/>
      <dgm:spPr/>
      <dgm:t>
        <a:bodyPr/>
        <a:lstStyle/>
        <a:p>
          <a:endParaRPr lang="en-US"/>
        </a:p>
      </dgm:t>
    </dgm:pt>
    <dgm:pt modelId="{7F40A63B-FC4D-4D0A-B583-6E0CA70971EB}" type="sibTrans" cxnId="{02444AF7-1FF8-422D-9990-BD2E0EA027FD}">
      <dgm:prSet/>
      <dgm:spPr/>
      <dgm:t>
        <a:bodyPr/>
        <a:lstStyle/>
        <a:p>
          <a:endParaRPr lang="en-US"/>
        </a:p>
      </dgm:t>
    </dgm:pt>
    <dgm:pt modelId="{EDF7F2BF-8270-4403-9C56-CD429086B03D}" type="pres">
      <dgm:prSet presAssocID="{0818EECF-E132-4C5D-99F9-7A89A40F5745}" presName="root" presStyleCnt="0">
        <dgm:presLayoutVars>
          <dgm:dir/>
          <dgm:resizeHandles val="exact"/>
        </dgm:presLayoutVars>
      </dgm:prSet>
      <dgm:spPr/>
    </dgm:pt>
    <dgm:pt modelId="{89EB2F37-2B22-494C-9294-D9F6588E172F}" type="pres">
      <dgm:prSet presAssocID="{7E5B3E46-D947-44D5-935F-59893FFA817C}" presName="compNode" presStyleCnt="0"/>
      <dgm:spPr/>
    </dgm:pt>
    <dgm:pt modelId="{7EFABA1C-BE9E-4BE3-93F2-9AFEA165AE84}" type="pres">
      <dgm:prSet presAssocID="{7E5B3E46-D947-44D5-935F-59893FFA817C}" presName="bgRect" presStyleLbl="bgShp" presStyleIdx="0" presStyleCnt="5"/>
      <dgm:spPr/>
    </dgm:pt>
    <dgm:pt modelId="{7A1646E0-8309-4C84-A1AF-92EE1D5A09C5}" type="pres">
      <dgm:prSet presAssocID="{7E5B3E46-D947-44D5-935F-59893FFA817C}"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isconnected"/>
        </a:ext>
      </dgm:extLst>
    </dgm:pt>
    <dgm:pt modelId="{764ECE60-5F26-4BCF-8ECA-CEAFF71E4E9F}" type="pres">
      <dgm:prSet presAssocID="{7E5B3E46-D947-44D5-935F-59893FFA817C}" presName="spaceRect" presStyleCnt="0"/>
      <dgm:spPr/>
    </dgm:pt>
    <dgm:pt modelId="{EB712A30-E0FF-476B-9C1B-6AFFDE65CD45}" type="pres">
      <dgm:prSet presAssocID="{7E5B3E46-D947-44D5-935F-59893FFA817C}" presName="parTx" presStyleLbl="revTx" presStyleIdx="0" presStyleCnt="5">
        <dgm:presLayoutVars>
          <dgm:chMax val="0"/>
          <dgm:chPref val="0"/>
        </dgm:presLayoutVars>
      </dgm:prSet>
      <dgm:spPr/>
    </dgm:pt>
    <dgm:pt modelId="{3F9106C9-606F-490D-90F6-7F06422312B6}" type="pres">
      <dgm:prSet presAssocID="{3F5DEA99-6804-4AE8-A313-FD15522E9642}" presName="sibTrans" presStyleCnt="0"/>
      <dgm:spPr/>
    </dgm:pt>
    <dgm:pt modelId="{0D3F7836-AF56-48E5-9A53-D903C65E85C9}" type="pres">
      <dgm:prSet presAssocID="{EF3B1EB9-93D3-4525-8B83-7CD5EB49E03F}" presName="compNode" presStyleCnt="0"/>
      <dgm:spPr/>
    </dgm:pt>
    <dgm:pt modelId="{8367CE92-AECD-411A-B35F-4A3FFDAF8A65}" type="pres">
      <dgm:prSet presAssocID="{EF3B1EB9-93D3-4525-8B83-7CD5EB49E03F}" presName="bgRect" presStyleLbl="bgShp" presStyleIdx="1" presStyleCnt="5"/>
      <dgm:spPr/>
    </dgm:pt>
    <dgm:pt modelId="{D76E11CF-4963-437E-86B8-2FA030CAEE9B}" type="pres">
      <dgm:prSet presAssocID="{EF3B1EB9-93D3-4525-8B83-7CD5EB49E03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jector"/>
        </a:ext>
      </dgm:extLst>
    </dgm:pt>
    <dgm:pt modelId="{0AFFA430-4B83-4BDF-81D9-89475081A35F}" type="pres">
      <dgm:prSet presAssocID="{EF3B1EB9-93D3-4525-8B83-7CD5EB49E03F}" presName="spaceRect" presStyleCnt="0"/>
      <dgm:spPr/>
    </dgm:pt>
    <dgm:pt modelId="{B21BA8A1-A050-4476-85E7-D9A46566BE45}" type="pres">
      <dgm:prSet presAssocID="{EF3B1EB9-93D3-4525-8B83-7CD5EB49E03F}" presName="parTx" presStyleLbl="revTx" presStyleIdx="1" presStyleCnt="5">
        <dgm:presLayoutVars>
          <dgm:chMax val="0"/>
          <dgm:chPref val="0"/>
        </dgm:presLayoutVars>
      </dgm:prSet>
      <dgm:spPr/>
    </dgm:pt>
    <dgm:pt modelId="{16F237D5-A8A3-4692-A2BE-C1BD98FAE978}" type="pres">
      <dgm:prSet presAssocID="{E0AE2B38-3A4F-4EF3-811E-9053A99094F2}" presName="sibTrans" presStyleCnt="0"/>
      <dgm:spPr/>
    </dgm:pt>
    <dgm:pt modelId="{51C8FD4F-C800-48E9-B971-DE29A5F1382F}" type="pres">
      <dgm:prSet presAssocID="{4CDAB935-826E-49C9-A806-8129A14B3195}" presName="compNode" presStyleCnt="0"/>
      <dgm:spPr/>
    </dgm:pt>
    <dgm:pt modelId="{7AFEEFC5-7D33-45E7-B737-BC6E1DE5CE37}" type="pres">
      <dgm:prSet presAssocID="{4CDAB935-826E-49C9-A806-8129A14B3195}" presName="bgRect" presStyleLbl="bgShp" presStyleIdx="2" presStyleCnt="5"/>
      <dgm:spPr/>
    </dgm:pt>
    <dgm:pt modelId="{41157971-A7B1-4945-A200-8226D8260E7C}" type="pres">
      <dgm:prSet presAssocID="{4CDAB935-826E-49C9-A806-8129A14B3195}"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Judge"/>
        </a:ext>
      </dgm:extLst>
    </dgm:pt>
    <dgm:pt modelId="{29E55D04-88EE-4B64-9C1B-48EFA82F8D62}" type="pres">
      <dgm:prSet presAssocID="{4CDAB935-826E-49C9-A806-8129A14B3195}" presName="spaceRect" presStyleCnt="0"/>
      <dgm:spPr/>
    </dgm:pt>
    <dgm:pt modelId="{81EE1ED8-87F3-4DB5-9206-8C20B6B37752}" type="pres">
      <dgm:prSet presAssocID="{4CDAB935-826E-49C9-A806-8129A14B3195}" presName="parTx" presStyleLbl="revTx" presStyleIdx="2" presStyleCnt="5">
        <dgm:presLayoutVars>
          <dgm:chMax val="0"/>
          <dgm:chPref val="0"/>
        </dgm:presLayoutVars>
      </dgm:prSet>
      <dgm:spPr/>
    </dgm:pt>
    <dgm:pt modelId="{D55A2EBF-E46E-457A-AC3B-A021FE354FD5}" type="pres">
      <dgm:prSet presAssocID="{012DE6CB-57C5-4E68-AFB8-0BFBB77E5B7D}" presName="sibTrans" presStyleCnt="0"/>
      <dgm:spPr/>
    </dgm:pt>
    <dgm:pt modelId="{642A9BC7-E493-451D-ADB4-49B5E27994A1}" type="pres">
      <dgm:prSet presAssocID="{766C13A4-B6DD-414C-A82A-E7BEBD264E8C}" presName="compNode" presStyleCnt="0"/>
      <dgm:spPr/>
    </dgm:pt>
    <dgm:pt modelId="{0CC7D97A-14EE-4D04-A1B1-3237EAF5FA39}" type="pres">
      <dgm:prSet presAssocID="{766C13A4-B6DD-414C-A82A-E7BEBD264E8C}" presName="bgRect" presStyleLbl="bgShp" presStyleIdx="3" presStyleCnt="5"/>
      <dgm:spPr/>
    </dgm:pt>
    <dgm:pt modelId="{96023334-FB2E-4EB2-944C-1935C23AE746}" type="pres">
      <dgm:prSet presAssocID="{766C13A4-B6DD-414C-A82A-E7BEBD264E8C}"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gnet"/>
        </a:ext>
      </dgm:extLst>
    </dgm:pt>
    <dgm:pt modelId="{D2AB6829-D432-4802-B8DD-B06F30E8AD15}" type="pres">
      <dgm:prSet presAssocID="{766C13A4-B6DD-414C-A82A-E7BEBD264E8C}" presName="spaceRect" presStyleCnt="0"/>
      <dgm:spPr/>
    </dgm:pt>
    <dgm:pt modelId="{B226DAFC-4BF6-4C79-BB51-53256DAA071A}" type="pres">
      <dgm:prSet presAssocID="{766C13A4-B6DD-414C-A82A-E7BEBD264E8C}" presName="parTx" presStyleLbl="revTx" presStyleIdx="3" presStyleCnt="5">
        <dgm:presLayoutVars>
          <dgm:chMax val="0"/>
          <dgm:chPref val="0"/>
        </dgm:presLayoutVars>
      </dgm:prSet>
      <dgm:spPr/>
    </dgm:pt>
    <dgm:pt modelId="{74CA0B82-A59F-403A-8712-C20A15023F20}" type="pres">
      <dgm:prSet presAssocID="{4357ECD6-6B2B-4045-BCFE-0C088C25C0DA}" presName="sibTrans" presStyleCnt="0"/>
      <dgm:spPr/>
    </dgm:pt>
    <dgm:pt modelId="{51074A52-E8A1-43D7-B257-946A7C92B7D7}" type="pres">
      <dgm:prSet presAssocID="{2C177D34-6CE9-4BE8-96CE-D3C3ED0AF093}" presName="compNode" presStyleCnt="0"/>
      <dgm:spPr/>
    </dgm:pt>
    <dgm:pt modelId="{B956D9B2-0249-4DA6-A87E-9085F8EB0C75}" type="pres">
      <dgm:prSet presAssocID="{2C177D34-6CE9-4BE8-96CE-D3C3ED0AF093}" presName="bgRect" presStyleLbl="bgShp" presStyleIdx="4" presStyleCnt="5"/>
      <dgm:spPr/>
    </dgm:pt>
    <dgm:pt modelId="{CCB61FF3-5CAC-4948-8E93-1319E76E9F65}" type="pres">
      <dgm:prSet presAssocID="{2C177D34-6CE9-4BE8-96CE-D3C3ED0AF093}"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Ear"/>
        </a:ext>
      </dgm:extLst>
    </dgm:pt>
    <dgm:pt modelId="{635740D7-64B9-4F6F-A9F5-4B656ADA2EB7}" type="pres">
      <dgm:prSet presAssocID="{2C177D34-6CE9-4BE8-96CE-D3C3ED0AF093}" presName="spaceRect" presStyleCnt="0"/>
      <dgm:spPr/>
    </dgm:pt>
    <dgm:pt modelId="{3AB74534-AEB7-4A8A-A991-8C35E333CAF4}" type="pres">
      <dgm:prSet presAssocID="{2C177D34-6CE9-4BE8-96CE-D3C3ED0AF093}" presName="parTx" presStyleLbl="revTx" presStyleIdx="4" presStyleCnt="5">
        <dgm:presLayoutVars>
          <dgm:chMax val="0"/>
          <dgm:chPref val="0"/>
        </dgm:presLayoutVars>
      </dgm:prSet>
      <dgm:spPr/>
    </dgm:pt>
  </dgm:ptLst>
  <dgm:cxnLst>
    <dgm:cxn modelId="{341D9E1C-343B-45D2-AD5E-DC55FCBAFD8E}" srcId="{0818EECF-E132-4C5D-99F9-7A89A40F5745}" destId="{7E5B3E46-D947-44D5-935F-59893FFA817C}" srcOrd="0" destOrd="0" parTransId="{B6B22E0F-BBBA-49C9-82B5-5115F0C9C677}" sibTransId="{3F5DEA99-6804-4AE8-A313-FD15522E9642}"/>
    <dgm:cxn modelId="{A8BA1D22-FA44-42EB-84B8-40FA9DBCD23A}" type="presOf" srcId="{EF3B1EB9-93D3-4525-8B83-7CD5EB49E03F}" destId="{B21BA8A1-A050-4476-85E7-D9A46566BE45}" srcOrd="0" destOrd="0" presId="urn:microsoft.com/office/officeart/2018/2/layout/IconVerticalSolidList"/>
    <dgm:cxn modelId="{4B84322C-A277-438C-B931-CF2D4184AE97}" type="presOf" srcId="{0818EECF-E132-4C5D-99F9-7A89A40F5745}" destId="{EDF7F2BF-8270-4403-9C56-CD429086B03D}" srcOrd="0" destOrd="0" presId="urn:microsoft.com/office/officeart/2018/2/layout/IconVerticalSolidList"/>
    <dgm:cxn modelId="{5661B833-E51C-4A01-A8B8-6D50CC7E295C}" type="presOf" srcId="{4CDAB935-826E-49C9-A806-8129A14B3195}" destId="{81EE1ED8-87F3-4DB5-9206-8C20B6B37752}" srcOrd="0" destOrd="0" presId="urn:microsoft.com/office/officeart/2018/2/layout/IconVerticalSolidList"/>
    <dgm:cxn modelId="{2348F16B-4FFA-4C11-94E1-5E0E41ECFC63}" type="presOf" srcId="{2C177D34-6CE9-4BE8-96CE-D3C3ED0AF093}" destId="{3AB74534-AEB7-4A8A-A991-8C35E333CAF4}" srcOrd="0" destOrd="0" presId="urn:microsoft.com/office/officeart/2018/2/layout/IconVerticalSolidList"/>
    <dgm:cxn modelId="{65C47871-09DD-4873-A2F2-2AC7778DEEB3}" srcId="{0818EECF-E132-4C5D-99F9-7A89A40F5745}" destId="{4CDAB935-826E-49C9-A806-8129A14B3195}" srcOrd="2" destOrd="0" parTransId="{9C2855DE-C80F-434F-9F61-463C6086BA9C}" sibTransId="{012DE6CB-57C5-4E68-AFB8-0BFBB77E5B7D}"/>
    <dgm:cxn modelId="{27FAA082-332A-4413-AF26-E9CD5EB346D7}" type="presOf" srcId="{766C13A4-B6DD-414C-A82A-E7BEBD264E8C}" destId="{B226DAFC-4BF6-4C79-BB51-53256DAA071A}" srcOrd="0" destOrd="0" presId="urn:microsoft.com/office/officeart/2018/2/layout/IconVerticalSolidList"/>
    <dgm:cxn modelId="{51FBF895-AC47-45BF-A1D1-315844C1623F}" srcId="{0818EECF-E132-4C5D-99F9-7A89A40F5745}" destId="{766C13A4-B6DD-414C-A82A-E7BEBD264E8C}" srcOrd="3" destOrd="0" parTransId="{BBA02122-8265-49A8-8989-3BC91835C34B}" sibTransId="{4357ECD6-6B2B-4045-BCFE-0C088C25C0DA}"/>
    <dgm:cxn modelId="{474189D3-4722-48D7-8757-AB12E3F4E1BD}" type="presOf" srcId="{7E5B3E46-D947-44D5-935F-59893FFA817C}" destId="{EB712A30-E0FF-476B-9C1B-6AFFDE65CD45}" srcOrd="0" destOrd="0" presId="urn:microsoft.com/office/officeart/2018/2/layout/IconVerticalSolidList"/>
    <dgm:cxn modelId="{2D50D7E7-9E14-47CD-A943-99F28AF1ABFF}" srcId="{0818EECF-E132-4C5D-99F9-7A89A40F5745}" destId="{EF3B1EB9-93D3-4525-8B83-7CD5EB49E03F}" srcOrd="1" destOrd="0" parTransId="{767FDF0E-1DD9-48BD-868E-734ABE2C1F41}" sibTransId="{E0AE2B38-3A4F-4EF3-811E-9053A99094F2}"/>
    <dgm:cxn modelId="{02444AF7-1FF8-422D-9990-BD2E0EA027FD}" srcId="{0818EECF-E132-4C5D-99F9-7A89A40F5745}" destId="{2C177D34-6CE9-4BE8-96CE-D3C3ED0AF093}" srcOrd="4" destOrd="0" parTransId="{8CE71C5D-2ED9-40D2-9BFC-3A513950A3D8}" sibTransId="{7F40A63B-FC4D-4D0A-B583-6E0CA70971EB}"/>
    <dgm:cxn modelId="{3CA95F2A-BEDE-4802-9C6A-59651847B337}" type="presParOf" srcId="{EDF7F2BF-8270-4403-9C56-CD429086B03D}" destId="{89EB2F37-2B22-494C-9294-D9F6588E172F}" srcOrd="0" destOrd="0" presId="urn:microsoft.com/office/officeart/2018/2/layout/IconVerticalSolidList"/>
    <dgm:cxn modelId="{6343A823-2340-48EB-8725-38422D34F01D}" type="presParOf" srcId="{89EB2F37-2B22-494C-9294-D9F6588E172F}" destId="{7EFABA1C-BE9E-4BE3-93F2-9AFEA165AE84}" srcOrd="0" destOrd="0" presId="urn:microsoft.com/office/officeart/2018/2/layout/IconVerticalSolidList"/>
    <dgm:cxn modelId="{F394F5F1-C29F-4579-BC54-0892CC9C646E}" type="presParOf" srcId="{89EB2F37-2B22-494C-9294-D9F6588E172F}" destId="{7A1646E0-8309-4C84-A1AF-92EE1D5A09C5}" srcOrd="1" destOrd="0" presId="urn:microsoft.com/office/officeart/2018/2/layout/IconVerticalSolidList"/>
    <dgm:cxn modelId="{D547A679-026E-472F-91D9-18C257CE55EB}" type="presParOf" srcId="{89EB2F37-2B22-494C-9294-D9F6588E172F}" destId="{764ECE60-5F26-4BCF-8ECA-CEAFF71E4E9F}" srcOrd="2" destOrd="0" presId="urn:microsoft.com/office/officeart/2018/2/layout/IconVerticalSolidList"/>
    <dgm:cxn modelId="{6C86F866-73F4-42F6-888C-20BAD9EBA590}" type="presParOf" srcId="{89EB2F37-2B22-494C-9294-D9F6588E172F}" destId="{EB712A30-E0FF-476B-9C1B-6AFFDE65CD45}" srcOrd="3" destOrd="0" presId="urn:microsoft.com/office/officeart/2018/2/layout/IconVerticalSolidList"/>
    <dgm:cxn modelId="{826200E2-9F75-4AA3-BF10-D16DE2DA9AD1}" type="presParOf" srcId="{EDF7F2BF-8270-4403-9C56-CD429086B03D}" destId="{3F9106C9-606F-490D-90F6-7F06422312B6}" srcOrd="1" destOrd="0" presId="urn:microsoft.com/office/officeart/2018/2/layout/IconVerticalSolidList"/>
    <dgm:cxn modelId="{7170CE97-FB2A-4EFB-B1DD-3209CA463ECA}" type="presParOf" srcId="{EDF7F2BF-8270-4403-9C56-CD429086B03D}" destId="{0D3F7836-AF56-48E5-9A53-D903C65E85C9}" srcOrd="2" destOrd="0" presId="urn:microsoft.com/office/officeart/2018/2/layout/IconVerticalSolidList"/>
    <dgm:cxn modelId="{B200CBD1-74FC-4FF6-B3E9-140CF0F6805A}" type="presParOf" srcId="{0D3F7836-AF56-48E5-9A53-D903C65E85C9}" destId="{8367CE92-AECD-411A-B35F-4A3FFDAF8A65}" srcOrd="0" destOrd="0" presId="urn:microsoft.com/office/officeart/2018/2/layout/IconVerticalSolidList"/>
    <dgm:cxn modelId="{6550C277-F835-4689-A119-03E21F8C0EC1}" type="presParOf" srcId="{0D3F7836-AF56-48E5-9A53-D903C65E85C9}" destId="{D76E11CF-4963-437E-86B8-2FA030CAEE9B}" srcOrd="1" destOrd="0" presId="urn:microsoft.com/office/officeart/2018/2/layout/IconVerticalSolidList"/>
    <dgm:cxn modelId="{F4608761-EABA-4647-B708-1263E5722D71}" type="presParOf" srcId="{0D3F7836-AF56-48E5-9A53-D903C65E85C9}" destId="{0AFFA430-4B83-4BDF-81D9-89475081A35F}" srcOrd="2" destOrd="0" presId="urn:microsoft.com/office/officeart/2018/2/layout/IconVerticalSolidList"/>
    <dgm:cxn modelId="{C61261C0-CE55-4E7F-814A-3EB02D438197}" type="presParOf" srcId="{0D3F7836-AF56-48E5-9A53-D903C65E85C9}" destId="{B21BA8A1-A050-4476-85E7-D9A46566BE45}" srcOrd="3" destOrd="0" presId="urn:microsoft.com/office/officeart/2018/2/layout/IconVerticalSolidList"/>
    <dgm:cxn modelId="{27787615-1214-4434-A6CC-98440FE3606B}" type="presParOf" srcId="{EDF7F2BF-8270-4403-9C56-CD429086B03D}" destId="{16F237D5-A8A3-4692-A2BE-C1BD98FAE978}" srcOrd="3" destOrd="0" presId="urn:microsoft.com/office/officeart/2018/2/layout/IconVerticalSolidList"/>
    <dgm:cxn modelId="{CBC5C4A5-397F-49C5-9730-2B341DE1C847}" type="presParOf" srcId="{EDF7F2BF-8270-4403-9C56-CD429086B03D}" destId="{51C8FD4F-C800-48E9-B971-DE29A5F1382F}" srcOrd="4" destOrd="0" presId="urn:microsoft.com/office/officeart/2018/2/layout/IconVerticalSolidList"/>
    <dgm:cxn modelId="{1F3A2AA8-A3C1-4AF9-9F3C-78D762DD0A04}" type="presParOf" srcId="{51C8FD4F-C800-48E9-B971-DE29A5F1382F}" destId="{7AFEEFC5-7D33-45E7-B737-BC6E1DE5CE37}" srcOrd="0" destOrd="0" presId="urn:microsoft.com/office/officeart/2018/2/layout/IconVerticalSolidList"/>
    <dgm:cxn modelId="{88A46C78-DAAD-4A31-B579-D29192579A8D}" type="presParOf" srcId="{51C8FD4F-C800-48E9-B971-DE29A5F1382F}" destId="{41157971-A7B1-4945-A200-8226D8260E7C}" srcOrd="1" destOrd="0" presId="urn:microsoft.com/office/officeart/2018/2/layout/IconVerticalSolidList"/>
    <dgm:cxn modelId="{7CB8E8E8-EDB7-441A-9CB5-736A9F480592}" type="presParOf" srcId="{51C8FD4F-C800-48E9-B971-DE29A5F1382F}" destId="{29E55D04-88EE-4B64-9C1B-48EFA82F8D62}" srcOrd="2" destOrd="0" presId="urn:microsoft.com/office/officeart/2018/2/layout/IconVerticalSolidList"/>
    <dgm:cxn modelId="{5238A4D2-F3C3-4279-90F1-F3AFAE68B99A}" type="presParOf" srcId="{51C8FD4F-C800-48E9-B971-DE29A5F1382F}" destId="{81EE1ED8-87F3-4DB5-9206-8C20B6B37752}" srcOrd="3" destOrd="0" presId="urn:microsoft.com/office/officeart/2018/2/layout/IconVerticalSolidList"/>
    <dgm:cxn modelId="{DB2C46CC-1185-4E35-8853-F18856E2996F}" type="presParOf" srcId="{EDF7F2BF-8270-4403-9C56-CD429086B03D}" destId="{D55A2EBF-E46E-457A-AC3B-A021FE354FD5}" srcOrd="5" destOrd="0" presId="urn:microsoft.com/office/officeart/2018/2/layout/IconVerticalSolidList"/>
    <dgm:cxn modelId="{F4D73106-FFD0-414C-B5B2-C2462B1809DF}" type="presParOf" srcId="{EDF7F2BF-8270-4403-9C56-CD429086B03D}" destId="{642A9BC7-E493-451D-ADB4-49B5E27994A1}" srcOrd="6" destOrd="0" presId="urn:microsoft.com/office/officeart/2018/2/layout/IconVerticalSolidList"/>
    <dgm:cxn modelId="{4BA36E5D-E38D-4735-BDD7-720B17221620}" type="presParOf" srcId="{642A9BC7-E493-451D-ADB4-49B5E27994A1}" destId="{0CC7D97A-14EE-4D04-A1B1-3237EAF5FA39}" srcOrd="0" destOrd="0" presId="urn:microsoft.com/office/officeart/2018/2/layout/IconVerticalSolidList"/>
    <dgm:cxn modelId="{90646082-F95F-4856-B00D-652BBFEADECB}" type="presParOf" srcId="{642A9BC7-E493-451D-ADB4-49B5E27994A1}" destId="{96023334-FB2E-4EB2-944C-1935C23AE746}" srcOrd="1" destOrd="0" presId="urn:microsoft.com/office/officeart/2018/2/layout/IconVerticalSolidList"/>
    <dgm:cxn modelId="{EFD40664-79BF-4571-A1FD-ED3A0477FB63}" type="presParOf" srcId="{642A9BC7-E493-451D-ADB4-49B5E27994A1}" destId="{D2AB6829-D432-4802-B8DD-B06F30E8AD15}" srcOrd="2" destOrd="0" presId="urn:microsoft.com/office/officeart/2018/2/layout/IconVerticalSolidList"/>
    <dgm:cxn modelId="{737E4D9D-1493-4CC4-A2B8-A3DDDC474A02}" type="presParOf" srcId="{642A9BC7-E493-451D-ADB4-49B5E27994A1}" destId="{B226DAFC-4BF6-4C79-BB51-53256DAA071A}" srcOrd="3" destOrd="0" presId="urn:microsoft.com/office/officeart/2018/2/layout/IconVerticalSolidList"/>
    <dgm:cxn modelId="{FAD73850-96CD-411E-9FE4-858628769330}" type="presParOf" srcId="{EDF7F2BF-8270-4403-9C56-CD429086B03D}" destId="{74CA0B82-A59F-403A-8712-C20A15023F20}" srcOrd="7" destOrd="0" presId="urn:microsoft.com/office/officeart/2018/2/layout/IconVerticalSolidList"/>
    <dgm:cxn modelId="{9E080B29-6586-44B3-90DA-7C509DC7F9D1}" type="presParOf" srcId="{EDF7F2BF-8270-4403-9C56-CD429086B03D}" destId="{51074A52-E8A1-43D7-B257-946A7C92B7D7}" srcOrd="8" destOrd="0" presId="urn:microsoft.com/office/officeart/2018/2/layout/IconVerticalSolidList"/>
    <dgm:cxn modelId="{CE803853-8F20-4611-8CAE-3BC8196C57CD}" type="presParOf" srcId="{51074A52-E8A1-43D7-B257-946A7C92B7D7}" destId="{B956D9B2-0249-4DA6-A87E-9085F8EB0C75}" srcOrd="0" destOrd="0" presId="urn:microsoft.com/office/officeart/2018/2/layout/IconVerticalSolidList"/>
    <dgm:cxn modelId="{316D8B9F-C72D-42F3-8E48-245A4B08B0EB}" type="presParOf" srcId="{51074A52-E8A1-43D7-B257-946A7C92B7D7}" destId="{CCB61FF3-5CAC-4948-8E93-1319E76E9F65}" srcOrd="1" destOrd="0" presId="urn:microsoft.com/office/officeart/2018/2/layout/IconVerticalSolidList"/>
    <dgm:cxn modelId="{5B3C4A97-AB2E-43B8-9EAE-352937649DE0}" type="presParOf" srcId="{51074A52-E8A1-43D7-B257-946A7C92B7D7}" destId="{635740D7-64B9-4F6F-A9F5-4B656ADA2EB7}" srcOrd="2" destOrd="0" presId="urn:microsoft.com/office/officeart/2018/2/layout/IconVerticalSolidList"/>
    <dgm:cxn modelId="{10A292BF-830F-4402-8B55-480BE1DEF71D}" type="presParOf" srcId="{51074A52-E8A1-43D7-B257-946A7C92B7D7}" destId="{3AB74534-AEB7-4A8A-A991-8C35E333CAF4}"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779F436-0D8E-4FEA-9FC1-66955547836A}"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1680E6FD-CCC5-4D58-8CE7-4F1355053733}">
      <dgm:prSet/>
      <dgm:spPr/>
      <dgm:t>
        <a:bodyPr/>
        <a:lstStyle/>
        <a:p>
          <a:r>
            <a:rPr lang="en-US" dirty="0"/>
            <a:t>Moving-target closed-loop firing </a:t>
          </a:r>
        </a:p>
      </dgm:t>
    </dgm:pt>
    <dgm:pt modelId="{D5E5737B-03D9-442B-9165-87CD942A1AEF}" type="parTrans" cxnId="{1CE65003-97B5-4FCD-802A-5BB96399C8BF}">
      <dgm:prSet/>
      <dgm:spPr/>
      <dgm:t>
        <a:bodyPr/>
        <a:lstStyle/>
        <a:p>
          <a:endParaRPr lang="en-US"/>
        </a:p>
      </dgm:t>
    </dgm:pt>
    <dgm:pt modelId="{FA84A449-EA22-4127-9A66-3F76254CE8E0}" type="sibTrans" cxnId="{1CE65003-97B5-4FCD-802A-5BB96399C8BF}">
      <dgm:prSet/>
      <dgm:spPr/>
      <dgm:t>
        <a:bodyPr/>
        <a:lstStyle/>
        <a:p>
          <a:endParaRPr lang="en-US"/>
        </a:p>
      </dgm:t>
    </dgm:pt>
    <dgm:pt modelId="{570E5EBA-F731-485C-8F01-5F20FBBDB9EB}">
      <dgm:prSet/>
      <dgm:spPr/>
      <dgm:t>
        <a:bodyPr/>
        <a:lstStyle/>
        <a:p>
          <a:r>
            <a:rPr lang="en-US" dirty="0"/>
            <a:t>RPM → velocity calibration </a:t>
          </a:r>
        </a:p>
      </dgm:t>
    </dgm:pt>
    <dgm:pt modelId="{D9FE1A05-8F5C-4D7C-A8B6-7F3262487F0B}" type="parTrans" cxnId="{ADBFD80B-FA12-45CC-8559-75A32F9C25CD}">
      <dgm:prSet/>
      <dgm:spPr/>
      <dgm:t>
        <a:bodyPr/>
        <a:lstStyle/>
        <a:p>
          <a:endParaRPr lang="en-US"/>
        </a:p>
      </dgm:t>
    </dgm:pt>
    <dgm:pt modelId="{ADDD2CA2-EAD8-42C4-A918-C2F8C4D3F11B}" type="sibTrans" cxnId="{ADBFD80B-FA12-45CC-8559-75A32F9C25CD}">
      <dgm:prSet/>
      <dgm:spPr/>
      <dgm:t>
        <a:bodyPr/>
        <a:lstStyle/>
        <a:p>
          <a:endParaRPr lang="en-US"/>
        </a:p>
      </dgm:t>
    </dgm:pt>
    <dgm:pt modelId="{5363B20D-9D66-428F-871F-861670027510}">
      <dgm:prSet/>
      <dgm:spPr/>
      <dgm:t>
        <a:bodyPr/>
        <a:lstStyle/>
        <a:p>
          <a:r>
            <a:rPr lang="en-US" dirty="0"/>
            <a:t>Predictive lead compensation </a:t>
          </a:r>
        </a:p>
      </dgm:t>
    </dgm:pt>
    <dgm:pt modelId="{281DEB19-0810-402B-9939-244CEE9B75B2}" type="parTrans" cxnId="{8BB3AF3D-1DAC-4542-A1DF-B396406D5F3D}">
      <dgm:prSet/>
      <dgm:spPr/>
      <dgm:t>
        <a:bodyPr/>
        <a:lstStyle/>
        <a:p>
          <a:endParaRPr lang="en-US"/>
        </a:p>
      </dgm:t>
    </dgm:pt>
    <dgm:pt modelId="{C4A254AE-128B-4B97-9DC4-DB83399C18AB}" type="sibTrans" cxnId="{8BB3AF3D-1DAC-4542-A1DF-B396406D5F3D}">
      <dgm:prSet/>
      <dgm:spPr/>
      <dgm:t>
        <a:bodyPr/>
        <a:lstStyle/>
        <a:p>
          <a:endParaRPr lang="en-US"/>
        </a:p>
      </dgm:t>
    </dgm:pt>
    <dgm:pt modelId="{14A156CD-F382-4DB8-8A75-845BA4E57B38}">
      <dgm:prSet/>
      <dgm:spPr/>
      <dgm:t>
        <a:bodyPr/>
        <a:lstStyle/>
        <a:p>
          <a:r>
            <a:rPr lang="en-US" dirty="0"/>
            <a:t>Virtual 3D Goal impact detection </a:t>
          </a:r>
        </a:p>
      </dgm:t>
    </dgm:pt>
    <dgm:pt modelId="{AC896304-9F5F-4B74-ABD3-C3C439426E4F}" type="parTrans" cxnId="{CC91BB32-C723-46BD-80D7-C81760CA91CD}">
      <dgm:prSet/>
      <dgm:spPr/>
      <dgm:t>
        <a:bodyPr/>
        <a:lstStyle/>
        <a:p>
          <a:endParaRPr lang="en-US"/>
        </a:p>
      </dgm:t>
    </dgm:pt>
    <dgm:pt modelId="{F35C1F6F-5E61-42C7-89F7-9DB28F67A2AE}" type="sibTrans" cxnId="{CC91BB32-C723-46BD-80D7-C81760CA91CD}">
      <dgm:prSet/>
      <dgm:spPr/>
      <dgm:t>
        <a:bodyPr/>
        <a:lstStyle/>
        <a:p>
          <a:endParaRPr lang="en-US"/>
        </a:p>
      </dgm:t>
    </dgm:pt>
    <dgm:pt modelId="{30A653F7-5633-4B7C-BE7E-6483470D9909}">
      <dgm:prSet/>
      <dgm:spPr/>
      <dgm:t>
        <a:bodyPr/>
        <a:lstStyle/>
        <a:p>
          <a:r>
            <a:rPr lang="en-US" dirty="0"/>
            <a:t>SLAM camera re-</a:t>
          </a:r>
          <a:r>
            <a:rPr lang="en-US" dirty="0" err="1"/>
            <a:t>localisation</a:t>
          </a:r>
          <a:r>
            <a:rPr lang="en-US" dirty="0"/>
            <a:t> </a:t>
          </a:r>
        </a:p>
      </dgm:t>
    </dgm:pt>
    <dgm:pt modelId="{945782AA-179B-4746-A72A-DDEA63C35DD0}" type="sibTrans" cxnId="{EB72374D-1740-4F37-9BE3-E67510829E96}">
      <dgm:prSet/>
      <dgm:spPr/>
      <dgm:t>
        <a:bodyPr/>
        <a:lstStyle/>
        <a:p>
          <a:endParaRPr lang="en-US"/>
        </a:p>
      </dgm:t>
    </dgm:pt>
    <dgm:pt modelId="{358B4F9E-8516-4972-BACE-5781F8B82379}" type="parTrans" cxnId="{EB72374D-1740-4F37-9BE3-E67510829E96}">
      <dgm:prSet/>
      <dgm:spPr/>
      <dgm:t>
        <a:bodyPr/>
        <a:lstStyle/>
        <a:p>
          <a:endParaRPr lang="en-US"/>
        </a:p>
      </dgm:t>
    </dgm:pt>
    <dgm:pt modelId="{3CF354B7-D3A3-47FF-A3D5-731C208E2ABE}" type="pres">
      <dgm:prSet presAssocID="{6779F436-0D8E-4FEA-9FC1-66955547836A}" presName="outerComposite" presStyleCnt="0">
        <dgm:presLayoutVars>
          <dgm:chMax val="5"/>
          <dgm:dir/>
          <dgm:resizeHandles val="exact"/>
        </dgm:presLayoutVars>
      </dgm:prSet>
      <dgm:spPr/>
    </dgm:pt>
    <dgm:pt modelId="{41B27D24-0D0C-4D16-BF43-88C124366E99}" type="pres">
      <dgm:prSet presAssocID="{6779F436-0D8E-4FEA-9FC1-66955547836A}" presName="dummyMaxCanvas" presStyleCnt="0">
        <dgm:presLayoutVars/>
      </dgm:prSet>
      <dgm:spPr/>
    </dgm:pt>
    <dgm:pt modelId="{EF81C61F-C0D8-44C8-A73A-7D3D5300A0BF}" type="pres">
      <dgm:prSet presAssocID="{6779F436-0D8E-4FEA-9FC1-66955547836A}" presName="FiveNodes_1" presStyleLbl="node1" presStyleIdx="0" presStyleCnt="5">
        <dgm:presLayoutVars>
          <dgm:bulletEnabled val="1"/>
        </dgm:presLayoutVars>
      </dgm:prSet>
      <dgm:spPr/>
    </dgm:pt>
    <dgm:pt modelId="{7C65E19E-975B-4BE9-93F7-E938702749C9}" type="pres">
      <dgm:prSet presAssocID="{6779F436-0D8E-4FEA-9FC1-66955547836A}" presName="FiveNodes_2" presStyleLbl="node1" presStyleIdx="1" presStyleCnt="5">
        <dgm:presLayoutVars>
          <dgm:bulletEnabled val="1"/>
        </dgm:presLayoutVars>
      </dgm:prSet>
      <dgm:spPr/>
    </dgm:pt>
    <dgm:pt modelId="{9A04EDD2-1AF8-4E6F-8CA1-DC4A110EDC7C}" type="pres">
      <dgm:prSet presAssocID="{6779F436-0D8E-4FEA-9FC1-66955547836A}" presName="FiveNodes_3" presStyleLbl="node1" presStyleIdx="2" presStyleCnt="5">
        <dgm:presLayoutVars>
          <dgm:bulletEnabled val="1"/>
        </dgm:presLayoutVars>
      </dgm:prSet>
      <dgm:spPr/>
    </dgm:pt>
    <dgm:pt modelId="{BC703FF6-9085-4614-9B2E-AECA75D7EB27}" type="pres">
      <dgm:prSet presAssocID="{6779F436-0D8E-4FEA-9FC1-66955547836A}" presName="FiveNodes_4" presStyleLbl="node1" presStyleIdx="3" presStyleCnt="5">
        <dgm:presLayoutVars>
          <dgm:bulletEnabled val="1"/>
        </dgm:presLayoutVars>
      </dgm:prSet>
      <dgm:spPr/>
    </dgm:pt>
    <dgm:pt modelId="{B1F81418-E456-45C0-8FA7-D499CD4A2358}" type="pres">
      <dgm:prSet presAssocID="{6779F436-0D8E-4FEA-9FC1-66955547836A}" presName="FiveNodes_5" presStyleLbl="node1" presStyleIdx="4" presStyleCnt="5">
        <dgm:presLayoutVars>
          <dgm:bulletEnabled val="1"/>
        </dgm:presLayoutVars>
      </dgm:prSet>
      <dgm:spPr/>
    </dgm:pt>
    <dgm:pt modelId="{D5FA34CE-4D60-419D-8613-AEBBC62F2E5B}" type="pres">
      <dgm:prSet presAssocID="{6779F436-0D8E-4FEA-9FC1-66955547836A}" presName="FiveConn_1-2" presStyleLbl="fgAccFollowNode1" presStyleIdx="0" presStyleCnt="4">
        <dgm:presLayoutVars>
          <dgm:bulletEnabled val="1"/>
        </dgm:presLayoutVars>
      </dgm:prSet>
      <dgm:spPr/>
    </dgm:pt>
    <dgm:pt modelId="{D4040B5F-5356-42B4-B595-D91B13FA0833}" type="pres">
      <dgm:prSet presAssocID="{6779F436-0D8E-4FEA-9FC1-66955547836A}" presName="FiveConn_2-3" presStyleLbl="fgAccFollowNode1" presStyleIdx="1" presStyleCnt="4">
        <dgm:presLayoutVars>
          <dgm:bulletEnabled val="1"/>
        </dgm:presLayoutVars>
      </dgm:prSet>
      <dgm:spPr/>
    </dgm:pt>
    <dgm:pt modelId="{07267D81-6D5C-477B-B5C3-021EC791F446}" type="pres">
      <dgm:prSet presAssocID="{6779F436-0D8E-4FEA-9FC1-66955547836A}" presName="FiveConn_3-4" presStyleLbl="fgAccFollowNode1" presStyleIdx="2" presStyleCnt="4">
        <dgm:presLayoutVars>
          <dgm:bulletEnabled val="1"/>
        </dgm:presLayoutVars>
      </dgm:prSet>
      <dgm:spPr/>
    </dgm:pt>
    <dgm:pt modelId="{7E8E2707-9F3C-47E5-8B11-1F4BFFC28220}" type="pres">
      <dgm:prSet presAssocID="{6779F436-0D8E-4FEA-9FC1-66955547836A}" presName="FiveConn_4-5" presStyleLbl="fgAccFollowNode1" presStyleIdx="3" presStyleCnt="4">
        <dgm:presLayoutVars>
          <dgm:bulletEnabled val="1"/>
        </dgm:presLayoutVars>
      </dgm:prSet>
      <dgm:spPr/>
    </dgm:pt>
    <dgm:pt modelId="{B42D0375-514B-40FC-9F26-BB8953581E3B}" type="pres">
      <dgm:prSet presAssocID="{6779F436-0D8E-4FEA-9FC1-66955547836A}" presName="FiveNodes_1_text" presStyleLbl="node1" presStyleIdx="4" presStyleCnt="5">
        <dgm:presLayoutVars>
          <dgm:bulletEnabled val="1"/>
        </dgm:presLayoutVars>
      </dgm:prSet>
      <dgm:spPr/>
    </dgm:pt>
    <dgm:pt modelId="{6FDB0D13-E6B2-491A-B407-9F5445E44D00}" type="pres">
      <dgm:prSet presAssocID="{6779F436-0D8E-4FEA-9FC1-66955547836A}" presName="FiveNodes_2_text" presStyleLbl="node1" presStyleIdx="4" presStyleCnt="5">
        <dgm:presLayoutVars>
          <dgm:bulletEnabled val="1"/>
        </dgm:presLayoutVars>
      </dgm:prSet>
      <dgm:spPr/>
    </dgm:pt>
    <dgm:pt modelId="{75A37236-07B5-4065-A3A7-5B2FBC310EB2}" type="pres">
      <dgm:prSet presAssocID="{6779F436-0D8E-4FEA-9FC1-66955547836A}" presName="FiveNodes_3_text" presStyleLbl="node1" presStyleIdx="4" presStyleCnt="5">
        <dgm:presLayoutVars>
          <dgm:bulletEnabled val="1"/>
        </dgm:presLayoutVars>
      </dgm:prSet>
      <dgm:spPr/>
    </dgm:pt>
    <dgm:pt modelId="{DC9A705D-01E4-4BB3-87A7-26E7D48D6663}" type="pres">
      <dgm:prSet presAssocID="{6779F436-0D8E-4FEA-9FC1-66955547836A}" presName="FiveNodes_4_text" presStyleLbl="node1" presStyleIdx="4" presStyleCnt="5">
        <dgm:presLayoutVars>
          <dgm:bulletEnabled val="1"/>
        </dgm:presLayoutVars>
      </dgm:prSet>
      <dgm:spPr/>
    </dgm:pt>
    <dgm:pt modelId="{B8DADE8B-DC7D-4E3B-8903-4ED89FC59D69}" type="pres">
      <dgm:prSet presAssocID="{6779F436-0D8E-4FEA-9FC1-66955547836A}" presName="FiveNodes_5_text" presStyleLbl="node1" presStyleIdx="4" presStyleCnt="5">
        <dgm:presLayoutVars>
          <dgm:bulletEnabled val="1"/>
        </dgm:presLayoutVars>
      </dgm:prSet>
      <dgm:spPr/>
    </dgm:pt>
  </dgm:ptLst>
  <dgm:cxnLst>
    <dgm:cxn modelId="{E22AC700-7557-42AF-AD45-37750D4E53F7}" type="presOf" srcId="{ADDD2CA2-EAD8-42C4-A918-C2F8C4D3F11B}" destId="{D4040B5F-5356-42B4-B595-D91B13FA0833}" srcOrd="0" destOrd="0" presId="urn:microsoft.com/office/officeart/2005/8/layout/vProcess5"/>
    <dgm:cxn modelId="{8DCB4503-26E6-4E28-955F-DEC9A949A74F}" type="presOf" srcId="{C4A254AE-128B-4B97-9DC4-DB83399C18AB}" destId="{07267D81-6D5C-477B-B5C3-021EC791F446}" srcOrd="0" destOrd="0" presId="urn:microsoft.com/office/officeart/2005/8/layout/vProcess5"/>
    <dgm:cxn modelId="{1CE65003-97B5-4FCD-802A-5BB96399C8BF}" srcId="{6779F436-0D8E-4FEA-9FC1-66955547836A}" destId="{1680E6FD-CCC5-4D58-8CE7-4F1355053733}" srcOrd="0" destOrd="0" parTransId="{D5E5737B-03D9-442B-9165-87CD942A1AEF}" sibTransId="{FA84A449-EA22-4127-9A66-3F76254CE8E0}"/>
    <dgm:cxn modelId="{ADBFD80B-FA12-45CC-8559-75A32F9C25CD}" srcId="{6779F436-0D8E-4FEA-9FC1-66955547836A}" destId="{570E5EBA-F731-485C-8F01-5F20FBBDB9EB}" srcOrd="1" destOrd="0" parTransId="{D9FE1A05-8F5C-4D7C-A8B6-7F3262487F0B}" sibTransId="{ADDD2CA2-EAD8-42C4-A918-C2F8C4D3F11B}"/>
    <dgm:cxn modelId="{3970F70F-7FF4-4D0D-BB6F-8E4905C8016D}" type="presOf" srcId="{5363B20D-9D66-428F-871F-861670027510}" destId="{75A37236-07B5-4065-A3A7-5B2FBC310EB2}" srcOrd="1" destOrd="0" presId="urn:microsoft.com/office/officeart/2005/8/layout/vProcess5"/>
    <dgm:cxn modelId="{CC91BB32-C723-46BD-80D7-C81760CA91CD}" srcId="{6779F436-0D8E-4FEA-9FC1-66955547836A}" destId="{14A156CD-F382-4DB8-8A75-845BA4E57B38}" srcOrd="4" destOrd="0" parTransId="{AC896304-9F5F-4B74-ABD3-C3C439426E4F}" sibTransId="{F35C1F6F-5E61-42C7-89F7-9DB28F67A2AE}"/>
    <dgm:cxn modelId="{8BB3AF3D-1DAC-4542-A1DF-B396406D5F3D}" srcId="{6779F436-0D8E-4FEA-9FC1-66955547836A}" destId="{5363B20D-9D66-428F-871F-861670027510}" srcOrd="2" destOrd="0" parTransId="{281DEB19-0810-402B-9939-244CEE9B75B2}" sibTransId="{C4A254AE-128B-4B97-9DC4-DB83399C18AB}"/>
    <dgm:cxn modelId="{18E3DD64-B2EA-4258-85FA-B6BC8EB9C935}" type="presOf" srcId="{570E5EBA-F731-485C-8F01-5F20FBBDB9EB}" destId="{7C65E19E-975B-4BE9-93F7-E938702749C9}" srcOrd="0" destOrd="0" presId="urn:microsoft.com/office/officeart/2005/8/layout/vProcess5"/>
    <dgm:cxn modelId="{EB72374D-1740-4F37-9BE3-E67510829E96}" srcId="{6779F436-0D8E-4FEA-9FC1-66955547836A}" destId="{30A653F7-5633-4B7C-BE7E-6483470D9909}" srcOrd="3" destOrd="0" parTransId="{358B4F9E-8516-4972-BACE-5781F8B82379}" sibTransId="{945782AA-179B-4746-A72A-DDEA63C35DD0}"/>
    <dgm:cxn modelId="{319A1274-FDA9-4B1F-AC49-402E01C2264B}" type="presOf" srcId="{30A653F7-5633-4B7C-BE7E-6483470D9909}" destId="{BC703FF6-9085-4614-9B2E-AECA75D7EB27}" srcOrd="0" destOrd="0" presId="urn:microsoft.com/office/officeart/2005/8/layout/vProcess5"/>
    <dgm:cxn modelId="{FC26BB90-AE8D-4AF6-A46A-E562738CF253}" type="presOf" srcId="{14A156CD-F382-4DB8-8A75-845BA4E57B38}" destId="{B1F81418-E456-45C0-8FA7-D499CD4A2358}" srcOrd="0" destOrd="0" presId="urn:microsoft.com/office/officeart/2005/8/layout/vProcess5"/>
    <dgm:cxn modelId="{07C92297-BC77-4CCA-A3E3-A717FE3AF580}" type="presOf" srcId="{FA84A449-EA22-4127-9A66-3F76254CE8E0}" destId="{D5FA34CE-4D60-419D-8613-AEBBC62F2E5B}" srcOrd="0" destOrd="0" presId="urn:microsoft.com/office/officeart/2005/8/layout/vProcess5"/>
    <dgm:cxn modelId="{C8B44F97-3FFF-4F74-8282-B2CBDEE824BD}" type="presOf" srcId="{5363B20D-9D66-428F-871F-861670027510}" destId="{9A04EDD2-1AF8-4E6F-8CA1-DC4A110EDC7C}" srcOrd="0" destOrd="0" presId="urn:microsoft.com/office/officeart/2005/8/layout/vProcess5"/>
    <dgm:cxn modelId="{155C13A0-806F-49F9-80D8-0C3A64B7727B}" type="presOf" srcId="{570E5EBA-F731-485C-8F01-5F20FBBDB9EB}" destId="{6FDB0D13-E6B2-491A-B407-9F5445E44D00}" srcOrd="1" destOrd="0" presId="urn:microsoft.com/office/officeart/2005/8/layout/vProcess5"/>
    <dgm:cxn modelId="{91838CA3-93ED-4761-8CA3-3A594A098FB8}" type="presOf" srcId="{14A156CD-F382-4DB8-8A75-845BA4E57B38}" destId="{B8DADE8B-DC7D-4E3B-8903-4ED89FC59D69}" srcOrd="1" destOrd="0" presId="urn:microsoft.com/office/officeart/2005/8/layout/vProcess5"/>
    <dgm:cxn modelId="{F4263FA9-2BB7-4B1C-A411-DE28EA255839}" type="presOf" srcId="{30A653F7-5633-4B7C-BE7E-6483470D9909}" destId="{DC9A705D-01E4-4BB3-87A7-26E7D48D6663}" srcOrd="1" destOrd="0" presId="urn:microsoft.com/office/officeart/2005/8/layout/vProcess5"/>
    <dgm:cxn modelId="{90F7ACB8-C6EB-4727-BE62-9FB4228902B4}" type="presOf" srcId="{945782AA-179B-4746-A72A-DDEA63C35DD0}" destId="{7E8E2707-9F3C-47E5-8B11-1F4BFFC28220}" srcOrd="0" destOrd="0" presId="urn:microsoft.com/office/officeart/2005/8/layout/vProcess5"/>
    <dgm:cxn modelId="{5FE510D2-BFC6-4894-871C-5D493E1F9DB1}" type="presOf" srcId="{1680E6FD-CCC5-4D58-8CE7-4F1355053733}" destId="{EF81C61F-C0D8-44C8-A73A-7D3D5300A0BF}" srcOrd="0" destOrd="0" presId="urn:microsoft.com/office/officeart/2005/8/layout/vProcess5"/>
    <dgm:cxn modelId="{E1D6ABD8-AA5C-43E3-9174-A3BA3349E704}" type="presOf" srcId="{6779F436-0D8E-4FEA-9FC1-66955547836A}" destId="{3CF354B7-D3A3-47FF-A3D5-731C208E2ABE}" srcOrd="0" destOrd="0" presId="urn:microsoft.com/office/officeart/2005/8/layout/vProcess5"/>
    <dgm:cxn modelId="{19F4A6FE-CAE2-41B0-B80B-19C362DA85C6}" type="presOf" srcId="{1680E6FD-CCC5-4D58-8CE7-4F1355053733}" destId="{B42D0375-514B-40FC-9F26-BB8953581E3B}" srcOrd="1" destOrd="0" presId="urn:microsoft.com/office/officeart/2005/8/layout/vProcess5"/>
    <dgm:cxn modelId="{B97643FA-8DBE-475B-AF57-FC694B7A4039}" type="presParOf" srcId="{3CF354B7-D3A3-47FF-A3D5-731C208E2ABE}" destId="{41B27D24-0D0C-4D16-BF43-88C124366E99}" srcOrd="0" destOrd="0" presId="urn:microsoft.com/office/officeart/2005/8/layout/vProcess5"/>
    <dgm:cxn modelId="{FE693E06-BF80-4778-92B3-E1B145CB960B}" type="presParOf" srcId="{3CF354B7-D3A3-47FF-A3D5-731C208E2ABE}" destId="{EF81C61F-C0D8-44C8-A73A-7D3D5300A0BF}" srcOrd="1" destOrd="0" presId="urn:microsoft.com/office/officeart/2005/8/layout/vProcess5"/>
    <dgm:cxn modelId="{B4604624-1F2A-463E-ABD6-F3E95B4768A5}" type="presParOf" srcId="{3CF354B7-D3A3-47FF-A3D5-731C208E2ABE}" destId="{7C65E19E-975B-4BE9-93F7-E938702749C9}" srcOrd="2" destOrd="0" presId="urn:microsoft.com/office/officeart/2005/8/layout/vProcess5"/>
    <dgm:cxn modelId="{DEBF2DF7-68C5-4755-B1C3-2C6985FCC5FB}" type="presParOf" srcId="{3CF354B7-D3A3-47FF-A3D5-731C208E2ABE}" destId="{9A04EDD2-1AF8-4E6F-8CA1-DC4A110EDC7C}" srcOrd="3" destOrd="0" presId="urn:microsoft.com/office/officeart/2005/8/layout/vProcess5"/>
    <dgm:cxn modelId="{93211705-8FB1-4A20-9C0F-4F6494CC7D91}" type="presParOf" srcId="{3CF354B7-D3A3-47FF-A3D5-731C208E2ABE}" destId="{BC703FF6-9085-4614-9B2E-AECA75D7EB27}" srcOrd="4" destOrd="0" presId="urn:microsoft.com/office/officeart/2005/8/layout/vProcess5"/>
    <dgm:cxn modelId="{D42EA15E-E30A-4580-ACF2-91EE45AD9F08}" type="presParOf" srcId="{3CF354B7-D3A3-47FF-A3D5-731C208E2ABE}" destId="{B1F81418-E456-45C0-8FA7-D499CD4A2358}" srcOrd="5" destOrd="0" presId="urn:microsoft.com/office/officeart/2005/8/layout/vProcess5"/>
    <dgm:cxn modelId="{CC7CDC25-2402-4DC2-AA90-41BEC69BA786}" type="presParOf" srcId="{3CF354B7-D3A3-47FF-A3D5-731C208E2ABE}" destId="{D5FA34CE-4D60-419D-8613-AEBBC62F2E5B}" srcOrd="6" destOrd="0" presId="urn:microsoft.com/office/officeart/2005/8/layout/vProcess5"/>
    <dgm:cxn modelId="{7C6BD69B-B215-4C22-9C61-3E41BBE43C44}" type="presParOf" srcId="{3CF354B7-D3A3-47FF-A3D5-731C208E2ABE}" destId="{D4040B5F-5356-42B4-B595-D91B13FA0833}" srcOrd="7" destOrd="0" presId="urn:microsoft.com/office/officeart/2005/8/layout/vProcess5"/>
    <dgm:cxn modelId="{254031B2-DC80-4AE4-9A9F-BEB8FF32E3EE}" type="presParOf" srcId="{3CF354B7-D3A3-47FF-A3D5-731C208E2ABE}" destId="{07267D81-6D5C-477B-B5C3-021EC791F446}" srcOrd="8" destOrd="0" presId="urn:microsoft.com/office/officeart/2005/8/layout/vProcess5"/>
    <dgm:cxn modelId="{F4557D17-8DED-43AC-BE80-4C2C94AD3530}" type="presParOf" srcId="{3CF354B7-D3A3-47FF-A3D5-731C208E2ABE}" destId="{7E8E2707-9F3C-47E5-8B11-1F4BFFC28220}" srcOrd="9" destOrd="0" presId="urn:microsoft.com/office/officeart/2005/8/layout/vProcess5"/>
    <dgm:cxn modelId="{951C1EBD-7790-4C44-A231-100C5DB8A366}" type="presParOf" srcId="{3CF354B7-D3A3-47FF-A3D5-731C208E2ABE}" destId="{B42D0375-514B-40FC-9F26-BB8953581E3B}" srcOrd="10" destOrd="0" presId="urn:microsoft.com/office/officeart/2005/8/layout/vProcess5"/>
    <dgm:cxn modelId="{A3FB99C8-C41A-404B-94D9-CE679F6848AF}" type="presParOf" srcId="{3CF354B7-D3A3-47FF-A3D5-731C208E2ABE}" destId="{6FDB0D13-E6B2-491A-B407-9F5445E44D00}" srcOrd="11" destOrd="0" presId="urn:microsoft.com/office/officeart/2005/8/layout/vProcess5"/>
    <dgm:cxn modelId="{56559BD0-A02C-4E94-8763-27856EE27B43}" type="presParOf" srcId="{3CF354B7-D3A3-47FF-A3D5-731C208E2ABE}" destId="{75A37236-07B5-4065-A3A7-5B2FBC310EB2}" srcOrd="12" destOrd="0" presId="urn:microsoft.com/office/officeart/2005/8/layout/vProcess5"/>
    <dgm:cxn modelId="{0BF8410B-6B8B-4FB5-BE10-D170AB0F71F4}" type="presParOf" srcId="{3CF354B7-D3A3-47FF-A3D5-731C208E2ABE}" destId="{DC9A705D-01E4-4BB3-87A7-26E7D48D6663}" srcOrd="13" destOrd="0" presId="urn:microsoft.com/office/officeart/2005/8/layout/vProcess5"/>
    <dgm:cxn modelId="{B676F57E-0588-463D-9501-5599DDDE5F74}" type="presParOf" srcId="{3CF354B7-D3A3-47FF-A3D5-731C208E2ABE}" destId="{B8DADE8B-DC7D-4E3B-8903-4ED89FC59D69}"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41246-42E7-42B0-9DAA-9738ED811F41}">
      <dsp:nvSpPr>
        <dsp:cNvPr id="0" name=""/>
        <dsp:cNvSpPr/>
      </dsp:nvSpPr>
      <dsp:spPr>
        <a:xfrm>
          <a:off x="0" y="59639"/>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Inherited platform:</a:t>
          </a:r>
          <a:br>
            <a:rPr lang="en-US" sz="2200" kern="1200" dirty="0"/>
          </a:br>
          <a:r>
            <a:rPr lang="en-US" sz="2200" kern="1200" dirty="0"/>
            <a:t>2-DOF BLM, flywheels, ESP32, pan/tilt</a:t>
          </a:r>
        </a:p>
      </dsp:txBody>
      <dsp:txXfrm>
        <a:off x="42722" y="102361"/>
        <a:ext cx="5883555" cy="789716"/>
      </dsp:txXfrm>
    </dsp:sp>
    <dsp:sp modelId="{B27E5A58-80C2-43D1-B216-DD7F5BB89C0A}">
      <dsp:nvSpPr>
        <dsp:cNvPr id="0" name=""/>
        <dsp:cNvSpPr/>
      </dsp:nvSpPr>
      <dsp:spPr>
        <a:xfrm>
          <a:off x="0" y="998159"/>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Thesis contribution:</a:t>
          </a:r>
          <a:br>
            <a:rPr lang="en-US" sz="2200" kern="1200" dirty="0"/>
          </a:br>
          <a:r>
            <a:rPr lang="en-US" sz="2200" kern="1200" dirty="0"/>
            <a:t>4-camera perception, 3D triangulation, targeting</a:t>
          </a:r>
        </a:p>
      </dsp:txBody>
      <dsp:txXfrm>
        <a:off x="42722" y="1040881"/>
        <a:ext cx="5883555" cy="789716"/>
      </dsp:txXfrm>
    </dsp:sp>
    <dsp:sp modelId="{1DBC4697-0941-4BB3-A420-A71A18693C76}">
      <dsp:nvSpPr>
        <dsp:cNvPr id="0" name=""/>
        <dsp:cNvSpPr/>
      </dsp:nvSpPr>
      <dsp:spPr>
        <a:xfrm>
          <a:off x="0" y="1936680"/>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Core integration:</a:t>
          </a:r>
          <a:br>
            <a:rPr lang="en-US" sz="2200" kern="1200" dirty="0"/>
          </a:br>
          <a:r>
            <a:rPr lang="en-US" sz="2200" kern="1200" dirty="0"/>
            <a:t>pose → prediction → ballistics → safety gate</a:t>
          </a:r>
        </a:p>
      </dsp:txBody>
      <dsp:txXfrm>
        <a:off x="42722" y="1979402"/>
        <a:ext cx="5883555" cy="789716"/>
      </dsp:txXfrm>
    </dsp:sp>
    <dsp:sp modelId="{02B9E093-835E-4DB9-80F2-17392336FE53}">
      <dsp:nvSpPr>
        <dsp:cNvPr id="0" name=""/>
        <dsp:cNvSpPr/>
      </dsp:nvSpPr>
      <dsp:spPr>
        <a:xfrm>
          <a:off x="0" y="2875200"/>
          <a:ext cx="5968999" cy="8751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Validated scope:</a:t>
          </a:r>
          <a:br>
            <a:rPr lang="en-US" sz="2200" kern="1200" dirty="0"/>
          </a:br>
          <a:r>
            <a:rPr lang="en-US" sz="2200" kern="1200" dirty="0"/>
            <a:t>static/live-aim tests; moving-target firing pending</a:t>
          </a:r>
        </a:p>
      </dsp:txBody>
      <dsp:txXfrm>
        <a:off x="42722" y="2917922"/>
        <a:ext cx="5883555" cy="7897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1D9C4-A2F6-4786-958C-661317504254}">
      <dsp:nvSpPr>
        <dsp:cNvPr id="0" name=""/>
        <dsp:cNvSpPr/>
      </dsp:nvSpPr>
      <dsp:spPr>
        <a:xfrm>
          <a:off x="0" y="304799"/>
          <a:ext cx="11176000" cy="40640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D08757-8152-4299-A276-FBF5B37ABB26}">
      <dsp:nvSpPr>
        <dsp:cNvPr id="0" name=""/>
        <dsp:cNvSpPr/>
      </dsp:nvSpPr>
      <dsp:spPr>
        <a:xfrm>
          <a:off x="5034" y="0"/>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66725">
            <a:lnSpc>
              <a:spcPct val="90000"/>
            </a:lnSpc>
            <a:spcBef>
              <a:spcPct val="0"/>
            </a:spcBef>
            <a:spcAft>
              <a:spcPct val="35000"/>
            </a:spcAft>
            <a:buNone/>
          </a:pPr>
          <a:r>
            <a:rPr lang="en-US" sz="1050" b="1" kern="1200" dirty="0"/>
            <a:t>Synchronized 4-view capture at 1280×720.</a:t>
          </a:r>
          <a:endParaRPr lang="ru-RU" sz="1050" b="1" kern="1200" dirty="0"/>
        </a:p>
      </dsp:txBody>
      <dsp:txXfrm>
        <a:off x="5034" y="0"/>
        <a:ext cx="2421284" cy="406400"/>
      </dsp:txXfrm>
    </dsp:sp>
    <dsp:sp modelId="{7D6490B3-1E55-4465-B03C-EB7AFE3A27EA}">
      <dsp:nvSpPr>
        <dsp:cNvPr id="0" name=""/>
        <dsp:cNvSpPr/>
      </dsp:nvSpPr>
      <dsp:spPr>
        <a:xfrm>
          <a:off x="1164876"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542E7C-C2C7-4573-A937-4D83A70DDAFC}">
      <dsp:nvSpPr>
        <dsp:cNvPr id="0" name=""/>
        <dsp:cNvSpPr/>
      </dsp:nvSpPr>
      <dsp:spPr>
        <a:xfrm>
          <a:off x="2547383" y="609599"/>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66725">
            <a:lnSpc>
              <a:spcPct val="90000"/>
            </a:lnSpc>
            <a:spcBef>
              <a:spcPct val="0"/>
            </a:spcBef>
            <a:spcAft>
              <a:spcPct val="35000"/>
            </a:spcAft>
            <a:buNone/>
          </a:pPr>
          <a:r>
            <a:rPr lang="en-US" sz="1050" b="1" kern="1200" dirty="0"/>
            <a:t>DLT/SVD triangulation with robust outlier rejection.</a:t>
          </a:r>
          <a:endParaRPr lang="ru-RU" sz="1050" b="1" kern="1200" dirty="0"/>
        </a:p>
      </dsp:txBody>
      <dsp:txXfrm>
        <a:off x="2547383" y="609599"/>
        <a:ext cx="2421284" cy="406400"/>
      </dsp:txXfrm>
    </dsp:sp>
    <dsp:sp modelId="{1646903D-DFAA-472B-9B73-53ED89CA8391}">
      <dsp:nvSpPr>
        <dsp:cNvPr id="0" name=""/>
        <dsp:cNvSpPr/>
      </dsp:nvSpPr>
      <dsp:spPr>
        <a:xfrm>
          <a:off x="3707225"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770158-BE5F-4924-A3F0-8753C082ABAC}">
      <dsp:nvSpPr>
        <dsp:cNvPr id="0" name=""/>
        <dsp:cNvSpPr/>
      </dsp:nvSpPr>
      <dsp:spPr>
        <a:xfrm>
          <a:off x="5089732" y="0"/>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b" anchorCtr="0">
          <a:noAutofit/>
        </a:bodyPr>
        <a:lstStyle/>
        <a:p>
          <a:pPr marL="0" lvl="0" indent="0" algn="ctr" defTabSz="466725">
            <a:lnSpc>
              <a:spcPct val="90000"/>
            </a:lnSpc>
            <a:spcBef>
              <a:spcPct val="0"/>
            </a:spcBef>
            <a:spcAft>
              <a:spcPct val="35000"/>
            </a:spcAft>
            <a:buNone/>
          </a:pPr>
          <a:r>
            <a:rPr lang="en-US" sz="1050" b="1" kern="1200" dirty="0"/>
            <a:t>Adaptive EMA + constant-velocity Kalman for predictive lead-time compensation.</a:t>
          </a:r>
          <a:endParaRPr lang="ru-RU" sz="1050" b="1" kern="1200" dirty="0"/>
        </a:p>
      </dsp:txBody>
      <dsp:txXfrm>
        <a:off x="5089732" y="0"/>
        <a:ext cx="2421284" cy="406400"/>
      </dsp:txXfrm>
    </dsp:sp>
    <dsp:sp modelId="{115C05C3-BC68-40A6-8B44-2670B0C49640}">
      <dsp:nvSpPr>
        <dsp:cNvPr id="0" name=""/>
        <dsp:cNvSpPr/>
      </dsp:nvSpPr>
      <dsp:spPr>
        <a:xfrm>
          <a:off x="6249574"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B47425-981B-4E54-A46E-88113407D89A}">
      <dsp:nvSpPr>
        <dsp:cNvPr id="0" name=""/>
        <dsp:cNvSpPr/>
      </dsp:nvSpPr>
      <dsp:spPr>
        <a:xfrm>
          <a:off x="7632081" y="609599"/>
          <a:ext cx="2421284" cy="40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ctr" defTabSz="466725">
            <a:lnSpc>
              <a:spcPct val="90000"/>
            </a:lnSpc>
            <a:spcBef>
              <a:spcPct val="0"/>
            </a:spcBef>
            <a:spcAft>
              <a:spcPct val="35000"/>
            </a:spcAft>
            <a:buNone/>
          </a:pPr>
          <a:r>
            <a:rPr lang="en-US" sz="1050" b="1" kern="1200" dirty="0"/>
            <a:t>921,600-baud serial link to ESP32 cooperative FSM.</a:t>
          </a:r>
          <a:endParaRPr lang="ru-RU" sz="1050" b="1" kern="1200" dirty="0"/>
        </a:p>
      </dsp:txBody>
      <dsp:txXfrm>
        <a:off x="7632081" y="609599"/>
        <a:ext cx="2421284" cy="406400"/>
      </dsp:txXfrm>
    </dsp:sp>
    <dsp:sp modelId="{BB585EAF-FF22-4D4F-B7C4-155FDEB819EA}">
      <dsp:nvSpPr>
        <dsp:cNvPr id="0" name=""/>
        <dsp:cNvSpPr/>
      </dsp:nvSpPr>
      <dsp:spPr>
        <a:xfrm>
          <a:off x="8791923" y="457200"/>
          <a:ext cx="101600" cy="1016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FABA1C-BE9E-4BE3-93F2-9AFEA165AE84}">
      <dsp:nvSpPr>
        <dsp:cNvPr id="0" name=""/>
        <dsp:cNvSpPr/>
      </dsp:nvSpPr>
      <dsp:spPr>
        <a:xfrm>
          <a:off x="0" y="4834"/>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1646E0-8309-4C84-A1AF-92EE1D5A09C5}">
      <dsp:nvSpPr>
        <dsp:cNvPr id="0" name=""/>
        <dsp:cNvSpPr/>
      </dsp:nvSpPr>
      <dsp:spPr>
        <a:xfrm>
          <a:off x="185794" y="143027"/>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712A30-E0FF-476B-9C1B-6AFFDE65CD45}">
      <dsp:nvSpPr>
        <dsp:cNvPr id="0" name=""/>
        <dsp:cNvSpPr/>
      </dsp:nvSpPr>
      <dsp:spPr>
        <a:xfrm>
          <a:off x="709725" y="4834"/>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Boundary</a:t>
          </a:r>
        </a:p>
        <a:p>
          <a:pPr marL="0" lvl="0" indent="0" algn="l" defTabSz="622300">
            <a:lnSpc>
              <a:spcPct val="100000"/>
            </a:lnSpc>
            <a:spcBef>
              <a:spcPct val="0"/>
            </a:spcBef>
            <a:spcAft>
              <a:spcPct val="35000"/>
            </a:spcAft>
            <a:buNone/>
          </a:pPr>
          <a:r>
            <a:rPr lang="en-US" sz="1400" kern="1200" dirty="0"/>
            <a:t>Moving-target closed-loop firing pending</a:t>
          </a:r>
        </a:p>
      </dsp:txBody>
      <dsp:txXfrm>
        <a:off x="709725" y="4834"/>
        <a:ext cx="5248344" cy="633388"/>
      </dsp:txXfrm>
    </dsp:sp>
    <dsp:sp modelId="{8367CE92-AECD-411A-B35F-4A3FFDAF8A65}">
      <dsp:nvSpPr>
        <dsp:cNvPr id="0" name=""/>
        <dsp:cNvSpPr/>
      </dsp:nvSpPr>
      <dsp:spPr>
        <a:xfrm>
          <a:off x="0" y="796569"/>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6E11CF-4963-437E-86B8-2FA030CAEE9B}">
      <dsp:nvSpPr>
        <dsp:cNvPr id="0" name=""/>
        <dsp:cNvSpPr/>
      </dsp:nvSpPr>
      <dsp:spPr>
        <a:xfrm>
          <a:off x="185794" y="934763"/>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1BA8A1-A050-4476-85E7-D9A46566BE45}">
      <dsp:nvSpPr>
        <dsp:cNvPr id="0" name=""/>
        <dsp:cNvSpPr/>
      </dsp:nvSpPr>
      <dsp:spPr>
        <a:xfrm>
          <a:off x="709725" y="796569"/>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err="1"/>
            <a:t>Generalisation</a:t>
          </a:r>
          <a:br>
            <a:rPr lang="en-US" sz="1400" kern="1200" dirty="0"/>
          </a:br>
          <a:r>
            <a:rPr lang="en-US" sz="1400" kern="1200" dirty="0"/>
            <a:t>Single subject, one arena, indoor lighting</a:t>
          </a:r>
        </a:p>
      </dsp:txBody>
      <dsp:txXfrm>
        <a:off x="709725" y="796569"/>
        <a:ext cx="5248344" cy="633388"/>
      </dsp:txXfrm>
    </dsp:sp>
    <dsp:sp modelId="{7AFEEFC5-7D33-45E7-B737-BC6E1DE5CE37}">
      <dsp:nvSpPr>
        <dsp:cNvPr id="0" name=""/>
        <dsp:cNvSpPr/>
      </dsp:nvSpPr>
      <dsp:spPr>
        <a:xfrm>
          <a:off x="0" y="1588305"/>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157971-A7B1-4945-A200-8226D8260E7C}">
      <dsp:nvSpPr>
        <dsp:cNvPr id="0" name=""/>
        <dsp:cNvSpPr/>
      </dsp:nvSpPr>
      <dsp:spPr>
        <a:xfrm>
          <a:off x="185794" y="1726499"/>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EE1ED8-87F3-4DB5-9206-8C20B6B37752}">
      <dsp:nvSpPr>
        <dsp:cNvPr id="0" name=""/>
        <dsp:cNvSpPr/>
      </dsp:nvSpPr>
      <dsp:spPr>
        <a:xfrm>
          <a:off x="709725" y="1588305"/>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Visibility</a:t>
          </a:r>
          <a:br>
            <a:rPr lang="en-US" sz="1400" kern="1200" dirty="0"/>
          </a:br>
          <a:r>
            <a:rPr lang="en-US" sz="1400" kern="1200" dirty="0"/>
            <a:t>19 / 81 joint trials invalid from occlusion</a:t>
          </a:r>
        </a:p>
      </dsp:txBody>
      <dsp:txXfrm>
        <a:off x="709725" y="1588305"/>
        <a:ext cx="5248344" cy="633388"/>
      </dsp:txXfrm>
    </dsp:sp>
    <dsp:sp modelId="{0CC7D97A-14EE-4D04-A1B1-3237EAF5FA39}">
      <dsp:nvSpPr>
        <dsp:cNvPr id="0" name=""/>
        <dsp:cNvSpPr/>
      </dsp:nvSpPr>
      <dsp:spPr>
        <a:xfrm>
          <a:off x="0" y="2380041"/>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023334-FB2E-4EB2-944C-1935C23AE746}">
      <dsp:nvSpPr>
        <dsp:cNvPr id="0" name=""/>
        <dsp:cNvSpPr/>
      </dsp:nvSpPr>
      <dsp:spPr>
        <a:xfrm>
          <a:off x="185794" y="2518235"/>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26DAFC-4BF6-4C79-BB51-53256DAA071A}">
      <dsp:nvSpPr>
        <dsp:cNvPr id="0" name=""/>
        <dsp:cNvSpPr/>
      </dsp:nvSpPr>
      <dsp:spPr>
        <a:xfrm>
          <a:off x="709725" y="2380041"/>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Ballistics</a:t>
          </a:r>
          <a:br>
            <a:rPr lang="en-US" sz="1400" kern="1200" dirty="0"/>
          </a:br>
          <a:r>
            <a:rPr lang="en-US" sz="1400" kern="1200" dirty="0"/>
            <a:t>RPM → velocity calibration missing</a:t>
          </a:r>
        </a:p>
      </dsp:txBody>
      <dsp:txXfrm>
        <a:off x="709725" y="2380041"/>
        <a:ext cx="5248344" cy="633388"/>
      </dsp:txXfrm>
    </dsp:sp>
    <dsp:sp modelId="{B956D9B2-0249-4DA6-A87E-9085F8EB0C75}">
      <dsp:nvSpPr>
        <dsp:cNvPr id="0" name=""/>
        <dsp:cNvSpPr/>
      </dsp:nvSpPr>
      <dsp:spPr>
        <a:xfrm>
          <a:off x="0" y="3171777"/>
          <a:ext cx="5968999" cy="6141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B61FF3-5CAC-4948-8E93-1319E76E9F65}">
      <dsp:nvSpPr>
        <dsp:cNvPr id="0" name=""/>
        <dsp:cNvSpPr/>
      </dsp:nvSpPr>
      <dsp:spPr>
        <a:xfrm>
          <a:off x="185794" y="3309971"/>
          <a:ext cx="338137" cy="337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B74534-AEB7-4A8A-A991-8C35E333CAF4}">
      <dsp:nvSpPr>
        <dsp:cNvPr id="0" name=""/>
        <dsp:cNvSpPr/>
      </dsp:nvSpPr>
      <dsp:spPr>
        <a:xfrm>
          <a:off x="709725" y="3171777"/>
          <a:ext cx="5248344" cy="633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034" tIns="67034" rIns="67034" bIns="67034" numCol="1" spcCol="1270" anchor="ctr" anchorCtr="0">
          <a:noAutofit/>
        </a:bodyPr>
        <a:lstStyle/>
        <a:p>
          <a:pPr marL="0" lvl="0" indent="0" algn="l" defTabSz="622300">
            <a:lnSpc>
              <a:spcPct val="100000"/>
            </a:lnSpc>
            <a:spcBef>
              <a:spcPct val="0"/>
            </a:spcBef>
            <a:spcAft>
              <a:spcPct val="35000"/>
            </a:spcAft>
            <a:buNone/>
          </a:pPr>
          <a:r>
            <a:rPr lang="en-US" sz="1400" b="1" kern="1200" dirty="0"/>
            <a:t>Hardware drift</a:t>
          </a:r>
          <a:br>
            <a:rPr lang="en-US" sz="1400" kern="1200" dirty="0"/>
          </a:br>
          <a:r>
            <a:rPr lang="en-US" sz="1400" kern="1200" dirty="0"/>
            <a:t>Pan/tilt homing needs more validation</a:t>
          </a:r>
        </a:p>
      </dsp:txBody>
      <dsp:txXfrm>
        <a:off x="709725" y="3171777"/>
        <a:ext cx="5248344" cy="6333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1C61F-C0D8-44C8-A73A-7D3D5300A0BF}">
      <dsp:nvSpPr>
        <dsp:cNvPr id="0" name=""/>
        <dsp:cNvSpPr/>
      </dsp:nvSpPr>
      <dsp:spPr>
        <a:xfrm>
          <a:off x="0" y="0"/>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Moving-target closed-loop firing </a:t>
          </a:r>
        </a:p>
      </dsp:txBody>
      <dsp:txXfrm>
        <a:off x="16739" y="16739"/>
        <a:ext cx="3619200" cy="538022"/>
      </dsp:txXfrm>
    </dsp:sp>
    <dsp:sp modelId="{7C65E19E-975B-4BE9-93F7-E938702749C9}">
      <dsp:nvSpPr>
        <dsp:cNvPr id="0" name=""/>
        <dsp:cNvSpPr/>
      </dsp:nvSpPr>
      <dsp:spPr>
        <a:xfrm>
          <a:off x="321310" y="650875"/>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RPM → velocity calibration </a:t>
          </a:r>
        </a:p>
      </dsp:txBody>
      <dsp:txXfrm>
        <a:off x="338049" y="667614"/>
        <a:ext cx="3576497" cy="538022"/>
      </dsp:txXfrm>
    </dsp:sp>
    <dsp:sp modelId="{9A04EDD2-1AF8-4E6F-8CA1-DC4A110EDC7C}">
      <dsp:nvSpPr>
        <dsp:cNvPr id="0" name=""/>
        <dsp:cNvSpPr/>
      </dsp:nvSpPr>
      <dsp:spPr>
        <a:xfrm>
          <a:off x="642619" y="1301750"/>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Predictive lead compensation </a:t>
          </a:r>
        </a:p>
      </dsp:txBody>
      <dsp:txXfrm>
        <a:off x="659358" y="1318489"/>
        <a:ext cx="3576497" cy="538022"/>
      </dsp:txXfrm>
    </dsp:sp>
    <dsp:sp modelId="{BC703FF6-9085-4614-9B2E-AECA75D7EB27}">
      <dsp:nvSpPr>
        <dsp:cNvPr id="0" name=""/>
        <dsp:cNvSpPr/>
      </dsp:nvSpPr>
      <dsp:spPr>
        <a:xfrm>
          <a:off x="963930" y="1952625"/>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SLAM camera re-</a:t>
          </a:r>
          <a:r>
            <a:rPr lang="en-US" sz="2000" kern="1200" dirty="0" err="1"/>
            <a:t>localisation</a:t>
          </a:r>
          <a:r>
            <a:rPr lang="en-US" sz="2000" kern="1200" dirty="0"/>
            <a:t> </a:t>
          </a:r>
        </a:p>
      </dsp:txBody>
      <dsp:txXfrm>
        <a:off x="980669" y="1969364"/>
        <a:ext cx="3576497" cy="538022"/>
      </dsp:txXfrm>
    </dsp:sp>
    <dsp:sp modelId="{B1F81418-E456-45C0-8FA7-D499CD4A2358}">
      <dsp:nvSpPr>
        <dsp:cNvPr id="0" name=""/>
        <dsp:cNvSpPr/>
      </dsp:nvSpPr>
      <dsp:spPr>
        <a:xfrm>
          <a:off x="1285239" y="2603500"/>
          <a:ext cx="4302760" cy="5715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Virtual 3D Goal impact detection </a:t>
          </a:r>
        </a:p>
      </dsp:txBody>
      <dsp:txXfrm>
        <a:off x="1301978" y="2620239"/>
        <a:ext cx="3576497" cy="538022"/>
      </dsp:txXfrm>
    </dsp:sp>
    <dsp:sp modelId="{D5FA34CE-4D60-419D-8613-AEBBC62F2E5B}">
      <dsp:nvSpPr>
        <dsp:cNvPr id="0" name=""/>
        <dsp:cNvSpPr/>
      </dsp:nvSpPr>
      <dsp:spPr>
        <a:xfrm>
          <a:off x="3931285" y="417512"/>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014867" y="417512"/>
        <a:ext cx="204311" cy="279535"/>
      </dsp:txXfrm>
    </dsp:sp>
    <dsp:sp modelId="{D4040B5F-5356-42B4-B595-D91B13FA0833}">
      <dsp:nvSpPr>
        <dsp:cNvPr id="0" name=""/>
        <dsp:cNvSpPr/>
      </dsp:nvSpPr>
      <dsp:spPr>
        <a:xfrm>
          <a:off x="4252595" y="1068387"/>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336177" y="1068387"/>
        <a:ext cx="204311" cy="279535"/>
      </dsp:txXfrm>
    </dsp:sp>
    <dsp:sp modelId="{07267D81-6D5C-477B-B5C3-021EC791F446}">
      <dsp:nvSpPr>
        <dsp:cNvPr id="0" name=""/>
        <dsp:cNvSpPr/>
      </dsp:nvSpPr>
      <dsp:spPr>
        <a:xfrm>
          <a:off x="4573905" y="1709737"/>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657487" y="1709737"/>
        <a:ext cx="204311" cy="279535"/>
      </dsp:txXfrm>
    </dsp:sp>
    <dsp:sp modelId="{7E8E2707-9F3C-47E5-8B11-1F4BFFC28220}">
      <dsp:nvSpPr>
        <dsp:cNvPr id="0" name=""/>
        <dsp:cNvSpPr/>
      </dsp:nvSpPr>
      <dsp:spPr>
        <a:xfrm>
          <a:off x="4895215" y="2366962"/>
          <a:ext cx="371475" cy="371475"/>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978797" y="2366962"/>
        <a:ext cx="204311" cy="2795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405DDC-645D-4F19-B649-03CBAC92BEAD}" type="datetimeFigureOut">
              <a:rPr lang="ru-RU" smtClean="0"/>
              <a:t>27.04.2026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E1293-4B82-4F96-9A0E-CA5D6EA9A2BC}" type="slidenum">
              <a:rPr lang="ru-RU" smtClean="0"/>
              <a:t>‹#›</a:t>
            </a:fld>
            <a:endParaRPr lang="ru-RU"/>
          </a:p>
        </p:txBody>
      </p:sp>
    </p:spTree>
    <p:extLst>
      <p:ext uri="{BB962C8B-B14F-4D97-AF65-F5344CB8AC3E}">
        <p14:creationId xmlns:p14="http://schemas.microsoft.com/office/powerpoint/2010/main" val="1924321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Good afternoon, committee. The title of the thesis is Pose-Guided Predictive Ballistics with Multi-Camera 3D Tracking. I am Hanush, MSc ECE. I will speak for about seventeen minutes and leave a three minute buffer inside our fifteen to twenty minute slot. I would ask that questions be held until the end so the argument can land as a whole. Transition cue: let me start with why this problem matters before we open any code or geometry.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project starts from a simple gap.</a:t>
            </a:r>
          </a:p>
          <a:p>
            <a:r>
              <a:rPr lang="en-US" dirty="0"/>
              <a:t>Commercial ball launchers can repeat shots, but they cannot react to the athlete. They do not know where the player is or which body part should receive the ball.</a:t>
            </a:r>
          </a:p>
          <a:p>
            <a:r>
              <a:rPr lang="en-US" dirty="0"/>
              <a:t>Professional motion-capture systems can track the body accurately, but they are expensive, marker-based, and mainly used in labs.</a:t>
            </a:r>
          </a:p>
          <a:p>
            <a:r>
              <a:rPr lang="en-US" dirty="0"/>
              <a:t>So, the motivation is to build a low-cost, </a:t>
            </a:r>
            <a:r>
              <a:rPr lang="en-US" dirty="0" err="1"/>
              <a:t>markerless</a:t>
            </a:r>
            <a:r>
              <a:rPr lang="en-US" dirty="0"/>
              <a:t> system that uses cameras to estimate body joints in 3D and guide the ball launcher.”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“The main question is whether a ball launcher can use real-time 3D body-joint tracking for safe autonomous aiming.</a:t>
            </a:r>
          </a:p>
          <a:p>
            <a:r>
              <a:rPr lang="en-US" dirty="0"/>
              <a:t>I focused on four objectives.</a:t>
            </a:r>
          </a:p>
          <a:p>
            <a:r>
              <a:rPr lang="en-US" dirty="0"/>
              <a:t>First, ball </a:t>
            </a:r>
            <a:r>
              <a:rPr lang="en-US" dirty="0" err="1"/>
              <a:t>localisation</a:t>
            </a:r>
            <a:r>
              <a:rPr lang="en-US" dirty="0"/>
              <a:t>. The target was below 120 </a:t>
            </a:r>
            <a:r>
              <a:rPr lang="en-US" dirty="0" err="1"/>
              <a:t>millimetres</a:t>
            </a:r>
            <a:r>
              <a:rPr lang="en-US" dirty="0"/>
              <a:t> mean 3D error, and the achieved result was 95.17 </a:t>
            </a:r>
            <a:r>
              <a:rPr lang="en-US" dirty="0" err="1"/>
              <a:t>millimetres</a:t>
            </a:r>
            <a:r>
              <a:rPr lang="en-US" dirty="0"/>
              <a:t>.</a:t>
            </a:r>
          </a:p>
          <a:p>
            <a:r>
              <a:rPr lang="en-US" dirty="0"/>
              <a:t>Second, joint </a:t>
            </a:r>
            <a:r>
              <a:rPr lang="en-US" dirty="0" err="1"/>
              <a:t>localisation</a:t>
            </a:r>
            <a:r>
              <a:rPr lang="en-US" dirty="0"/>
              <a:t>. The target was below 180 </a:t>
            </a:r>
            <a:r>
              <a:rPr lang="en-US" dirty="0" err="1"/>
              <a:t>millimetres</a:t>
            </a:r>
            <a:r>
              <a:rPr lang="en-US" dirty="0"/>
              <a:t>, and the achieved result was 143.38 </a:t>
            </a:r>
            <a:r>
              <a:rPr lang="en-US" dirty="0" err="1"/>
              <a:t>millimetres</a:t>
            </a:r>
            <a:r>
              <a:rPr lang="en-US" dirty="0"/>
              <a:t> over 62 valid trials.</a:t>
            </a:r>
          </a:p>
          <a:p>
            <a:r>
              <a:rPr lang="en-US" dirty="0"/>
              <a:t>Third, safe integration. The system passed stages S0 to S4, and the emergency stop response was below 100 milliseconds.</a:t>
            </a:r>
          </a:p>
          <a:p>
            <a:r>
              <a:rPr lang="en-US" dirty="0"/>
              <a:t>Fourth, practicality. The perception system uses four USB cameras and costs about 200 US dollars.</a:t>
            </a:r>
          </a:p>
          <a:p>
            <a:r>
              <a:rPr lang="en-US" dirty="0"/>
              <a:t>So, the system is validated in static and live-aim conditions. Moving-target closed-loop firing remains the next milestone.”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Here I compare my system with the closest existing categories.</a:t>
            </a:r>
          </a:p>
          <a:p>
            <a:r>
              <a:rPr lang="en-US" dirty="0"/>
              <a:t>Commercial ball launchers are affordable and useful for repetitive training, but they are open-loop. They do not sense the athlete and cannot adapt the shot to a specific body part.</a:t>
            </a:r>
          </a:p>
          <a:p>
            <a:r>
              <a:rPr lang="en-US" dirty="0"/>
              <a:t>Optical motion-capture systems, such as Vicon or </a:t>
            </a:r>
            <a:r>
              <a:rPr lang="en-US" dirty="0" err="1"/>
              <a:t>OptiTrack</a:t>
            </a:r>
            <a:r>
              <a:rPr lang="en-US" dirty="0"/>
              <a:t>, provide very high 3D accuracy. However, they are expensive, marker-based, and mainly used for tracking only. They are not integrated with a ball launcher.</a:t>
            </a:r>
          </a:p>
          <a:p>
            <a:r>
              <a:rPr lang="en-US" dirty="0"/>
              <a:t>Vision-guided sports robots are closer to my work because they combine vision with physical actuation. However, they usually target fixed zones, for example in tennis or table-tennis setups, rather than named body joints such as the knee, hip, or shoulder.</a:t>
            </a:r>
          </a:p>
          <a:p>
            <a:r>
              <a:rPr lang="en-US" dirty="0"/>
              <a:t>My thesis focuses on this gap: a low-cost, </a:t>
            </a:r>
            <a:r>
              <a:rPr lang="en-US" dirty="0" err="1"/>
              <a:t>markerless</a:t>
            </a:r>
            <a:r>
              <a:rPr lang="en-US" dirty="0"/>
              <a:t> system that reconstructs body joints in 3D and connects them to a real Ball Launching Machine. </a:t>
            </a:r>
            <a:r>
              <a:rPr lang="en-US"/>
              <a:t>In this work, static and live-aim integration are validated, while moving-target closed-loop firing remains the next milestone.”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t>This slide is where I clearly separate inherited hardware from my thesis contribution. The launcher platform did not start from zero, but the thesis contribution is not mechanical duplication. It is the integration of perception, triangulation, ballistic computation, safety gating, and evaluation into one working autonomous loop. Saying this early helps the committee attribute the right novelty to the thesis rather than to the entire machine history.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“The system runs as a left-to-right pipeline. First, four camera frames are captured, then YOLO detects the ball and pose </a:t>
            </a:r>
            <a:r>
              <a:rPr lang="en-US" dirty="0" err="1"/>
              <a:t>keypoints</a:t>
            </a:r>
            <a:r>
              <a:rPr lang="en-US" dirty="0"/>
              <a:t> using </a:t>
            </a:r>
            <a:r>
              <a:rPr lang="en-US" dirty="0" err="1"/>
              <a:t>TensorRT</a:t>
            </a:r>
            <a:r>
              <a:rPr lang="en-US" dirty="0"/>
              <a:t> FP16. The detections are triangulated into 3D using SVD-DLT, then smoothed with adaptive EMA and a per-joint Kalman filter.</a:t>
            </a:r>
          </a:p>
          <a:p>
            <a:r>
              <a:rPr lang="en-US" dirty="0"/>
              <a:t>The predicted joint position is sent through UDP to the Python supervisor, where the ballistic solver computes pitch, yaw, and wheel speed. The command is then sent over a 921,600-baud serial link to the ESP32 finite-state machine.</a:t>
            </a:r>
          </a:p>
          <a:p>
            <a:r>
              <a:rPr lang="en-US" dirty="0"/>
              <a:t>The important point is timing. The compute pipeline takes about 15 milliseconds end-to-end, which is well below the 67 millisecond frame budget for 15 FPS. This gives around 52 milliseconds of headroom for overhead, mechanical settling, and safety checks.”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shows the hardware implementation.</a:t>
            </a:r>
          </a:p>
          <a:p>
            <a:r>
              <a:rPr lang="en-US" dirty="0"/>
              <a:t>The perception side uses four low-cost Hikvision USB cameras, each running at 1280 by 720 resolution. These cameras are placed around the garage arena and calibrated into one shared 3D coordinate frame using </a:t>
            </a:r>
            <a:r>
              <a:rPr lang="en-US" dirty="0" err="1"/>
              <a:t>AprilTag</a:t>
            </a:r>
            <a:r>
              <a:rPr lang="en-US" dirty="0"/>
              <a:t> markers on the walls.</a:t>
            </a:r>
          </a:p>
          <a:p>
            <a:r>
              <a:rPr lang="en-US" dirty="0"/>
              <a:t>The actuation side uses the inherited Ball Launching Machine platform. It includes an ESP32 controller, NEMA-23 stepper motors for pan and tilt, worm-gear reducers for self-locking, and counter-rotating flywheels for launching the ball.</a:t>
            </a:r>
          </a:p>
          <a:p>
            <a:r>
              <a:rPr lang="en-US" dirty="0"/>
              <a:t>The important point is that the expensive part of professional motion capture is replaced by a low-cost camera setup. The perception hardware is about 200 US dollars, while the launcher hardware is integrated as the actuation platform.”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shows the software implementation. The perception system uses YOLO-Pose for body joints and a custom YOLO detector for the ball. Both are accelerated with </a:t>
            </a:r>
            <a:r>
              <a:rPr lang="en-US" dirty="0" err="1"/>
              <a:t>TensorRT</a:t>
            </a:r>
            <a:r>
              <a:rPr lang="en-US" dirty="0"/>
              <a:t> FP16 so that four-camera inference fits inside the 15 FPS timing budget.</a:t>
            </a:r>
          </a:p>
          <a:p>
            <a:r>
              <a:rPr lang="en-US" dirty="0"/>
              <a:t>After detection, the system triangulates 2D observations into 3D using SVD-DLT. The result is smoothed with adaptive EMA and predicted using a constant-velocity Kalman filter.</a:t>
            </a:r>
          </a:p>
          <a:p>
            <a:r>
              <a:rPr lang="en-US" dirty="0"/>
              <a:t>The Python supervisor then applies safety gates and computes the ballistic command: pitch, yaw, and wheel RPM. Finally, the ESP32 firmware receives the command and executes it through the finite-state machine.</a:t>
            </a:r>
          </a:p>
          <a:p>
            <a:r>
              <a:rPr lang="en-US" dirty="0"/>
              <a:t>So the key idea is that the software converts camera detections into safe launcher commands.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explains how the four cameras are connected into one coordinate system.</a:t>
            </a:r>
          </a:p>
          <a:p>
            <a:r>
              <a:rPr lang="en-US" dirty="0"/>
              <a:t>First, each camera is intrinsically calibrated using a </a:t>
            </a:r>
            <a:r>
              <a:rPr lang="en-US" dirty="0" err="1"/>
              <a:t>ChArUco</a:t>
            </a:r>
            <a:r>
              <a:rPr lang="en-US" dirty="0"/>
              <a:t> board. This gives the camera matrix and distortion parameters.</a:t>
            </a:r>
          </a:p>
          <a:p>
            <a:r>
              <a:rPr lang="en-US" dirty="0"/>
              <a:t>Second, the arena uses 24 </a:t>
            </a:r>
            <a:r>
              <a:rPr lang="en-US" dirty="0" err="1"/>
              <a:t>AprilTag</a:t>
            </a:r>
            <a:r>
              <a:rPr lang="en-US" dirty="0"/>
              <a:t> markers on the walls. These are used for extrinsic calibration, so each camera has a known position and orientation in the same world frame.</a:t>
            </a:r>
          </a:p>
          <a:p>
            <a:r>
              <a:rPr lang="en-US" dirty="0"/>
              <a:t>The origin is defined at the arena floor corner, and all coordinates are measured in </a:t>
            </a:r>
            <a:r>
              <a:rPr lang="en-US" dirty="0" err="1"/>
              <a:t>millimetres</a:t>
            </a:r>
            <a:r>
              <a:rPr lang="en-US" dirty="0"/>
              <a:t>.</a:t>
            </a:r>
          </a:p>
          <a:p>
            <a:r>
              <a:rPr lang="en-US" dirty="0"/>
              <a:t>After this, 2D detections from multiple cameras can be triangulated using SVD-DLT. For human joints, I require at least three camera views because pose </a:t>
            </a:r>
            <a:r>
              <a:rPr lang="en-US" dirty="0" err="1"/>
              <a:t>keypoints</a:t>
            </a:r>
            <a:r>
              <a:rPr lang="en-US" dirty="0"/>
              <a:t> are noisier than ball detections.”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For evaluation, I used four main experiment groups.</a:t>
            </a:r>
          </a:p>
          <a:p>
            <a:r>
              <a:rPr lang="en-US" dirty="0"/>
              <a:t>First, ball </a:t>
            </a:r>
            <a:r>
              <a:rPr lang="en-US" dirty="0" err="1"/>
              <a:t>localisation</a:t>
            </a:r>
            <a:r>
              <a:rPr lang="en-US" dirty="0"/>
              <a:t> was tested using a 36-point static grid. After bias correction, the mean 3D error was 95.17 </a:t>
            </a:r>
            <a:r>
              <a:rPr lang="en-US" dirty="0" err="1"/>
              <a:t>millimetres</a:t>
            </a:r>
            <a:r>
              <a:rPr lang="en-US" dirty="0"/>
              <a:t>.</a:t>
            </a:r>
          </a:p>
          <a:p>
            <a:r>
              <a:rPr lang="en-US" dirty="0"/>
              <a:t>Second, joint </a:t>
            </a:r>
            <a:r>
              <a:rPr lang="en-US" dirty="0" err="1"/>
              <a:t>localisation</a:t>
            </a:r>
            <a:r>
              <a:rPr lang="en-US" dirty="0"/>
              <a:t> was tested using a joint-touch protocol. Out of 81 trials, 62 were valid, with a mean 3D error of 143.38 </a:t>
            </a:r>
            <a:r>
              <a:rPr lang="en-US" dirty="0" err="1"/>
              <a:t>millimetres</a:t>
            </a:r>
            <a:r>
              <a:rPr lang="en-US" dirty="0"/>
              <a:t>.</a:t>
            </a:r>
          </a:p>
          <a:p>
            <a:r>
              <a:rPr lang="en-US" dirty="0"/>
              <a:t>Third, I tested dynamic clips such as slow ball motion, fast ball motion, and no-ball scenes to check stability and false positives.</a:t>
            </a:r>
          </a:p>
          <a:p>
            <a:r>
              <a:rPr lang="en-US" dirty="0"/>
              <a:t>Finally, the BLM integration was tested using a staged safety protocol from S0 to S4, with JSONL logging for every decision. This makes each command traceable and keeps the evaluation safety-gated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a:t>
            </a:r>
            <a:r>
              <a:rPr lang="en-US" dirty="0" err="1"/>
              <a:t>summarises</a:t>
            </a:r>
            <a:r>
              <a:rPr lang="en-US" dirty="0"/>
              <a:t> the main results.</a:t>
            </a:r>
          </a:p>
          <a:p>
            <a:r>
              <a:rPr lang="en-US" dirty="0"/>
              <a:t>For ball </a:t>
            </a:r>
            <a:r>
              <a:rPr lang="en-US" dirty="0" err="1"/>
              <a:t>localisation</a:t>
            </a:r>
            <a:r>
              <a:rPr lang="en-US" dirty="0"/>
              <a:t>, the corrected mean 3D error was 95.17 </a:t>
            </a:r>
            <a:r>
              <a:rPr lang="en-US" dirty="0" err="1"/>
              <a:t>millimetres</a:t>
            </a:r>
            <a:r>
              <a:rPr lang="en-US" dirty="0"/>
              <a:t>, which is below the 120 </a:t>
            </a:r>
            <a:r>
              <a:rPr lang="en-US" dirty="0" err="1"/>
              <a:t>millimetre</a:t>
            </a:r>
            <a:r>
              <a:rPr lang="en-US" dirty="0"/>
              <a:t> target.</a:t>
            </a:r>
          </a:p>
          <a:p>
            <a:r>
              <a:rPr lang="en-US" dirty="0"/>
              <a:t>For joint </a:t>
            </a:r>
            <a:r>
              <a:rPr lang="en-US" dirty="0" err="1"/>
              <a:t>localisation</a:t>
            </a:r>
            <a:r>
              <a:rPr lang="en-US" dirty="0"/>
              <a:t>, the mean error was 143.38 </a:t>
            </a:r>
            <a:r>
              <a:rPr lang="en-US" dirty="0" err="1"/>
              <a:t>millimetres</a:t>
            </a:r>
            <a:r>
              <a:rPr lang="en-US" dirty="0"/>
              <a:t> across 62 valid trials, below the 180 </a:t>
            </a:r>
            <a:r>
              <a:rPr lang="en-US" dirty="0" err="1"/>
              <a:t>millimetre</a:t>
            </a:r>
            <a:r>
              <a:rPr lang="en-US" dirty="0"/>
              <a:t> target. The knee had the lowest error, while the shoulder had the highest error because it is higher in the arena and has weaker camera overlap.</a:t>
            </a:r>
          </a:p>
          <a:p>
            <a:r>
              <a:rPr lang="en-US" dirty="0"/>
              <a:t>The safety result was also validated in the static and live-aim regime. The emergency stop response was below 100 milliseconds.</a:t>
            </a:r>
          </a:p>
          <a:p>
            <a:r>
              <a:rPr lang="en-US" dirty="0"/>
              <a:t>Finally, the software runs at 15 FPS. YOLO-Pose with </a:t>
            </a:r>
            <a:r>
              <a:rPr lang="en-US" dirty="0" err="1"/>
              <a:t>TensorRT</a:t>
            </a:r>
            <a:r>
              <a:rPr lang="en-US" dirty="0"/>
              <a:t> processes a four-camera batch in about 6.2 milliseconds, which fits within the real-time frame budget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slide </a:t>
            </a:r>
            <a:r>
              <a:rPr lang="en-US" dirty="0" err="1"/>
              <a:t>summarises</a:t>
            </a:r>
            <a:r>
              <a:rPr lang="en-US" dirty="0"/>
              <a:t> the main limitations.</a:t>
            </a:r>
          </a:p>
          <a:p>
            <a:r>
              <a:rPr lang="en-US" dirty="0"/>
              <a:t>The system is validated for perception, 3D targeting, safety gates, and static or live-aim tests. However, fully autonomous closed-loop firing at a moving subject has not yet been validated, and I define this clearly as the next milestone.</a:t>
            </a:r>
          </a:p>
          <a:p>
            <a:r>
              <a:rPr lang="en-US" dirty="0"/>
              <a:t>There are also practical limitations. The evaluation used one subject, one indoor arena, and controlled lighting. In the joint-touch experiment, 19 out of 81 trials were invalid mainly because the joint was not visible from enough cameras.</a:t>
            </a:r>
          </a:p>
          <a:p>
            <a:r>
              <a:rPr lang="en-US" dirty="0"/>
              <a:t>Another limitation is the ballistic model. The RPM-to-velocity calibration is still missing, so future work should measure the real exit velocity of the ball at different wheel speeds.</a:t>
            </a:r>
          </a:p>
          <a:p>
            <a:r>
              <a:rPr lang="en-US" dirty="0"/>
              <a:t>Finally, the Kalman filter works well for smooth walking or jogging, but abrupt jumps are harder because they violate the constant-velocity assumption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To conclude, this thesis makes four main contributions.</a:t>
            </a:r>
          </a:p>
          <a:p>
            <a:r>
              <a:rPr lang="en-US" dirty="0"/>
              <a:t>First, it demonstrates pose-reactive aiming, where the launcher computes pitch, yaw, and wheel-speed commands from live 3D body-joint positions.</a:t>
            </a:r>
          </a:p>
          <a:p>
            <a:r>
              <a:rPr lang="en-US" dirty="0"/>
              <a:t>Second, it shows that low-cost 3D perception is feasible using four commodity USB cameras and open-source vision tools, with perception hardware around 200 US dollars.</a:t>
            </a:r>
          </a:p>
          <a:p>
            <a:r>
              <a:rPr lang="en-US" dirty="0"/>
              <a:t>Third, it contributes a safety-gated integration protocol. The system passed stages S0 to S4, the emergency stop response was below 100 milliseconds, and every actuation decision was logged.</a:t>
            </a:r>
          </a:p>
          <a:p>
            <a:r>
              <a:rPr lang="en-US" dirty="0"/>
              <a:t>Fourth, it integrates a training-mode interface where voice commands can select joints and control the system without bypassing the safety gates.</a:t>
            </a:r>
          </a:p>
          <a:p>
            <a:r>
              <a:rPr lang="en-US" dirty="0"/>
              <a:t>Overall, the thesis provides a strong partial validation of the pose-guided BLM concept. The remaining milestone is full closed-loop firing at a moving subject.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This final slide shows the roadmap and safety framing.</a:t>
            </a:r>
          </a:p>
          <a:p>
            <a:r>
              <a:rPr lang="en-US" dirty="0"/>
              <a:t>The immediate next milestone is moving-target closed-loop firing. To do that properly, the RPM-to-velocity calibration must first be completed, because the system needs the ball flight time to aim at the predicted future joint position.</a:t>
            </a:r>
          </a:p>
          <a:p>
            <a:r>
              <a:rPr lang="en-US" dirty="0"/>
              <a:t>After that, the next steps are predictive lead compensation, SLAM-based camera re-</a:t>
            </a:r>
            <a:r>
              <a:rPr lang="en-US" dirty="0" err="1"/>
              <a:t>localisation</a:t>
            </a:r>
            <a:r>
              <a:rPr lang="en-US" dirty="0"/>
              <a:t>, and the Virtual 3D Goal, which would measure ball impact using the same camera system instead of physical sensors.</a:t>
            </a:r>
          </a:p>
          <a:p>
            <a:r>
              <a:rPr lang="en-US" dirty="0"/>
              <a:t>On the safety side, the design is aligned with machinery and robotics safety principles: risk assessment, safety-related control, electrical safety, emergency stop </a:t>
            </a:r>
            <a:r>
              <a:rPr lang="en-US" dirty="0" err="1"/>
              <a:t>behaviour</a:t>
            </a:r>
            <a:r>
              <a:rPr lang="en-US" dirty="0"/>
              <a:t>, and human exclusion during operation.</a:t>
            </a:r>
          </a:p>
          <a:p>
            <a:r>
              <a:rPr lang="en-US" dirty="0"/>
              <a:t>So future work is not only about increasing autonomy. It is about closing the moving-target loop while keeping the system safe, traceable, and ethically controlled.”</a:t>
            </a:r>
          </a:p>
          <a:p>
            <a:br>
              <a:rPr lang="en-US" dirty="0"/>
            </a:b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Play if asked for a demo or if a three-to-five-minute buffer opens. Mute audio. Keep the clip to twenty or thirty seconds; longer loops lose the panel. Before pressing play, state what they are looking at: four-camera capture, live triangulation, and Kalman-smoothed joint trace. If the video cannot be embedded inline on the target machine, substitute the mosaic2d fallback from V-02 in the assets checklist and narrate the same framing.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what happens if X fails. Walk from L1 down: software gates first, then hardware interlocks, then the human authority. Key points to volunteer: the angle clamp and RPM gate are each implemented twice, once in Python and once on the ESP32, so either layer alone is sufficient. The hardware E-STOP is normally-closed so a broken wire stops the machine, not starts it. Close by naming the link-loss watchdog as the answer to network-drop questions.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if the panel asks about real-time guarantees. Before pointing at numbers, name the three dominant stages: YOLO inference, triangulation plus Kalman, and mechanical settling. Volunteer that the ninety-fifth percentile for perception stays inside two frame intervals at fifteen FPS, which is why the Kalman predict-step of two hundred to four hundred milliseconds covers worst-case launcher travel. If pushed, note that the latency table is the artifact behind the hundred-and-twenty millisecond claim on slide six.</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
          <p:cNvSpPr>
            <a:spLocks noGrp="1"/>
          </p:cNvSpPr>
          <p:nvPr>
            <p:ph type="body" idx="1"/>
          </p:nvPr>
        </p:nvSpPr>
        <p:spPr/>
        <p:txBody>
          <a:bodyPr/>
          <a:lstStyle/>
          <a:p>
            <a:r>
              <a:rPr lang="en-US" dirty="0"/>
              <a:t>Use only if asked which courses prepared you for this. Pick two rows to highlight, not five. Signals and Systems maps directly to the Kalman filter and the EMA smoother. Control Systems is the supervisor-to-motor loop. Embedded Systems is the cooperative finite-state machine in control_12_full.ino. Computer Networks covers the UDP link and the watchdog. Engineering Ethics maps to the three ISO standards on slide fifteen. End with one sentence on which course was most directly applied.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0ED9C-DC2F-798A-BFB1-56F079B2D1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81420AE9-3C13-7525-4E31-C052D3986D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08AD794A-0ABF-48EF-7267-15DDB92A7008}"/>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224B0C62-79F0-A840-1B5A-F1317063C90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2FFD3B6-B615-E07F-AA5B-D936DE8651DC}"/>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476392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D5A3-92BF-9D13-DF78-7E7F1C1B0038}"/>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D34DA7D-2E29-48FC-809D-AA1AB1C2CF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E8561572-AB19-1C2E-32CD-8157DD7CCC13}"/>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EDF4F984-1581-D4ED-EDCF-3C79307CE40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2C472602-8646-D567-0FC0-64DDCCD39F56}"/>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530944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4B97-0E13-7C91-DEF2-3861EBFAD2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94740FFA-F626-A6E7-1584-74E442A873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02FDB9-D115-7934-3EBE-FF57CEB9E0ED}"/>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3544B562-E481-2F90-A966-497E252B2A42}"/>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836D2F7D-EFA0-6563-F07B-332A2A840D4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67375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2144C-A048-7733-8834-913969D2B721}"/>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EC7C19B5-C50C-FA65-8B3C-EFA14C4E04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4C9A86A9-7B67-961F-DEAA-4A3142E0C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17C8112D-8578-10A1-0E5D-14F878C2FFA9}"/>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6" name="Footer Placeholder 5">
            <a:extLst>
              <a:ext uri="{FF2B5EF4-FFF2-40B4-BE49-F238E27FC236}">
                <a16:creationId xmlns:a16="http://schemas.microsoft.com/office/drawing/2014/main" id="{07A83FD6-3BA8-3B5A-D466-8C43D176816E}"/>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6DD0E575-6233-0DA8-EA4D-F0948F818B8B}"/>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009267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27BE0-9E5B-54AD-9992-A524F8E917E9}"/>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8F1736D3-A673-5DA1-8389-A68BADE904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BDBD5F-9895-C1F2-5FC4-84A6131303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AF9FBA84-1063-94FC-7A7D-6526F83C4B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2002DC-93EC-4543-E98B-876D3C3E2C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CAE829FD-5280-7052-5EF4-0E33117F11C4}"/>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8" name="Footer Placeholder 7">
            <a:extLst>
              <a:ext uri="{FF2B5EF4-FFF2-40B4-BE49-F238E27FC236}">
                <a16:creationId xmlns:a16="http://schemas.microsoft.com/office/drawing/2014/main" id="{C8E46FB6-65A9-A0A0-77EB-B13263FED89A}"/>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8226E1D1-4F10-0551-1E22-16C9929418C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249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83393-51E4-12FA-D51E-3893804D4606}"/>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817C7513-861E-031B-6901-CF1E0C8E7357}"/>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4" name="Footer Placeholder 3">
            <a:extLst>
              <a:ext uri="{FF2B5EF4-FFF2-40B4-BE49-F238E27FC236}">
                <a16:creationId xmlns:a16="http://schemas.microsoft.com/office/drawing/2014/main" id="{9FE95095-CCA8-4C59-DD0F-31F750D3006B}"/>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F3A158D7-645B-3A4E-B841-AC0BDC212A8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604370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E6ED77-A6C7-6766-3240-E739D6827336}"/>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3" name="Footer Placeholder 2">
            <a:extLst>
              <a:ext uri="{FF2B5EF4-FFF2-40B4-BE49-F238E27FC236}">
                <a16:creationId xmlns:a16="http://schemas.microsoft.com/office/drawing/2014/main" id="{800141DC-C3A3-96EE-C557-6392989F4F35}"/>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4F51AC12-BE1B-9205-7D59-B41FAF850E13}"/>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403609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93D5-A684-EE54-8EAA-2BBC5D75D0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E3455E2F-2CF6-AE2D-B78A-5B0FC5A97C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88CB743B-DFF8-EFBF-F9C1-39CD41FDE4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9AAA07-90C0-2B93-057A-C2660EF8FFC3}"/>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6" name="Footer Placeholder 5">
            <a:extLst>
              <a:ext uri="{FF2B5EF4-FFF2-40B4-BE49-F238E27FC236}">
                <a16:creationId xmlns:a16="http://schemas.microsoft.com/office/drawing/2014/main" id="{152015C2-9877-EC73-32CD-EEE7FA11B977}"/>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EB076D08-3F3D-EAC6-DF61-5BCEEE74F914}"/>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91878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66AE-5C35-DC3A-1663-9F7CFAA1F3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CEE280BE-4A64-CD28-9EC9-1D9482E0D7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52252F46-82DA-05DC-4413-C3A115635A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203DE-EEE4-F09F-59EC-78747B53FBD4}"/>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6" name="Footer Placeholder 5">
            <a:extLst>
              <a:ext uri="{FF2B5EF4-FFF2-40B4-BE49-F238E27FC236}">
                <a16:creationId xmlns:a16="http://schemas.microsoft.com/office/drawing/2014/main" id="{0314C583-63EE-483C-4742-14B20E9A4CF9}"/>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38550BDE-FE02-3FE7-9DCB-DB5D526AC30A}"/>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3725271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7091-3678-EDC5-F581-4D6DDB935265}"/>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DEB23034-9799-7574-23CA-05BA6B365F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8D1027BF-E227-B39B-FA86-5AC8982BC5CF}"/>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3E035938-C264-A942-202B-9753264F73C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4DE784E4-9DD0-793F-3F10-ABD930C729A5}"/>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2131096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9A2CFA-2EF7-381F-8EB6-B93B6146D8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4A6EC9F7-9F52-7FCE-29E8-111DD44780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17A9EB68-EBA8-1D6D-1AA3-B1B9F8B0B29F}"/>
              </a:ext>
            </a:extLst>
          </p:cNvPr>
          <p:cNvSpPr>
            <a:spLocks noGrp="1"/>
          </p:cNvSpPr>
          <p:nvPr>
            <p:ph type="dt" sz="half" idx="10"/>
          </p:nvPr>
        </p:nvSpPr>
        <p:spPr/>
        <p:txBody>
          <a:body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0B7ACFE6-A701-1F00-86F9-4BE6C93CA9E0}"/>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7B647C80-DF7C-2A39-3E2E-E4B10CD46311}"/>
              </a:ext>
            </a:extLst>
          </p:cNvPr>
          <p:cNvSpPr>
            <a:spLocks noGrp="1"/>
          </p:cNvSpPr>
          <p:nvPr>
            <p:ph type="sldNum" sz="quarter" idx="12"/>
          </p:nvPr>
        </p:nvSpPr>
        <p:spPr/>
        <p:txBody>
          <a:bodyPr/>
          <a:lstStyle/>
          <a:p>
            <a:fld id="{FF32F859-8E11-4509-8A48-6D9BD0B4DBF0}" type="slidenum">
              <a:rPr lang="ru-RU" smtClean="0"/>
              <a:t>‹#›</a:t>
            </a:fld>
            <a:endParaRPr lang="ru-RU"/>
          </a:p>
        </p:txBody>
      </p:sp>
    </p:spTree>
    <p:extLst>
      <p:ext uri="{BB962C8B-B14F-4D97-AF65-F5344CB8AC3E}">
        <p14:creationId xmlns:p14="http://schemas.microsoft.com/office/powerpoint/2010/main" val="11748409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C688BE-7703-9B42-1CCF-45E498DDB7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46D3C7E8-635B-578F-6B4B-33076A72F9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333B7965-5FB6-0E74-7E5C-097D32AFD8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2501A6-C6D8-40D1-99D8-1583A67115AC}" type="datetimeFigureOut">
              <a:rPr lang="ru-RU" smtClean="0"/>
              <a:t>27.04.2026</a:t>
            </a:fld>
            <a:endParaRPr lang="ru-RU"/>
          </a:p>
        </p:txBody>
      </p:sp>
      <p:sp>
        <p:nvSpPr>
          <p:cNvPr id="5" name="Footer Placeholder 4">
            <a:extLst>
              <a:ext uri="{FF2B5EF4-FFF2-40B4-BE49-F238E27FC236}">
                <a16:creationId xmlns:a16="http://schemas.microsoft.com/office/drawing/2014/main" id="{39CA3FAB-27A0-D83F-8081-48C600F38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Slide Number Placeholder 5">
            <a:extLst>
              <a:ext uri="{FF2B5EF4-FFF2-40B4-BE49-F238E27FC236}">
                <a16:creationId xmlns:a16="http://schemas.microsoft.com/office/drawing/2014/main" id="{2EE41A10-B3D7-502E-F6EF-F70473B380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32F859-8E11-4509-8A48-6D9BD0B4DBF0}" type="slidenum">
              <a:rPr lang="ru-RU" smtClean="0"/>
              <a:t>‹#›</a:t>
            </a:fld>
            <a:endParaRPr lang="ru-RU"/>
          </a:p>
        </p:txBody>
      </p:sp>
    </p:spTree>
    <p:extLst>
      <p:ext uri="{BB962C8B-B14F-4D97-AF65-F5344CB8AC3E}">
        <p14:creationId xmlns:p14="http://schemas.microsoft.com/office/powerpoint/2010/main" val="39406131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F1F1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F1F1F"/>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hyperlink" Target="https://www.rit.edu/facilities/motion-capture-mocap-lab" TargetMode="External"/><Relationship Id="rId7" Type="http://schemas.openxmlformats.org/officeDocument/2006/relationships/hyperlink" Target="https://soccerinnovations.com/ball-launch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diagramData" Target="../diagrams/data2.xml"/><Relationship Id="rId5" Type="http://schemas.openxmlformats.org/officeDocument/2006/relationships/diagramLayout" Target="../diagrams/layout2.xml"/><Relationship Id="rId6" Type="http://schemas.openxmlformats.org/officeDocument/2006/relationships/diagramQuickStyle" Target="../diagrams/quickStyle2.xml"/><Relationship Id="rId7" Type="http://schemas.openxmlformats.org/officeDocument/2006/relationships/diagramColors" Target="../diagrams/colors2.xml"/><Relationship Id="rId8" Type="http://schemas.microsoft.com/office/2007/relationships/diagramDrawing" Target="../diagrams/drawing2.xml"/><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diagramData" Target="../diagrams/data3.xml"/><Relationship Id="rId5" Type="http://schemas.openxmlformats.org/officeDocument/2006/relationships/diagramLayout" Target="../diagrams/layout3.xml"/><Relationship Id="rId6" Type="http://schemas.openxmlformats.org/officeDocument/2006/relationships/diagramQuickStyle" Target="../diagrams/quickStyle3.xml"/><Relationship Id="rId7" Type="http://schemas.openxmlformats.org/officeDocument/2006/relationships/diagramColors" Target="../diagrams/colors3.xml"/><Relationship Id="rId8" Type="http://schemas.microsoft.com/office/2007/relationships/diagramDrawing" Target="../diagrams/drawing3.xml"/><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diagramData" Target="../diagrams/data4.xml"/><Relationship Id="rId5" Type="http://schemas.openxmlformats.org/officeDocument/2006/relationships/diagramLayout" Target="../diagrams/layout4.xml"/><Relationship Id="rId6" Type="http://schemas.openxmlformats.org/officeDocument/2006/relationships/diagramQuickStyle" Target="../diagrams/quickStyle4.xml"/><Relationship Id="rId7" Type="http://schemas.openxmlformats.org/officeDocument/2006/relationships/diagramColors" Target="../diagrams/colors4.xml"/><Relationship Id="rId8" Type="http://schemas.microsoft.com/office/2007/relationships/diagramDrawing" Target="../diagrams/drawing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p:cNvSpPr/>
          <p:nvPr/>
        </p:nvSpPr>
        <p:spPr>
          <a:xfrm>
            <a:off x="546711" y="868680"/>
            <a:ext cx="11274552" cy="256032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88DC9ACE-0ED4-6937-6D6C-123E17F6F71A}"/>
              </a:ext>
            </a:extLst>
          </p:cNvPr>
          <p:cNvSpPr>
            <a:spLocks noGrp="1"/>
          </p:cNvSpPr>
          <p:nvPr>
            <p:ph type="ctrTitle"/>
          </p:nvPr>
        </p:nvSpPr>
        <p:spPr>
          <a:xfrm>
            <a:off x="760476" y="1308100"/>
            <a:ext cx="10668000" cy="1270000"/>
          </a:xfrm>
        </p:spPr>
        <p:txBody>
          <a:bodyPr wrap="square" lIns="76200" tIns="38100" rIns="76200" bIns="38100" anchor="ctr"/>
          <a:lstStyle/>
          <a:p>
            <a:pPr algn="ctr">
              <a:buNone/>
            </a:pPr>
            <a:r>
              <a:rPr lang="en-US" sz="3200" b="1" dirty="0">
                <a:solidFill>
                  <a:srgbClr val="1F1F1F"/>
                </a:solidFill>
                <a:latin typeface="Calibri"/>
              </a:rPr>
              <a:t>Pose-Guided Predictive Ballistics</a:t>
            </a:r>
          </a:p>
          <a:p>
            <a:pPr algn="ctr">
              <a:buNone/>
            </a:pPr>
            <a:r>
              <a:rPr lang="en-US" sz="3200" b="1" dirty="0">
                <a:solidFill>
                  <a:srgbClr val="1F1F1F"/>
                </a:solidFill>
                <a:latin typeface="Calibri"/>
              </a:rPr>
              <a:t>with Multi-Camera 3D Tracking</a:t>
            </a:r>
          </a:p>
        </p:txBody>
      </p:sp>
      <p:sp>
        <p:nvSpPr>
          <p:cNvPr id="3" name="Subtitle 2">
            <a:extLst>
              <a:ext uri="{FF2B5EF4-FFF2-40B4-BE49-F238E27FC236}">
                <a16:creationId xmlns:a16="http://schemas.microsoft.com/office/drawing/2014/main" id="{DD15DA76-DB22-F059-828A-5EA581387C54}"/>
              </a:ext>
            </a:extLst>
          </p:cNvPr>
          <p:cNvSpPr>
            <a:spLocks noGrp="1"/>
          </p:cNvSpPr>
          <p:nvPr>
            <p:ph type="subTitle" idx="1"/>
          </p:nvPr>
        </p:nvSpPr>
        <p:spPr>
          <a:xfrm>
            <a:off x="762000" y="3683000"/>
            <a:ext cx="10668000" cy="1905000"/>
          </a:xfrm>
        </p:spPr>
        <p:txBody>
          <a:bodyPr wrap="square" lIns="76200" tIns="38100" rIns="76200" bIns="38100" anchor="ctr"/>
          <a:lstStyle/>
          <a:p>
            <a:pPr algn="ctr">
              <a:buNone/>
            </a:pPr>
            <a:r>
              <a:rPr lang="en-US" sz="1800" b="0" dirty="0">
                <a:solidFill>
                  <a:srgbClr val="1F1F1F"/>
                </a:solidFill>
                <a:latin typeface="Calibri"/>
              </a:rPr>
              <a:t>MSc Thesis Defense</a:t>
            </a:r>
          </a:p>
          <a:p>
            <a:pPr algn="ctr">
              <a:buNone/>
            </a:pPr>
            <a:r>
              <a:rPr lang="en-US" sz="1800" b="0" dirty="0">
                <a:solidFill>
                  <a:srgbClr val="1F1F1F"/>
                </a:solidFill>
                <a:latin typeface="Calibri"/>
              </a:rPr>
              <a:t>School of Engineering &amp; Digital Sciences · Nazarbayev University</a:t>
            </a:r>
          </a:p>
          <a:p>
            <a:pPr algn="ctr">
              <a:buNone/>
            </a:pPr>
            <a:endParaRPr lang="en-US" sz="1400" dirty="0">
              <a:solidFill>
                <a:srgbClr val="1F1F1F"/>
              </a:solidFill>
            </a:endParaRPr>
          </a:p>
          <a:p>
            <a:pPr algn="ctr">
              <a:buNone/>
            </a:pPr>
            <a:r>
              <a:rPr lang="en-US" sz="1800" b="1" dirty="0">
                <a:solidFill>
                  <a:srgbClr val="1F1F1F"/>
                </a:solidFill>
                <a:latin typeface="Calibri"/>
              </a:rPr>
              <a:t>Arlen Smagulov</a:t>
            </a:r>
          </a:p>
          <a:p>
            <a:pPr algn="ctr">
              <a:buNone/>
            </a:pPr>
            <a:r>
              <a:rPr lang="en-US" sz="1400" b="0" dirty="0">
                <a:solidFill>
                  <a:srgbClr val="8A8A8A"/>
                </a:solidFill>
                <a:latin typeface="Calibri"/>
              </a:rPr>
              <a:t>Supervisor: Prof. Sultangali Arzykulov  ·  Co-supervisor: Prof. Mohammad Hashmi</a:t>
            </a:r>
          </a:p>
        </p:txBody>
      </p:sp>
      <p:sp>
        <p:nvSpPr>
          <p:cNvPr id="100" name="AccentUnderline"/>
          <p:cNvSpPr/>
          <p:nvPr/>
        </p:nvSpPr>
        <p:spPr>
          <a:xfrm>
            <a:off x="4826000" y="3556000"/>
            <a:ext cx="2540000" cy="50800"/>
          </a:xfrm>
          <a:prstGeom prst="rect">
            <a:avLst/>
          </a:prstGeom>
          <a:solidFill>
            <a:srgbClr val="D7C2B4"/>
          </a:solidFill>
          <a:ln>
            <a:noFill/>
          </a:ln>
        </p:spPr>
        <p:txBody>
          <a:bodyPr wrap="square" anchor="ctr"/>
          <a:lstStyle/>
          <a:p>
            <a:endParaRPr lang="en-US"/>
          </a:p>
        </p:txBody>
      </p:sp>
      <p:sp>
        <p:nvSpPr>
          <p:cNvPr id="103" name="BottomBar"/>
          <p:cNvSpPr/>
          <p:nvPr/>
        </p:nvSpPr>
        <p:spPr>
          <a:xfrm>
            <a:off x="0" y="6604000"/>
            <a:ext cx="12192000" cy="254000"/>
          </a:xfrm>
          <a:prstGeom prst="rect">
            <a:avLst/>
          </a:prstGeom>
          <a:solidFill>
            <a:srgbClr val="7C472E"/>
          </a:solidFill>
          <a:ln w="6350">
            <a:noFill/>
          </a:ln>
        </p:spPr>
        <p:txBody>
          <a:bodyPr wrap="square" anchor="ctr"/>
          <a:lstStyle/>
          <a:p>
            <a:endParaRPr lang="en-US"/>
          </a:p>
        </p:txBody>
      </p:sp>
      <p:sp>
        <p:nvSpPr>
          <p:cNvPr id="104" name="FooterText"/>
          <p:cNvSpPr txBox="1"/>
          <p:nvPr/>
        </p:nvSpPr>
        <p:spPr>
          <a:xfrm>
            <a:off x="0" y="6604000"/>
            <a:ext cx="12192000" cy="254000"/>
          </a:xfrm>
          <a:prstGeom prst="rect">
            <a:avLst/>
          </a:prstGeom>
          <a:noFill/>
          <a:ln>
            <a:noFill/>
          </a:ln>
        </p:spPr>
        <p:txBody>
          <a:bodyPr wrap="square" lIns="76200" tIns="38100" rIns="76200" bIns="38100" anchor="ctr"/>
          <a:lstStyle/>
          <a:p>
            <a:pPr algn="ctr">
              <a:buNone/>
            </a:pPr>
            <a:r>
              <a:rPr lang="en-US" sz="1200" dirty="0">
                <a:solidFill>
                  <a:srgbClr val="8A8A8A"/>
                </a:solidFill>
                <a:latin typeface="Calibri"/>
              </a:rPr>
              <a:t>Arlen Smagulov · MSc ECE · Nazarbayev University</a:t>
            </a:r>
          </a:p>
        </p:txBody>
      </p:sp>
      <p:pic>
        <p:nvPicPr>
          <p:cNvPr id="107" name="Picture 106" descr="image.png"/>
          <p:cNvPicPr>
            <a:picLocks noChangeAspect="1"/>
          </p:cNvPicPr>
          <p:nvPr/>
        </p:nvPicPr>
        <p:blipFill>
          <a:blip r:embed="rId3"/>
          <a:stretch>
            <a:fillRect/>
          </a:stretch>
        </p:blipFill>
        <p:spPr>
          <a:xfrm>
            <a:off x="274320" y="228600"/>
            <a:ext cx="1802282" cy="411480"/>
          </a:xfrm>
          <a:prstGeom prst="rect">
            <a:avLst/>
          </a:prstGeom>
        </p:spPr>
      </p:pic>
      <p:pic>
        <p:nvPicPr>
          <p:cNvPr id="108" name="Picture 107" descr="seds logo.jpg"/>
          <p:cNvPicPr>
            <a:picLocks noChangeAspect="1"/>
          </p:cNvPicPr>
          <p:nvPr/>
        </p:nvPicPr>
        <p:blipFill>
          <a:blip r:embed="rId4"/>
          <a:stretch>
            <a:fillRect/>
          </a:stretch>
        </p:blipFill>
        <p:spPr>
          <a:xfrm>
            <a:off x="11186931" y="45720"/>
            <a:ext cx="822960" cy="822960"/>
          </a:xfrm>
          <a:prstGeom prst="rect">
            <a:avLst/>
          </a:prstGeom>
        </p:spPr>
      </p:pic>
      <p:sp>
        <p:nvSpPr>
          <p:cNvPr id="109" name="Rectangle 108"/>
          <p:cNvSpPr/>
          <p:nvPr/>
        </p:nvSpPr>
        <p:spPr>
          <a:xfrm flipV="1">
            <a:off x="1005069" y="2540000"/>
            <a:ext cx="10181862" cy="7620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a:t>
            </a:r>
          </a:p>
        </p:txBody>
      </p:sp>
    </p:spTree>
    <p:extLst>
      <p:ext uri="{BB962C8B-B14F-4D97-AF65-F5344CB8AC3E}">
        <p14:creationId xmlns:p14="http://schemas.microsoft.com/office/powerpoint/2010/main" val="4142182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1A4E86B-2444-9459-B25C-3C66DC54FF77}"/>
              </a:ext>
            </a:extLst>
          </p:cNvPr>
          <p:cNvSpPr>
            <a:spLocks noGrp="1"/>
          </p:cNvSpPr>
          <p:nvPr>
            <p:ph type="title"/>
          </p:nvPr>
        </p:nvSpPr>
        <p:spPr>
          <a:xfrm>
            <a:off x="508000" y="934720"/>
            <a:ext cx="6238240" cy="711200"/>
          </a:xfrm>
        </p:spPr>
        <p:txBody>
          <a:bodyPr wrap="square" lIns="76200" tIns="38100" rIns="76200" bIns="38100" anchor="ctr"/>
          <a:lstStyle/>
          <a:p>
            <a:pPr algn="l">
              <a:buNone/>
            </a:pPr>
            <a:r>
              <a:rPr lang="en-US" sz="3200" b="1" dirty="0">
                <a:solidFill>
                  <a:srgbClr val="1F1F1F"/>
                </a:solidFill>
                <a:latin typeface="Calibri"/>
              </a:rPr>
              <a:t>Motivation</a:t>
            </a:r>
          </a:p>
        </p:txBody>
      </p:sp>
      <p:sp>
        <p:nvSpPr>
          <p:cNvPr id="101" name="t101"/>
          <p:cNvSpPr txBox="1"/>
          <p:nvPr/>
        </p:nvSpPr>
        <p:spPr>
          <a:xfrm>
            <a:off x="508000" y="1860172"/>
            <a:ext cx="4850809" cy="720468"/>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Need for Low-Cost Pose-Reactive Ball Delivery</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err="1">
                <a:solidFill>
                  <a:srgbClr val="FFFFFF"/>
                </a:solidFill>
                <a:latin typeface="Arial"/>
              </a:rPr>
              <a:t>Takeaway:affordable</a:t>
            </a:r>
            <a:r>
              <a:rPr lang="en-US" sz="1600" b="0" i="1" dirty="0">
                <a:solidFill>
                  <a:srgbClr val="FFFFFF"/>
                </a:solidFill>
                <a:latin typeface="Arial"/>
              </a:rPr>
              <a:t> pose-reactive training</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2</a:t>
            </a:r>
          </a:p>
        </p:txBody>
      </p:sp>
      <p:sp>
        <p:nvSpPr>
          <p:cNvPr id="3" name="r100">
            <a:extLst>
              <a:ext uri="{FF2B5EF4-FFF2-40B4-BE49-F238E27FC236}">
                <a16:creationId xmlns:a16="http://schemas.microsoft.com/office/drawing/2014/main" id="{03760187-45BD-7A38-851C-C8831598745F}"/>
              </a:ext>
            </a:extLst>
          </p:cNvPr>
          <p:cNvSpPr/>
          <p:nvPr/>
        </p:nvSpPr>
        <p:spPr>
          <a:xfrm>
            <a:off x="586739" y="1498738"/>
            <a:ext cx="1927861" cy="74444"/>
          </a:xfrm>
          <a:prstGeom prst="rect">
            <a:avLst/>
          </a:prstGeom>
          <a:solidFill>
            <a:srgbClr val="935739"/>
          </a:solidFill>
          <a:ln>
            <a:noFill/>
          </a:ln>
        </p:spPr>
        <p:txBody>
          <a:bodyPr wrap="square" anchor="ctr"/>
          <a:lstStyle/>
          <a:p>
            <a:endParaRPr lang="en-US"/>
          </a:p>
        </p:txBody>
      </p:sp>
      <p:pic>
        <p:nvPicPr>
          <p:cNvPr id="1026" name="Picture 2" descr="student wearing a suit with sensors in a room that captures movements.">
            <a:extLst>
              <a:ext uri="{FF2B5EF4-FFF2-40B4-BE49-F238E27FC236}">
                <a16:creationId xmlns:a16="http://schemas.microsoft.com/office/drawing/2014/main" id="{F6B070A9-D305-FCA8-9A0E-EB4CB25E72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0047" y="2743200"/>
            <a:ext cx="3909051" cy="21994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2993608-901F-0387-DE2E-6FCC298EC2F1}"/>
              </a:ext>
            </a:extLst>
          </p:cNvPr>
          <p:cNvSpPr txBox="1"/>
          <p:nvPr/>
        </p:nvSpPr>
        <p:spPr>
          <a:xfrm>
            <a:off x="9241570" y="4942614"/>
            <a:ext cx="2310350" cy="246221"/>
          </a:xfrm>
          <a:prstGeom prst="rect">
            <a:avLst/>
          </a:prstGeom>
          <a:noFill/>
        </p:spPr>
        <p:txBody>
          <a:bodyPr wrap="square" rtlCol="0">
            <a:spAutoFit/>
          </a:bodyPr>
          <a:lstStyle/>
          <a:p>
            <a:r>
              <a:rPr lang="fr-FR" sz="1000" dirty="0">
                <a:solidFill>
                  <a:srgbClr val="935739"/>
                </a:solidFill>
              </a:rPr>
              <a:t>Figure 2. RIT Motion Capture </a:t>
            </a:r>
            <a:r>
              <a:rPr lang="fr-FR" sz="1000" dirty="0" err="1">
                <a:solidFill>
                  <a:srgbClr val="935739"/>
                </a:solidFill>
              </a:rPr>
              <a:t>Lab</a:t>
            </a:r>
            <a:endParaRPr lang="ru-RU" sz="1000" dirty="0">
              <a:solidFill>
                <a:srgbClr val="935739"/>
              </a:solidFill>
            </a:endParaRPr>
          </a:p>
        </p:txBody>
      </p:sp>
      <p:pic>
        <p:nvPicPr>
          <p:cNvPr id="1028" name="Picture 4">
            <a:extLst>
              <a:ext uri="{FF2B5EF4-FFF2-40B4-BE49-F238E27FC236}">
                <a16:creationId xmlns:a16="http://schemas.microsoft.com/office/drawing/2014/main" id="{B9C9283A-1D19-C308-9DF7-6AA6C0827C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2400" y="2290371"/>
            <a:ext cx="3144746" cy="314474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B86C9B9-BF65-868F-0622-254644166488}"/>
              </a:ext>
            </a:extLst>
          </p:cNvPr>
          <p:cNvSpPr txBox="1"/>
          <p:nvPr/>
        </p:nvSpPr>
        <p:spPr>
          <a:xfrm>
            <a:off x="5372780" y="5415280"/>
            <a:ext cx="2746919" cy="261610"/>
          </a:xfrm>
          <a:prstGeom prst="rect">
            <a:avLst/>
          </a:prstGeom>
          <a:noFill/>
        </p:spPr>
        <p:txBody>
          <a:bodyPr wrap="square" rtlCol="0">
            <a:spAutoFit/>
          </a:bodyPr>
          <a:lstStyle/>
          <a:p>
            <a:r>
              <a:rPr lang="en-US" sz="1050" dirty="0">
                <a:solidFill>
                  <a:srgbClr val="935739"/>
                </a:solidFill>
              </a:rPr>
              <a:t>Figure 1. Soccer Innovations Ball Launcher</a:t>
            </a:r>
            <a:endParaRPr lang="ru-RU" sz="1050" dirty="0">
              <a:solidFill>
                <a:srgbClr val="935739"/>
              </a:solidFill>
            </a:endParaRPr>
          </a:p>
        </p:txBody>
      </p:sp>
      <p:sp>
        <p:nvSpPr>
          <p:cNvPr id="12" name="TextBox 11">
            <a:extLst>
              <a:ext uri="{FF2B5EF4-FFF2-40B4-BE49-F238E27FC236}">
                <a16:creationId xmlns:a16="http://schemas.microsoft.com/office/drawing/2014/main" id="{2648E2B6-8762-1EDC-F63C-8F0BBDB5A547}"/>
              </a:ext>
            </a:extLst>
          </p:cNvPr>
          <p:cNvSpPr txBox="1"/>
          <p:nvPr/>
        </p:nvSpPr>
        <p:spPr>
          <a:xfrm>
            <a:off x="1658679" y="3429000"/>
            <a:ext cx="184731" cy="369332"/>
          </a:xfrm>
          <a:prstGeom prst="rect">
            <a:avLst/>
          </a:prstGeom>
          <a:noFill/>
        </p:spPr>
        <p:txBody>
          <a:bodyPr wrap="none" rtlCol="0">
            <a:spAutoFit/>
          </a:bodyPr>
          <a:lstStyle/>
          <a:p>
            <a:endParaRPr lang="ru-RU" dirty="0"/>
          </a:p>
        </p:txBody>
      </p:sp>
      <p:sp>
        <p:nvSpPr>
          <p:cNvPr id="18" name="Rectangle 12">
            <a:extLst>
              <a:ext uri="{FF2B5EF4-FFF2-40B4-BE49-F238E27FC236}">
                <a16:creationId xmlns:a16="http://schemas.microsoft.com/office/drawing/2014/main" id="{946BD325-1463-DED9-F7AF-9AEAFB10D804}"/>
              </a:ext>
            </a:extLst>
          </p:cNvPr>
          <p:cNvSpPr>
            <a:spLocks noChangeArrowheads="1"/>
          </p:cNvSpPr>
          <p:nvPr/>
        </p:nvSpPr>
        <p:spPr bwMode="auto">
          <a:xfrm>
            <a:off x="567070" y="2832265"/>
            <a:ext cx="432550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sz="1800" b="0" i="0">
                <a:latin typeface="Arial"/>
              </a:rPr>
              <a:t>Fixed launchers cannot react [Lobster Elite, Sec 1.1]</a:t>
            </a:r>
            <a:endParaRPr kumimoji="0" lang="en-US" altLang="ru-RU" sz="1800" b="0" i="0" u="none" strike="noStrike" cap="none" normalizeH="0" baseline="0" dirty="0">
              <a:ln>
                <a:noFill/>
              </a:ln>
              <a:solidFill>
                <a:schemeClr val="tx1"/>
              </a:solidFill>
              <a:effectLst/>
              <a:latin typeface="Arial" panose="020B0604020202020204" pitchFamily="34" charset="0"/>
            </a:endParaRPr>
          </a:p>
          <a:p>
            <a:r>
              <a:rPr sz="1800" b="0" i="0">
                <a:latin typeface="Arial"/>
              </a:rPr>
              <a:t>MoCap is costly and marker-based [OptiTrack/Vicon, Sec 2.1]</a:t>
            </a:r>
          </a:p>
          <a:p>
            <a:r>
              <a:rPr sz="1800" b="0" i="0">
                <a:latin typeface="Arial"/>
              </a:rPr>
              <a:t>Training needs joint-specific delivery</a:t>
            </a:r>
          </a:p>
          <a:p>
            <a:r>
              <a:rPr sz="1800" b="0" i="0">
                <a:latin typeface="Arial"/>
              </a:rPr>
              <a:t>Low-cost cameras can bridge the gap</a:t>
            </a:r>
          </a:p>
          <a:p>
            <a:r>
              <a:rPr sz="1800" b="0" i="0">
                <a:latin typeface="Arial"/>
              </a:rPr>
              <a:t>This thesis builds pose-guided aiming</a:t>
            </a:r>
          </a:p>
        </p:txBody>
      </p:sp>
      <p:sp>
        <p:nvSpPr>
          <p:cNvPr id="7" name="TextBox 6">
            <a:extLst>
              <a:ext uri="{FF2B5EF4-FFF2-40B4-BE49-F238E27FC236}">
                <a16:creationId xmlns:a16="http://schemas.microsoft.com/office/drawing/2014/main" id="{01E6B904-A50D-84F4-50DF-701E66866349}"/>
              </a:ext>
            </a:extLst>
          </p:cNvPr>
          <p:cNvSpPr txBox="1"/>
          <p:nvPr/>
        </p:nvSpPr>
        <p:spPr>
          <a:xfrm>
            <a:off x="7325833" y="6350169"/>
            <a:ext cx="4226087" cy="507831"/>
          </a:xfrm>
          <a:prstGeom prst="rect">
            <a:avLst/>
          </a:prstGeom>
          <a:noFill/>
        </p:spPr>
        <p:txBody>
          <a:bodyPr wrap="square" rtlCol="0">
            <a:spAutoFit/>
          </a:bodyPr>
          <a:lstStyle/>
          <a:p>
            <a:r>
              <a:rPr lang="en-US" sz="900" dirty="0"/>
              <a:t>RIT Motion Capture Lab image: </a:t>
            </a:r>
            <a:r>
              <a:rPr lang="en-US" sz="900" dirty="0">
                <a:hlinkClick r:id="rId6"/>
              </a:rPr>
              <a:t>https://www.rit.edu/facilities/motion-capture-mocap-lab</a:t>
            </a:r>
            <a:br>
              <a:rPr lang="en-US" sz="900" dirty="0"/>
            </a:br>
            <a:r>
              <a:rPr lang="en-US" sz="900" dirty="0"/>
              <a:t>Soccer Innovations ball launcher image: </a:t>
            </a:r>
            <a:r>
              <a:rPr lang="en-US" sz="900" dirty="0">
                <a:hlinkClick r:id="rId7"/>
              </a:rPr>
              <a:t>https://soccerinnovations.com/ball-launcher/</a:t>
            </a:r>
            <a:r>
              <a:rPr lang="en-US" sz="900" dirty="0"/>
              <a:t> </a:t>
            </a:r>
            <a:endParaRPr lang="ru-RU" sz="900" dirty="0"/>
          </a:p>
        </p:txBody>
      </p:sp>
    </p:spTree>
    <p:extLst>
      <p:ext uri="{BB962C8B-B14F-4D97-AF65-F5344CB8AC3E}">
        <p14:creationId xmlns:p14="http://schemas.microsoft.com/office/powerpoint/2010/main" val="225997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9BC6309-9D16-E862-F127-C39A3D7C45C2}"/>
              </a:ext>
            </a:extLst>
          </p:cNvPr>
          <p:cNvSpPr>
            <a:spLocks noGrp="1"/>
          </p:cNvSpPr>
          <p:nvPr>
            <p:ph type="title"/>
          </p:nvPr>
        </p:nvSpPr>
        <p:spPr>
          <a:xfrm>
            <a:off x="415403" y="914400"/>
            <a:ext cx="11176000" cy="711200"/>
          </a:xfrm>
        </p:spPr>
        <p:txBody>
          <a:bodyPr wrap="square" lIns="76200" tIns="38100" rIns="76200" bIns="38100" anchor="ctr"/>
          <a:lstStyle/>
          <a:p>
            <a:pPr algn="l">
              <a:buNone/>
            </a:pPr>
            <a:r>
              <a:rPr lang="en-US" sz="3200" b="1" dirty="0">
                <a:solidFill>
                  <a:srgbClr val="1F1F1F"/>
                </a:solidFill>
                <a:latin typeface="Calibri"/>
              </a:rPr>
              <a:t>Problem Statement &amp; Objectives</a:t>
            </a:r>
          </a:p>
        </p:txBody>
      </p:sp>
      <p:sp>
        <p:nvSpPr>
          <p:cNvPr id="100" name="r100"/>
          <p:cNvSpPr/>
          <p:nvPr/>
        </p:nvSpPr>
        <p:spPr>
          <a:xfrm>
            <a:off x="508000" y="1462256"/>
            <a:ext cx="5492750" cy="74444"/>
          </a:xfrm>
          <a:prstGeom prst="rect">
            <a:avLst/>
          </a:prstGeom>
          <a:solidFill>
            <a:srgbClr val="935739"/>
          </a:solidFill>
          <a:ln>
            <a:noFill/>
          </a:ln>
        </p:spPr>
        <p:txBody>
          <a:bodyPr wrap="square" anchor="ctr"/>
          <a:lstStyle/>
          <a:p>
            <a:endParaRPr lang="en-US"/>
          </a:p>
        </p:txBody>
      </p:sp>
      <p:sp>
        <p:nvSpPr>
          <p:cNvPr id="101" name="t101"/>
          <p:cNvSpPr txBox="1"/>
          <p:nvPr/>
        </p:nvSpPr>
        <p:spPr>
          <a:xfrm>
            <a:off x="415403" y="1574800"/>
            <a:ext cx="11176000" cy="457200"/>
          </a:xfrm>
          <a:prstGeom prst="rect">
            <a:avLst/>
          </a:prstGeom>
          <a:noFill/>
          <a:ln>
            <a:noFill/>
          </a:ln>
        </p:spPr>
        <p:txBody>
          <a:bodyPr wrap="square" lIns="76200" tIns="38100" rIns="76200" bIns="38100" anchor="ctr"/>
          <a:lstStyle/>
          <a:p>
            <a:r>
              <a:rPr lang="en-US" b="1" dirty="0"/>
              <a:t>Can a ball launcher use 3D body-joint tracking for safe autonomous aiming?</a:t>
            </a:r>
            <a:endParaRPr lang="en-US" dirty="0"/>
          </a:p>
        </p:txBody>
      </p:sp>
      <p:sp>
        <p:nvSpPr>
          <p:cNvPr id="102" name="r102"/>
          <p:cNvSpPr/>
          <p:nvPr/>
        </p:nvSpPr>
        <p:spPr>
          <a:xfrm>
            <a:off x="508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3" name="t103"/>
          <p:cNvSpPr txBox="1"/>
          <p:nvPr/>
        </p:nvSpPr>
        <p:spPr>
          <a:xfrm>
            <a:off x="381000" y="2715142"/>
            <a:ext cx="1916223"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1</a:t>
            </a:r>
          </a:p>
        </p:txBody>
      </p:sp>
      <p:sp>
        <p:nvSpPr>
          <p:cNvPr id="104" name="t104"/>
          <p:cNvSpPr txBox="1"/>
          <p:nvPr/>
        </p:nvSpPr>
        <p:spPr>
          <a:xfrm>
            <a:off x="3157940" y="2323214"/>
            <a:ext cx="1697815" cy="457200"/>
          </a:xfrm>
          <a:prstGeom prst="rect">
            <a:avLst/>
          </a:prstGeom>
          <a:noFill/>
          <a:ln>
            <a:noFill/>
          </a:ln>
        </p:spPr>
        <p:txBody>
          <a:bodyPr wrap="square" lIns="76200" tIns="38100" rIns="76200" bIns="38100" anchor="ctr"/>
          <a:lstStyle/>
          <a:p>
            <a:r>
              <a:rPr lang="en-US" b="1" dirty="0"/>
              <a:t>Ball </a:t>
            </a:r>
            <a:r>
              <a:rPr lang="en-US" b="1" dirty="0" err="1"/>
              <a:t>localisation</a:t>
            </a:r>
            <a:endParaRPr b="1" dirty="0"/>
          </a:p>
        </p:txBody>
      </p:sp>
      <p:sp>
        <p:nvSpPr>
          <p:cNvPr id="105" name="t105"/>
          <p:cNvSpPr txBox="1"/>
          <p:nvPr/>
        </p:nvSpPr>
        <p:spPr>
          <a:xfrm>
            <a:off x="2504426" y="3151889"/>
            <a:ext cx="3004842" cy="704850"/>
          </a:xfrm>
          <a:prstGeom prst="rect">
            <a:avLst/>
          </a:prstGeom>
          <a:noFill/>
          <a:ln>
            <a:noFill/>
          </a:ln>
        </p:spPr>
        <p:txBody>
          <a:bodyPr wrap="square" lIns="76200" tIns="38100" rIns="76200" bIns="38100" anchor="ctr"/>
          <a:lstStyle/>
          <a:p>
            <a:r>
              <a:rPr sz="1600" dirty="0"/>
              <a:t>Mean 3D ball error below 120 mm  →  Achieved: 95.17 mm corrected </a:t>
            </a:r>
          </a:p>
        </p:txBody>
      </p:sp>
      <p:sp>
        <p:nvSpPr>
          <p:cNvPr id="106" name="r106"/>
          <p:cNvSpPr/>
          <p:nvPr/>
        </p:nvSpPr>
        <p:spPr>
          <a:xfrm>
            <a:off x="6096000" y="2095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08" name="t108"/>
          <p:cNvSpPr txBox="1"/>
          <p:nvPr/>
        </p:nvSpPr>
        <p:spPr>
          <a:xfrm>
            <a:off x="8783452" y="2323214"/>
            <a:ext cx="1861733" cy="457200"/>
          </a:xfrm>
          <a:prstGeom prst="rect">
            <a:avLst/>
          </a:prstGeom>
          <a:noFill/>
          <a:ln>
            <a:noFill/>
          </a:ln>
        </p:spPr>
        <p:txBody>
          <a:bodyPr wrap="square" lIns="76200" tIns="38100" rIns="76200" bIns="38100" anchor="ctr"/>
          <a:lstStyle/>
          <a:p>
            <a:r>
              <a:rPr lang="en-US" b="1" dirty="0"/>
              <a:t>Joint </a:t>
            </a:r>
            <a:r>
              <a:rPr lang="en-US" b="1" dirty="0" err="1"/>
              <a:t>localisation</a:t>
            </a:r>
            <a:endParaRPr b="1" dirty="0"/>
          </a:p>
        </p:txBody>
      </p:sp>
      <p:sp>
        <p:nvSpPr>
          <p:cNvPr id="109" name="t109"/>
          <p:cNvSpPr txBox="1"/>
          <p:nvPr/>
        </p:nvSpPr>
        <p:spPr>
          <a:xfrm>
            <a:off x="8075428" y="3163438"/>
            <a:ext cx="3092302" cy="663028"/>
          </a:xfrm>
          <a:prstGeom prst="rect">
            <a:avLst/>
          </a:prstGeom>
          <a:noFill/>
          <a:ln>
            <a:noFill/>
          </a:ln>
        </p:spPr>
        <p:txBody>
          <a:bodyPr wrap="square" lIns="76200" tIns="38100" rIns="76200" bIns="38100" anchor="ctr"/>
          <a:lstStyle/>
          <a:p>
            <a:r>
              <a:rPr sz="1600" dirty="0"/>
              <a:t>Mean 3D joint error below 180 mm  →  Achieved: 143.38 mm (62 trials) </a:t>
            </a:r>
          </a:p>
        </p:txBody>
      </p:sp>
      <p:sp>
        <p:nvSpPr>
          <p:cNvPr id="110" name="r110"/>
          <p:cNvSpPr/>
          <p:nvPr/>
        </p:nvSpPr>
        <p:spPr>
          <a:xfrm>
            <a:off x="508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2" name="t112"/>
          <p:cNvSpPr txBox="1"/>
          <p:nvPr/>
        </p:nvSpPr>
        <p:spPr>
          <a:xfrm>
            <a:off x="3210173" y="4462278"/>
            <a:ext cx="1625009" cy="457200"/>
          </a:xfrm>
          <a:prstGeom prst="rect">
            <a:avLst/>
          </a:prstGeom>
          <a:noFill/>
          <a:ln>
            <a:noFill/>
          </a:ln>
        </p:spPr>
        <p:txBody>
          <a:bodyPr wrap="square" lIns="76200" tIns="38100" rIns="76200" bIns="38100" anchor="ctr"/>
          <a:lstStyle/>
          <a:p>
            <a:r>
              <a:rPr sz="1600" b="1" dirty="0"/>
              <a:t>Safe integration</a:t>
            </a:r>
          </a:p>
        </p:txBody>
      </p:sp>
      <p:sp>
        <p:nvSpPr>
          <p:cNvPr id="113" name="t113"/>
          <p:cNvSpPr txBox="1"/>
          <p:nvPr/>
        </p:nvSpPr>
        <p:spPr>
          <a:xfrm>
            <a:off x="2414791" y="5395744"/>
            <a:ext cx="3335669" cy="609600"/>
          </a:xfrm>
          <a:prstGeom prst="rect">
            <a:avLst/>
          </a:prstGeom>
          <a:noFill/>
          <a:ln>
            <a:noFill/>
          </a:ln>
        </p:spPr>
        <p:txBody>
          <a:bodyPr wrap="square" lIns="76200" tIns="38100" rIns="76200" bIns="38100" anchor="ctr"/>
          <a:lstStyle/>
          <a:p>
            <a:r>
              <a:rPr sz="1600" dirty="0"/>
              <a:t>Six-stage validation S0–S4 completed 2026-04-09. E-STOP &lt;100 </a:t>
            </a:r>
            <a:r>
              <a:rPr sz="1600" dirty="0" err="1"/>
              <a:t>ms</a:t>
            </a:r>
            <a:r>
              <a:rPr sz="1600" dirty="0"/>
              <a:t> </a:t>
            </a:r>
          </a:p>
        </p:txBody>
      </p:sp>
      <p:sp>
        <p:nvSpPr>
          <p:cNvPr id="114" name="r114"/>
          <p:cNvSpPr/>
          <p:nvPr/>
        </p:nvSpPr>
        <p:spPr>
          <a:xfrm>
            <a:off x="6096000" y="4254500"/>
            <a:ext cx="5334000" cy="1968500"/>
          </a:xfrm>
          <a:prstGeom prst="rect">
            <a:avLst/>
          </a:prstGeom>
          <a:solidFill>
            <a:srgbClr val="F7F1EC"/>
          </a:solidFill>
          <a:ln w="16510">
            <a:solidFill>
              <a:srgbClr val="935739"/>
            </a:solidFill>
          </a:ln>
        </p:spPr>
        <p:txBody>
          <a:bodyPr wrap="square" anchor="ctr"/>
          <a:lstStyle/>
          <a:p>
            <a:endParaRPr lang="en-US"/>
          </a:p>
        </p:txBody>
      </p:sp>
      <p:sp>
        <p:nvSpPr>
          <p:cNvPr id="116" name="t116"/>
          <p:cNvSpPr txBox="1"/>
          <p:nvPr/>
        </p:nvSpPr>
        <p:spPr>
          <a:xfrm>
            <a:off x="9118158" y="4469514"/>
            <a:ext cx="1245042" cy="457200"/>
          </a:xfrm>
          <a:prstGeom prst="rect">
            <a:avLst/>
          </a:prstGeom>
          <a:noFill/>
          <a:ln>
            <a:noFill/>
          </a:ln>
        </p:spPr>
        <p:txBody>
          <a:bodyPr wrap="square" lIns="76200" tIns="38100" rIns="76200" bIns="38100" anchor="ctr"/>
          <a:lstStyle/>
          <a:p>
            <a:r>
              <a:rPr sz="1600" b="1" dirty="0"/>
              <a:t>Practicality</a:t>
            </a:r>
          </a:p>
        </p:txBody>
      </p:sp>
      <p:sp>
        <p:nvSpPr>
          <p:cNvPr id="117" name="t117"/>
          <p:cNvSpPr txBox="1"/>
          <p:nvPr/>
        </p:nvSpPr>
        <p:spPr>
          <a:xfrm>
            <a:off x="7896078" y="5364569"/>
            <a:ext cx="3673548" cy="508000"/>
          </a:xfrm>
          <a:prstGeom prst="rect">
            <a:avLst/>
          </a:prstGeom>
          <a:noFill/>
          <a:ln>
            <a:noFill/>
          </a:ln>
        </p:spPr>
        <p:txBody>
          <a:bodyPr wrap="square" lIns="76200" tIns="38100" rIns="76200" bIns="38100" anchor="ctr"/>
          <a:lstStyle/>
          <a:p>
            <a:r>
              <a:rPr sz="1600" dirty="0"/>
              <a:t>Commodity cameras, open-source stack, and about USD 200 perception hardware.</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rPr/>
              <a:t>Takeaway: RQ1/RQ2 met within validated scope; RQ3/RQ4 satisfied for static + controlled live-aim only — moving-target firing is the unvalidated boundary (Sec 1.3, 6.4).</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dirty="0"/>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3</a:t>
            </a:r>
          </a:p>
        </p:txBody>
      </p:sp>
      <p:sp>
        <p:nvSpPr>
          <p:cNvPr id="3" name="t103">
            <a:extLst>
              <a:ext uri="{FF2B5EF4-FFF2-40B4-BE49-F238E27FC236}">
                <a16:creationId xmlns:a16="http://schemas.microsoft.com/office/drawing/2014/main" id="{B1C8ADA0-80CF-B64F-F0AB-570988584F9D}"/>
              </a:ext>
            </a:extLst>
          </p:cNvPr>
          <p:cNvSpPr txBox="1"/>
          <p:nvPr/>
        </p:nvSpPr>
        <p:spPr>
          <a:xfrm>
            <a:off x="425006" y="4864100"/>
            <a:ext cx="1828209"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3</a:t>
            </a:r>
          </a:p>
        </p:txBody>
      </p:sp>
      <p:sp>
        <p:nvSpPr>
          <p:cNvPr id="4" name="t103">
            <a:extLst>
              <a:ext uri="{FF2B5EF4-FFF2-40B4-BE49-F238E27FC236}">
                <a16:creationId xmlns:a16="http://schemas.microsoft.com/office/drawing/2014/main" id="{DC09CAC8-FF6D-CB8D-9B62-64F4FC0BCCA6}"/>
              </a:ext>
            </a:extLst>
          </p:cNvPr>
          <p:cNvSpPr txBox="1"/>
          <p:nvPr/>
        </p:nvSpPr>
        <p:spPr>
          <a:xfrm>
            <a:off x="5993219" y="2698750"/>
            <a:ext cx="1828209"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2</a:t>
            </a:r>
          </a:p>
        </p:txBody>
      </p:sp>
      <p:sp>
        <p:nvSpPr>
          <p:cNvPr id="5" name="t103">
            <a:extLst>
              <a:ext uri="{FF2B5EF4-FFF2-40B4-BE49-F238E27FC236}">
                <a16:creationId xmlns:a16="http://schemas.microsoft.com/office/drawing/2014/main" id="{E9DC5FA6-A35D-84D2-C3B3-3C334125CE6C}"/>
              </a:ext>
            </a:extLst>
          </p:cNvPr>
          <p:cNvSpPr txBox="1"/>
          <p:nvPr/>
        </p:nvSpPr>
        <p:spPr>
          <a:xfrm>
            <a:off x="5979633" y="4856569"/>
            <a:ext cx="1828209" cy="762000"/>
          </a:xfrm>
          <a:prstGeom prst="rect">
            <a:avLst/>
          </a:prstGeom>
          <a:noFill/>
          <a:ln>
            <a:noFill/>
          </a:ln>
        </p:spPr>
        <p:txBody>
          <a:bodyPr wrap="square" lIns="76200" tIns="38100" rIns="76200" bIns="38100" anchor="ctr"/>
          <a:lstStyle/>
          <a:p>
            <a:pPr algn="ctr">
              <a:buNone/>
            </a:pPr>
            <a:r>
              <a:rPr lang="en-US" sz="2200" b="1" dirty="0">
                <a:solidFill>
                  <a:srgbClr val="E88B40"/>
                </a:solidFill>
                <a:latin typeface="Arial"/>
              </a:rPr>
              <a:t>Objective 4</a:t>
            </a:r>
          </a:p>
        </p:txBody>
      </p:sp>
      <p:sp>
        <p:nvSpPr>
          <p:cNvPr id="6" name="r100">
            <a:extLst>
              <a:ext uri="{FF2B5EF4-FFF2-40B4-BE49-F238E27FC236}">
                <a16:creationId xmlns:a16="http://schemas.microsoft.com/office/drawing/2014/main" id="{72DA927A-1078-AD8D-A742-CC7CB3B7CFAE}"/>
              </a:ext>
            </a:extLst>
          </p:cNvPr>
          <p:cNvSpPr/>
          <p:nvPr/>
        </p:nvSpPr>
        <p:spPr>
          <a:xfrm>
            <a:off x="2131088" y="2095500"/>
            <a:ext cx="71475" cy="1968500"/>
          </a:xfrm>
          <a:prstGeom prst="rect">
            <a:avLst/>
          </a:prstGeom>
          <a:solidFill>
            <a:srgbClr val="935739"/>
          </a:solidFill>
          <a:ln>
            <a:noFill/>
          </a:ln>
        </p:spPr>
        <p:txBody>
          <a:bodyPr wrap="square" anchor="ctr"/>
          <a:lstStyle/>
          <a:p>
            <a:endParaRPr lang="en-US"/>
          </a:p>
        </p:txBody>
      </p:sp>
      <p:sp>
        <p:nvSpPr>
          <p:cNvPr id="7" name="r100">
            <a:extLst>
              <a:ext uri="{FF2B5EF4-FFF2-40B4-BE49-F238E27FC236}">
                <a16:creationId xmlns:a16="http://schemas.microsoft.com/office/drawing/2014/main" id="{1343CD27-ED94-685A-3F06-6DB264CB4937}"/>
              </a:ext>
            </a:extLst>
          </p:cNvPr>
          <p:cNvSpPr/>
          <p:nvPr/>
        </p:nvSpPr>
        <p:spPr>
          <a:xfrm>
            <a:off x="2131116" y="4260850"/>
            <a:ext cx="71475" cy="1968500"/>
          </a:xfrm>
          <a:prstGeom prst="rect">
            <a:avLst/>
          </a:prstGeom>
          <a:solidFill>
            <a:srgbClr val="935739"/>
          </a:solidFill>
          <a:ln>
            <a:noFill/>
          </a:ln>
        </p:spPr>
        <p:txBody>
          <a:bodyPr wrap="square" anchor="ctr"/>
          <a:lstStyle/>
          <a:p>
            <a:endParaRPr lang="en-US"/>
          </a:p>
        </p:txBody>
      </p:sp>
      <p:sp>
        <p:nvSpPr>
          <p:cNvPr id="8" name="r100">
            <a:extLst>
              <a:ext uri="{FF2B5EF4-FFF2-40B4-BE49-F238E27FC236}">
                <a16:creationId xmlns:a16="http://schemas.microsoft.com/office/drawing/2014/main" id="{8B6D3E4A-5AE5-212B-1A69-B9BD629945C6}"/>
              </a:ext>
            </a:extLst>
          </p:cNvPr>
          <p:cNvSpPr/>
          <p:nvPr/>
        </p:nvSpPr>
        <p:spPr>
          <a:xfrm>
            <a:off x="7705650" y="2095500"/>
            <a:ext cx="71475" cy="1968500"/>
          </a:xfrm>
          <a:prstGeom prst="rect">
            <a:avLst/>
          </a:prstGeom>
          <a:solidFill>
            <a:srgbClr val="935739"/>
          </a:solidFill>
          <a:ln>
            <a:noFill/>
          </a:ln>
        </p:spPr>
        <p:txBody>
          <a:bodyPr wrap="square" anchor="ctr"/>
          <a:lstStyle/>
          <a:p>
            <a:endParaRPr lang="en-US"/>
          </a:p>
        </p:txBody>
      </p:sp>
      <p:sp>
        <p:nvSpPr>
          <p:cNvPr id="9" name="r100">
            <a:extLst>
              <a:ext uri="{FF2B5EF4-FFF2-40B4-BE49-F238E27FC236}">
                <a16:creationId xmlns:a16="http://schemas.microsoft.com/office/drawing/2014/main" id="{88953218-CA5D-A482-0562-B9FC0E7CC384}"/>
              </a:ext>
            </a:extLst>
          </p:cNvPr>
          <p:cNvSpPr/>
          <p:nvPr/>
        </p:nvSpPr>
        <p:spPr>
          <a:xfrm>
            <a:off x="7705650" y="4251959"/>
            <a:ext cx="71475" cy="1977391"/>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293562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5"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830A898-A106-AEF2-130E-6F9D2754DE9B}"/>
              </a:ext>
            </a:extLst>
          </p:cNvPr>
          <p:cNvSpPr>
            <a:spLocks noGrp="1"/>
          </p:cNvSpPr>
          <p:nvPr>
            <p:ph type="title"/>
          </p:nvPr>
        </p:nvSpPr>
        <p:spPr>
          <a:xfrm>
            <a:off x="508000" y="888492"/>
            <a:ext cx="11176000" cy="711200"/>
          </a:xfrm>
        </p:spPr>
        <p:txBody>
          <a:bodyPr wrap="square" lIns="76200" tIns="38100" rIns="76200" bIns="38100" anchor="ctr"/>
          <a:lstStyle/>
          <a:p>
            <a:r>
              <a:rPr lang="en-US" sz="3200" b="1" dirty="0"/>
              <a:t>Background &amp; Research Gap</a:t>
            </a:r>
            <a:endParaRPr lang="en-US" sz="3200" dirty="0"/>
          </a:p>
        </p:txBody>
      </p:sp>
      <p:sp>
        <p:nvSpPr>
          <p:cNvPr id="101" name="t101"/>
          <p:cNvSpPr txBox="1"/>
          <p:nvPr/>
        </p:nvSpPr>
        <p:spPr>
          <a:xfrm>
            <a:off x="508000" y="1533017"/>
            <a:ext cx="11582400" cy="457200"/>
          </a:xfrm>
          <a:prstGeom prst="rect">
            <a:avLst/>
          </a:prstGeom>
          <a:noFill/>
          <a:ln>
            <a:noFill/>
          </a:ln>
        </p:spPr>
        <p:txBody>
          <a:bodyPr wrap="square" lIns="76200" tIns="38100" rIns="76200" bIns="38100" anchor="ctr"/>
          <a:lstStyle/>
          <a:p>
            <a:r>
              <a:rPr lang="en-US" b="1" dirty="0"/>
              <a:t>Gap</a:t>
            </a:r>
            <a:r>
              <a:rPr lang="en-US" dirty="0"/>
              <a:t>: low-cost systems rarely combine 3D joint tracking with physical launcher actuation.</a:t>
            </a:r>
            <a:endParaRPr dirty="0"/>
          </a:p>
        </p:txBody>
      </p:sp>
      <p:sp>
        <p:nvSpPr>
          <p:cNvPr id="102" name="r102"/>
          <p:cNvSpPr/>
          <p:nvPr/>
        </p:nvSpPr>
        <p:spPr>
          <a:xfrm>
            <a:off x="508000" y="2159000"/>
            <a:ext cx="4064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39624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Approach</a:t>
            </a:r>
          </a:p>
        </p:txBody>
      </p:sp>
      <p:sp>
        <p:nvSpPr>
          <p:cNvPr id="104" name="r104"/>
          <p:cNvSpPr/>
          <p:nvPr/>
        </p:nvSpPr>
        <p:spPr>
          <a:xfrm>
            <a:off x="4572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4572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Cost</a:t>
            </a:r>
          </a:p>
        </p:txBody>
      </p:sp>
      <p:sp>
        <p:nvSpPr>
          <p:cNvPr id="106" name="r106"/>
          <p:cNvSpPr/>
          <p:nvPr/>
        </p:nvSpPr>
        <p:spPr>
          <a:xfrm>
            <a:off x="6350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6350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Accuracy</a:t>
            </a:r>
          </a:p>
        </p:txBody>
      </p:sp>
      <p:sp>
        <p:nvSpPr>
          <p:cNvPr id="108" name="r108"/>
          <p:cNvSpPr/>
          <p:nvPr/>
        </p:nvSpPr>
        <p:spPr>
          <a:xfrm>
            <a:off x="8128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9" name="t109"/>
          <p:cNvSpPr txBox="1"/>
          <p:nvPr/>
        </p:nvSpPr>
        <p:spPr>
          <a:xfrm>
            <a:off x="8128000" y="2159000"/>
            <a:ext cx="1778000" cy="558800"/>
          </a:xfrm>
          <a:prstGeom prst="rect">
            <a:avLst/>
          </a:prstGeom>
          <a:noFill/>
          <a:ln>
            <a:noFill/>
          </a:ln>
        </p:spPr>
        <p:txBody>
          <a:bodyPr wrap="square" lIns="76200" tIns="38100" rIns="76200" bIns="38100" anchor="ctr"/>
          <a:lstStyle/>
          <a:p>
            <a:pPr algn="l">
              <a:buNone/>
            </a:pPr>
            <a:r>
              <a:rPr lang="en-US" sz="1600" b="1" dirty="0">
                <a:solidFill>
                  <a:srgbClr val="2A231F"/>
                </a:solidFill>
                <a:latin typeface="Arial"/>
              </a:rPr>
              <a:t>Markerless</a:t>
            </a:r>
          </a:p>
        </p:txBody>
      </p:sp>
      <p:sp>
        <p:nvSpPr>
          <p:cNvPr id="110" name="r110"/>
          <p:cNvSpPr/>
          <p:nvPr/>
        </p:nvSpPr>
        <p:spPr>
          <a:xfrm>
            <a:off x="9906000" y="2159000"/>
            <a:ext cx="1778000" cy="558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t111"/>
          <p:cNvSpPr txBox="1"/>
          <p:nvPr/>
        </p:nvSpPr>
        <p:spPr>
          <a:xfrm>
            <a:off x="9906000" y="2159000"/>
            <a:ext cx="1778000" cy="558800"/>
          </a:xfrm>
          <a:prstGeom prst="rect">
            <a:avLst/>
          </a:prstGeom>
          <a:noFill/>
          <a:ln>
            <a:noFill/>
          </a:ln>
        </p:spPr>
        <p:txBody>
          <a:bodyPr wrap="square" lIns="76200" tIns="38100" rIns="76200" bIns="38100" anchor="ctr"/>
          <a:lstStyle/>
          <a:p>
            <a:pPr algn="l">
              <a:buNone/>
            </a:pPr>
            <a:r>
              <a:rPr sz="1600" b="1">
                <a:solidFill>
                  <a:srgbClr val="2A231F"/>
                </a:solidFill>
                <a:latin typeface="Arial"/>
              </a:rPr>
              <a:t>Live-aim closed loop</a:t>
            </a:r>
          </a:p>
        </p:txBody>
      </p:sp>
      <p:sp>
        <p:nvSpPr>
          <p:cNvPr id="112" name="r112"/>
          <p:cNvSpPr/>
          <p:nvPr/>
        </p:nvSpPr>
        <p:spPr>
          <a:xfrm>
            <a:off x="508000" y="27178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609600" y="27178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Optical MoCap (OptiTrack, Vicon)</a:t>
            </a:r>
          </a:p>
        </p:txBody>
      </p:sp>
      <p:sp>
        <p:nvSpPr>
          <p:cNvPr id="114" name="r114"/>
          <p:cNvSpPr/>
          <p:nvPr/>
        </p:nvSpPr>
        <p:spPr>
          <a:xfrm>
            <a:off x="4572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4673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50k–200k</a:t>
            </a:r>
          </a:p>
        </p:txBody>
      </p:sp>
      <p:sp>
        <p:nvSpPr>
          <p:cNvPr id="116" name="r116"/>
          <p:cNvSpPr/>
          <p:nvPr/>
        </p:nvSpPr>
        <p:spPr>
          <a:xfrm>
            <a:off x="6350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6451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Very High</a:t>
            </a:r>
          </a:p>
        </p:txBody>
      </p:sp>
      <p:sp>
        <p:nvSpPr>
          <p:cNvPr id="118" name="r118"/>
          <p:cNvSpPr/>
          <p:nvPr/>
        </p:nvSpPr>
        <p:spPr>
          <a:xfrm>
            <a:off x="8128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8229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a:t>
            </a:r>
          </a:p>
        </p:txBody>
      </p:sp>
      <p:sp>
        <p:nvSpPr>
          <p:cNvPr id="120" name="r120"/>
          <p:cNvSpPr/>
          <p:nvPr/>
        </p:nvSpPr>
        <p:spPr>
          <a:xfrm>
            <a:off x="9906000" y="27178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10007600" y="27178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No launcher</a:t>
            </a:r>
          </a:p>
        </p:txBody>
      </p:sp>
      <p:sp>
        <p:nvSpPr>
          <p:cNvPr id="122" name="r122"/>
          <p:cNvSpPr/>
          <p:nvPr/>
        </p:nvSpPr>
        <p:spPr>
          <a:xfrm>
            <a:off x="508000" y="34988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349885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Commercial launchers</a:t>
            </a:r>
          </a:p>
        </p:txBody>
      </p:sp>
      <p:sp>
        <p:nvSpPr>
          <p:cNvPr id="124" name="r124"/>
          <p:cNvSpPr/>
          <p:nvPr/>
        </p:nvSpPr>
        <p:spPr>
          <a:xfrm>
            <a:off x="4572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4673600" y="3498850"/>
            <a:ext cx="1574800" cy="781050"/>
          </a:xfrm>
          <a:prstGeom prst="rect">
            <a:avLst/>
          </a:prstGeom>
          <a:noFill/>
          <a:ln>
            <a:noFill/>
          </a:ln>
        </p:spPr>
        <p:txBody>
          <a:bodyPr wrap="square" lIns="76200" tIns="38100" rIns="76200" bIns="38100" anchor="ctr"/>
          <a:lstStyle/>
          <a:p>
            <a:r>
              <a:rPr lang="en-US" sz="1400" dirty="0"/>
              <a:t>USD 200–4k</a:t>
            </a:r>
            <a:endParaRPr lang="en-US" sz="1400" dirty="0">
              <a:solidFill>
                <a:srgbClr val="2A231F"/>
              </a:solidFill>
              <a:latin typeface="Arial"/>
            </a:endParaRPr>
          </a:p>
        </p:txBody>
      </p:sp>
      <p:sp>
        <p:nvSpPr>
          <p:cNvPr id="126" name="r126"/>
          <p:cNvSpPr/>
          <p:nvPr/>
        </p:nvSpPr>
        <p:spPr>
          <a:xfrm>
            <a:off x="6350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451600" y="3498850"/>
            <a:ext cx="1574800" cy="781050"/>
          </a:xfrm>
          <a:prstGeom prst="rect">
            <a:avLst/>
          </a:prstGeom>
          <a:noFill/>
          <a:ln>
            <a:noFill/>
          </a:ln>
        </p:spPr>
        <p:txBody>
          <a:bodyPr wrap="square" lIns="76200" tIns="38100" rIns="76200" bIns="38100" anchor="ctr"/>
          <a:lstStyle/>
          <a:p>
            <a:r>
              <a:rPr lang="en-US" sz="1400" dirty="0"/>
              <a:t>N/A</a:t>
            </a:r>
            <a:endParaRPr lang="en-US" sz="1400" dirty="0">
              <a:solidFill>
                <a:srgbClr val="2A231F"/>
              </a:solidFill>
              <a:latin typeface="Arial"/>
            </a:endParaRPr>
          </a:p>
        </p:txBody>
      </p:sp>
      <p:sp>
        <p:nvSpPr>
          <p:cNvPr id="128" name="r128"/>
          <p:cNvSpPr/>
          <p:nvPr/>
        </p:nvSpPr>
        <p:spPr>
          <a:xfrm>
            <a:off x="8128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8229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30" name="r130"/>
          <p:cNvSpPr/>
          <p:nvPr/>
        </p:nvSpPr>
        <p:spPr>
          <a:xfrm>
            <a:off x="9906000" y="34988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10007600" y="34988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Open-loop only</a:t>
            </a:r>
          </a:p>
        </p:txBody>
      </p:sp>
      <p:sp>
        <p:nvSpPr>
          <p:cNvPr id="132" name="r132"/>
          <p:cNvSpPr/>
          <p:nvPr/>
        </p:nvSpPr>
        <p:spPr>
          <a:xfrm>
            <a:off x="508000" y="4279900"/>
            <a:ext cx="4064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4279900"/>
            <a:ext cx="3860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Vision-guided sports robots</a:t>
            </a:r>
          </a:p>
        </p:txBody>
      </p:sp>
      <p:sp>
        <p:nvSpPr>
          <p:cNvPr id="134" name="r134"/>
          <p:cNvSpPr/>
          <p:nvPr/>
        </p:nvSpPr>
        <p:spPr>
          <a:xfrm>
            <a:off x="4572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4673600" y="4279900"/>
            <a:ext cx="1574800" cy="781050"/>
          </a:xfrm>
          <a:prstGeom prst="rect">
            <a:avLst/>
          </a:prstGeom>
          <a:noFill/>
          <a:ln>
            <a:noFill/>
          </a:ln>
        </p:spPr>
        <p:txBody>
          <a:bodyPr wrap="square" lIns="76200" tIns="38100" rIns="76200" bIns="38100" anchor="ctr"/>
          <a:lstStyle/>
          <a:p>
            <a:r>
              <a:rPr lang="en-US" sz="1400" dirty="0"/>
              <a:t>USD 2k–10k</a:t>
            </a:r>
            <a:endParaRPr lang="en-US" sz="1400" dirty="0">
              <a:solidFill>
                <a:srgbClr val="2A231F"/>
              </a:solidFill>
              <a:latin typeface="Arial"/>
            </a:endParaRPr>
          </a:p>
        </p:txBody>
      </p:sp>
      <p:sp>
        <p:nvSpPr>
          <p:cNvPr id="136" name="r136"/>
          <p:cNvSpPr/>
          <p:nvPr/>
        </p:nvSpPr>
        <p:spPr>
          <a:xfrm>
            <a:off x="6350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6451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Medium–high</a:t>
            </a:r>
          </a:p>
        </p:txBody>
      </p:sp>
      <p:sp>
        <p:nvSpPr>
          <p:cNvPr id="138" name="r138"/>
          <p:cNvSpPr/>
          <p:nvPr/>
        </p:nvSpPr>
        <p:spPr>
          <a:xfrm>
            <a:off x="8128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9" name="t139"/>
          <p:cNvSpPr txBox="1"/>
          <p:nvPr/>
        </p:nvSpPr>
        <p:spPr>
          <a:xfrm>
            <a:off x="8229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Usually</a:t>
            </a:r>
          </a:p>
        </p:txBody>
      </p:sp>
      <p:sp>
        <p:nvSpPr>
          <p:cNvPr id="140" name="r140"/>
          <p:cNvSpPr/>
          <p:nvPr/>
        </p:nvSpPr>
        <p:spPr>
          <a:xfrm>
            <a:off x="9906000" y="4279900"/>
            <a:ext cx="1778000" cy="78105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41" name="t141"/>
          <p:cNvSpPr txBox="1"/>
          <p:nvPr/>
        </p:nvSpPr>
        <p:spPr>
          <a:xfrm>
            <a:off x="10007600" y="427990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Fixed zones</a:t>
            </a:r>
          </a:p>
        </p:txBody>
      </p:sp>
      <p:sp>
        <p:nvSpPr>
          <p:cNvPr id="142" name="r142"/>
          <p:cNvSpPr/>
          <p:nvPr/>
        </p:nvSpPr>
        <p:spPr>
          <a:xfrm>
            <a:off x="508000" y="5060950"/>
            <a:ext cx="4064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3" name="t143"/>
          <p:cNvSpPr txBox="1"/>
          <p:nvPr/>
        </p:nvSpPr>
        <p:spPr>
          <a:xfrm>
            <a:off x="609600" y="5060950"/>
            <a:ext cx="3860800" cy="78105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This work</a:t>
            </a:r>
          </a:p>
        </p:txBody>
      </p:sp>
      <p:sp>
        <p:nvSpPr>
          <p:cNvPr id="144" name="r144"/>
          <p:cNvSpPr/>
          <p:nvPr/>
        </p:nvSpPr>
        <p:spPr>
          <a:xfrm>
            <a:off x="4572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5" name="t145"/>
          <p:cNvSpPr txBox="1"/>
          <p:nvPr/>
        </p:nvSpPr>
        <p:spPr>
          <a:xfrm>
            <a:off x="4673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~USD 200</a:t>
            </a:r>
          </a:p>
        </p:txBody>
      </p:sp>
      <p:sp>
        <p:nvSpPr>
          <p:cNvPr id="146" name="r146"/>
          <p:cNvSpPr/>
          <p:nvPr/>
        </p:nvSpPr>
        <p:spPr>
          <a:xfrm>
            <a:off x="6350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7" name="t147"/>
          <p:cNvSpPr txBox="1"/>
          <p:nvPr/>
        </p:nvSpPr>
        <p:spPr>
          <a:xfrm>
            <a:off x="6451600" y="5060950"/>
            <a:ext cx="1574800" cy="781050"/>
          </a:xfrm>
          <a:prstGeom prst="rect">
            <a:avLst/>
          </a:prstGeom>
          <a:noFill/>
          <a:ln>
            <a:noFill/>
          </a:ln>
        </p:spPr>
        <p:txBody>
          <a:bodyPr wrap="square" lIns="76200" tIns="38100" rIns="76200" bIns="38100" anchor="ctr"/>
          <a:lstStyle/>
          <a:p>
            <a:r>
              <a:rPr lang="en-US" sz="1400" dirty="0">
                <a:solidFill>
                  <a:srgbClr val="2A231F"/>
                </a:solidFill>
                <a:latin typeface="Arial"/>
              </a:rPr>
              <a:t>Targeting-level</a:t>
            </a:r>
          </a:p>
        </p:txBody>
      </p:sp>
      <p:sp>
        <p:nvSpPr>
          <p:cNvPr id="148" name="r148"/>
          <p:cNvSpPr/>
          <p:nvPr/>
        </p:nvSpPr>
        <p:spPr>
          <a:xfrm>
            <a:off x="8128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49" name="t149"/>
          <p:cNvSpPr txBox="1"/>
          <p:nvPr/>
        </p:nvSpPr>
        <p:spPr>
          <a:xfrm>
            <a:off x="8229600" y="5060950"/>
            <a:ext cx="1574800" cy="78105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Yes</a:t>
            </a:r>
          </a:p>
        </p:txBody>
      </p:sp>
      <p:sp>
        <p:nvSpPr>
          <p:cNvPr id="150" name="r150"/>
          <p:cNvSpPr/>
          <p:nvPr/>
        </p:nvSpPr>
        <p:spPr>
          <a:xfrm>
            <a:off x="9906000" y="5060950"/>
            <a:ext cx="1778000" cy="78105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51" name="t151"/>
          <p:cNvSpPr txBox="1"/>
          <p:nvPr/>
        </p:nvSpPr>
        <p:spPr>
          <a:xfrm>
            <a:off x="10007600" y="5060950"/>
            <a:ext cx="1574800" cy="781050"/>
          </a:xfrm>
          <a:prstGeom prst="rect">
            <a:avLst/>
          </a:prstGeom>
          <a:noFill/>
          <a:ln>
            <a:noFill/>
          </a:ln>
        </p:spPr>
        <p:txBody>
          <a:bodyPr wrap="square" lIns="76200" tIns="38100" rIns="76200" bIns="38100" anchor="ctr"/>
          <a:lstStyle/>
          <a:p>
            <a:pPr algn="l">
              <a:buNone/>
            </a:pPr>
            <a:r>
              <a:rPr sz="1400">
                <a:solidFill>
                  <a:srgbClr val="2A231F"/>
                </a:solidFill>
                <a:latin typeface="Arial"/>
              </a:rPr>
              <a:t>Aim + controlled single-shot validated</a:t>
            </a:r>
          </a:p>
        </p:txBody>
      </p:sp>
      <p:sp>
        <p:nvSpPr>
          <p:cNvPr id="152" name="t152"/>
          <p:cNvSpPr txBox="1"/>
          <p:nvPr/>
        </p:nvSpPr>
        <p:spPr>
          <a:xfrm>
            <a:off x="3776921" y="1936242"/>
            <a:ext cx="4942958" cy="222250"/>
          </a:xfrm>
          <a:prstGeom prst="rect">
            <a:avLst/>
          </a:prstGeom>
          <a:noFill/>
          <a:ln>
            <a:noFill/>
          </a:ln>
        </p:spPr>
        <p:txBody>
          <a:bodyPr wrap="square" lIns="76200" tIns="38100" rIns="76200" bIns="38100" anchor="ctr"/>
          <a:lstStyle/>
          <a:p>
            <a:pPr algn="ctr"/>
            <a:r>
              <a:rPr sz="1400" dirty="0">
                <a:solidFill>
                  <a:srgbClr val="935739"/>
                </a:solidFill>
              </a:rPr>
              <a:t>Table 1. Existing categories and the gap this thesis fills.</a:t>
            </a:r>
          </a:p>
        </p:txBody>
      </p:sp>
      <p:sp>
        <p:nvSpPr>
          <p:cNvPr id="153" name="r153"/>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54" name="t154"/>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a:t>
            </a:r>
            <a:r>
              <a:rPr lang="en-US" dirty="0">
                <a:solidFill>
                  <a:schemeClr val="bg1"/>
                </a:solidFill>
              </a:rPr>
              <a:t>low-cost </a:t>
            </a:r>
            <a:r>
              <a:rPr lang="en-US" dirty="0" err="1">
                <a:solidFill>
                  <a:schemeClr val="bg1"/>
                </a:solidFill>
              </a:rPr>
              <a:t>markerless</a:t>
            </a:r>
            <a:r>
              <a:rPr lang="en-US" dirty="0">
                <a:solidFill>
                  <a:schemeClr val="bg1"/>
                </a:solidFill>
              </a:rPr>
              <a:t> 3D perception is connected to real launcher aiming; moving-target firing remains next.</a:t>
            </a:r>
            <a:endParaRPr dirty="0">
              <a:solidFill>
                <a:schemeClr val="bg1"/>
              </a:solidFill>
            </a:endParaRPr>
          </a:p>
        </p:txBody>
      </p:sp>
      <p:sp>
        <p:nvSpPr>
          <p:cNvPr id="158" name="Rectangle 157"/>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59" name="Rectangle 158"/>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4</a:t>
            </a:r>
          </a:p>
        </p:txBody>
      </p:sp>
      <p:sp>
        <p:nvSpPr>
          <p:cNvPr id="3" name="r100">
            <a:extLst>
              <a:ext uri="{FF2B5EF4-FFF2-40B4-BE49-F238E27FC236}">
                <a16:creationId xmlns:a16="http://schemas.microsoft.com/office/drawing/2014/main" id="{348415D7-1934-2FA5-6E14-8A8C95A3E103}"/>
              </a:ext>
            </a:extLst>
          </p:cNvPr>
          <p:cNvSpPr/>
          <p:nvPr/>
        </p:nvSpPr>
        <p:spPr>
          <a:xfrm>
            <a:off x="609600" y="1477253"/>
            <a:ext cx="476059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2890502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2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202" name="Title"/>
          <p:cNvSpPr>
            <a:spLocks noGrp="1"/>
          </p:cNvSpPr>
          <p:nvPr>
            <p:ph type="title"/>
          </p:nvPr>
        </p:nvSpPr>
        <p:spPr>
          <a:xfrm>
            <a:off x="508000" y="934720"/>
            <a:ext cx="7620000" cy="711200"/>
          </a:xfrm>
        </p:spPr>
        <p:txBody>
          <a:bodyPr wrap="square" lIns="76200" tIns="38100" rIns="76200" bIns="38100" anchor="ctr"/>
          <a:lstStyle/>
          <a:p>
            <a:r>
              <a:rPr lang="en-US" sz="3200" b="1" dirty="0"/>
              <a:t>Key Technical Components</a:t>
            </a:r>
            <a:endParaRPr lang="en-US" sz="3200" dirty="0"/>
          </a:p>
        </p:txBody>
      </p:sp>
      <p:sp>
        <p:nvSpPr>
          <p:cNvPr id="203" name="subtitle"/>
          <p:cNvSpPr txBox="1"/>
          <p:nvPr/>
        </p:nvSpPr>
        <p:spPr>
          <a:xfrm>
            <a:off x="508000" y="1700000"/>
            <a:ext cx="11176000" cy="380000"/>
          </a:xfrm>
          <a:prstGeom prst="rect">
            <a:avLst/>
          </a:prstGeom>
          <a:noFill/>
          <a:ln>
            <a:noFill/>
          </a:ln>
        </p:spPr>
        <p:txBody>
          <a:bodyPr wrap="square" lIns="76200" tIns="0" rIns="76200" bIns="0" anchor="ctr"/>
          <a:lstStyle/>
          <a:p>
            <a:pPr algn="l">
              <a:buNone/>
            </a:pPr>
            <a:r>
              <a:rPr lang="en-US" i="1" dirty="0">
                <a:solidFill>
                  <a:srgbClr val="935739"/>
                </a:solidFill>
                <a:latin typeface="Arial"/>
              </a:rPr>
              <a:t>Six</a:t>
            </a:r>
            <a:r>
              <a:rPr lang="en-US" sz="1800" b="0" i="1" dirty="0">
                <a:solidFill>
                  <a:srgbClr val="935739"/>
                </a:solidFill>
                <a:latin typeface="Arial"/>
              </a:rPr>
              <a:t> contributions across perception, control, safety, and interaction</a:t>
            </a:r>
          </a:p>
        </p:txBody>
      </p:sp>
      <p:sp>
        <p:nvSpPr>
          <p:cNvPr id="204" name="card1"/>
          <p:cNvSpPr/>
          <p:nvPr/>
        </p:nvSpPr>
        <p:spPr>
          <a:xfrm>
            <a:off x="508000" y="2472521"/>
            <a:ext cx="3556000" cy="1320000"/>
          </a:xfrm>
          <a:prstGeom prst="rect">
            <a:avLst/>
          </a:prstGeom>
          <a:solidFill>
            <a:srgbClr val="935739"/>
          </a:solidFill>
          <a:ln w="0">
            <a:noFill/>
          </a:ln>
        </p:spPr>
        <p:txBody>
          <a:bodyPr wrap="square" lIns="152400" tIns="152400" rIns="152400" bIns="76200" anchor="t"/>
          <a:lstStyle/>
          <a:p>
            <a:pPr algn="l">
              <a:buNone/>
            </a:pPr>
            <a:r>
              <a:rPr sz="3200" b="1">
                <a:solidFill>
                  <a:srgbClr val="FFFFFF"/>
                </a:solidFill>
                <a:latin typeface="Calibri"/>
              </a:rPr>
              <a:t>01 | Pose-reactive aiming at low-cost | Markerless live-aim, commodity hardware (Sec 5.9)</a:t>
            </a:r>
          </a:p>
        </p:txBody>
      </p:sp>
      <p:sp>
        <p:nvSpPr>
          <p:cNvPr id="205" name="card2"/>
          <p:cNvSpPr/>
          <p:nvPr/>
        </p:nvSpPr>
        <p:spPr>
          <a:xfrm>
            <a:off x="4318000" y="2472521"/>
            <a:ext cx="3556000" cy="1320000"/>
          </a:xfrm>
          <a:prstGeom prst="rect">
            <a:avLst/>
          </a:prstGeom>
          <a:solidFill>
            <a:srgbClr val="7A4A2E"/>
          </a:solidFill>
          <a:ln w="0">
            <a:noFill/>
          </a:ln>
        </p:spPr>
        <p:txBody>
          <a:bodyPr wrap="square" lIns="152400" tIns="152400" rIns="152400" bIns="76200" anchor="t"/>
          <a:lstStyle/>
          <a:p>
            <a:pPr algn="l">
              <a:buNone/>
            </a:pPr>
            <a:r>
              <a:rPr sz="3200" b="1">
                <a:solidFill>
                  <a:srgbClr val="FFFFFF"/>
                </a:solidFill>
                <a:latin typeface="Calibri"/>
              </a:rPr>
              <a:t>02 | Validated 4-camera 3D targeting pipeline | DLT/SVD, 95.17 mm corrected ball mean (Table 5.1)</a:t>
            </a:r>
          </a:p>
        </p:txBody>
      </p:sp>
      <p:sp>
        <p:nvSpPr>
          <p:cNvPr id="206" name="card3"/>
          <p:cNvSpPr/>
          <p:nvPr/>
        </p:nvSpPr>
        <p:spPr>
          <a:xfrm>
            <a:off x="8128000" y="2472521"/>
            <a:ext cx="3556000" cy="1320000"/>
          </a:xfrm>
          <a:prstGeom prst="rect">
            <a:avLst/>
          </a:prstGeom>
          <a:solidFill>
            <a:srgbClr val="935739"/>
          </a:solidFill>
          <a:ln w="0">
            <a:noFill/>
          </a:ln>
        </p:spPr>
        <p:txBody>
          <a:bodyPr wrap="square" lIns="152400" tIns="152400" rIns="152400" bIns="76200" anchor="t"/>
          <a:lstStyle/>
          <a:p>
            <a:pPr algn="l">
              <a:buNone/>
            </a:pPr>
            <a:r>
              <a:rPr sz="3200" b="1">
                <a:solidFill>
                  <a:srgbClr val="FFFFFF"/>
                </a:solidFill>
                <a:latin typeface="Calibri"/>
              </a:rPr>
              <a:t>03 | High-speed YOLO-Pose launch loop | 6.2 ms/frame TRT FP16, 15 FPS live pipeline (Sec 5.6)</a:t>
            </a:r>
          </a:p>
        </p:txBody>
      </p:sp>
      <p:sp>
        <p:nvSpPr>
          <p:cNvPr id="207" name="card4"/>
          <p:cNvSpPr/>
          <p:nvPr/>
        </p:nvSpPr>
        <p:spPr>
          <a:xfrm>
            <a:off x="508000" y="4265000"/>
            <a:ext cx="3556000" cy="1320000"/>
          </a:xfrm>
          <a:prstGeom prst="rect">
            <a:avLst/>
          </a:prstGeom>
          <a:solidFill>
            <a:srgbClr val="7A4A2E"/>
          </a:solidFill>
          <a:ln w="0">
            <a:noFill/>
          </a:ln>
        </p:spPr>
        <p:txBody>
          <a:bodyPr wrap="square" lIns="152400" tIns="152400" rIns="152400" bIns="76200" anchor="t"/>
          <a:lstStyle/>
          <a:p>
            <a:pPr algn="l">
              <a:buNone/>
            </a:pPr>
            <a:r>
              <a:rPr sz="3200" b="1">
                <a:solidFill>
                  <a:srgbClr val="FFFFFF"/>
                </a:solidFill>
                <a:latin typeface="Calibri"/>
              </a:rPr>
              <a:t>04 | Six-stage safety validation architecture | S0-S4 passed 2026-04-09, E-STOP &lt;100 ms (Sec 3.14.3)</a:t>
            </a:r>
          </a:p>
        </p:txBody>
      </p:sp>
      <p:sp>
        <p:nvSpPr>
          <p:cNvPr id="208" name="card5"/>
          <p:cNvSpPr/>
          <p:nvPr/>
        </p:nvSpPr>
        <p:spPr>
          <a:xfrm>
            <a:off x="4318000" y="4265000"/>
            <a:ext cx="3556000" cy="1320000"/>
          </a:xfrm>
          <a:prstGeom prst="rect">
            <a:avLst/>
          </a:prstGeom>
          <a:solidFill>
            <a:srgbClr val="935739"/>
          </a:solidFill>
          <a:ln w="0">
            <a:noFill/>
          </a:ln>
        </p:spPr>
        <p:txBody>
          <a:bodyPr wrap="square" lIns="152400" tIns="152400" rIns="152400" bIns="76200" anchor="t"/>
          <a:lstStyle/>
          <a:p>
            <a:pPr algn="l">
              <a:buNone/>
            </a:pPr>
            <a:r>
              <a:rPr sz="3200" b="1">
                <a:solidFill>
                  <a:srgbClr val="FFFFFF"/>
                </a:solidFill>
                <a:latin typeface="Calibri"/>
              </a:rPr>
              <a:t>05 | Multi-modal voice command interface | Offline ASR + UDP inter-process channel (Sec 3.12)</a:t>
            </a:r>
          </a:p>
        </p:txBody>
      </p:sp>
      <p:sp>
        <p:nvSpPr>
          <p:cNvPr id="209" name="card6"/>
          <p:cNvSpPr/>
          <p:nvPr/>
        </p:nvSpPr>
        <p:spPr>
          <a:xfrm>
            <a:off x="8128000" y="4276020"/>
            <a:ext cx="3556000" cy="1320000"/>
          </a:xfrm>
          <a:prstGeom prst="rect">
            <a:avLst/>
          </a:prstGeom>
          <a:solidFill>
            <a:srgbClr val="7A4A2E"/>
          </a:solidFill>
          <a:ln w="0">
            <a:noFill/>
          </a:ln>
        </p:spPr>
        <p:txBody>
          <a:bodyPr wrap="square" lIns="152400" tIns="152400" rIns="152400" bIns="76200" anchor="t"/>
          <a:lstStyle/>
          <a:p>
            <a:pPr algn="l">
              <a:buNone/>
            </a:pPr>
            <a:r>
              <a:rPr sz="3200" b="1">
                <a:solidFill>
                  <a:srgbClr val="FFFFFF"/>
                </a:solidFill>
                <a:latin typeface="Calibri"/>
              </a:rPr>
              <a:t>06 | Reproducible GT datasets &amp; JSONL logs | 36-pt ball grid + 81-trial joint-touch protocol (Ch 4)</a:t>
            </a:r>
          </a:p>
        </p:txBody>
      </p:sp>
      <p:sp>
        <p:nvSpPr>
          <p:cNvPr id="210"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211"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err="1">
                <a:solidFill>
                  <a:srgbClr val="FFFFFF"/>
                </a:solidFill>
                <a:latin typeface="Arial"/>
              </a:rPr>
              <a:t>Takeaway:a</a:t>
            </a:r>
            <a:r>
              <a:rPr lang="en-US" sz="1600" b="0" i="1" dirty="0">
                <a:solidFill>
                  <a:srgbClr val="FFFFFF"/>
                </a:solidFill>
                <a:latin typeface="Arial"/>
              </a:rPr>
              <a:t> conventional launcher is upgraded into a pose-guided, safety-gated training system.</a:t>
            </a:r>
          </a:p>
        </p:txBody>
      </p:sp>
      <p:sp>
        <p:nvSpPr>
          <p:cNvPr id="212"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
        <p:nvSpPr>
          <p:cNvPr id="213" name="title_accent"/>
          <p:cNvSpPr/>
          <p:nvPr/>
        </p:nvSpPr>
        <p:spPr>
          <a:xfrm>
            <a:off x="586739" y="1498738"/>
            <a:ext cx="4474846" cy="74444"/>
          </a:xfrm>
          <a:prstGeom prst="rect">
            <a:avLst/>
          </a:prstGeom>
          <a:solidFill>
            <a:srgbClr val="935739"/>
          </a:solidFill>
          <a:ln>
            <a:noFill/>
          </a:ln>
        </p:spPr>
        <p:txBody>
          <a:bodyPr wrap="square" anchor="ct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746BD5-2913-DD92-C947-369C3BBB51E4}"/>
              </a:ext>
            </a:extLst>
          </p:cNvPr>
          <p:cNvSpPr>
            <a:spLocks noGrp="1"/>
          </p:cNvSpPr>
          <p:nvPr>
            <p:ph type="title"/>
          </p:nvPr>
        </p:nvSpPr>
        <p:spPr>
          <a:xfrm>
            <a:off x="508000" y="970766"/>
            <a:ext cx="11176000" cy="711200"/>
          </a:xfrm>
        </p:spPr>
        <p:txBody>
          <a:bodyPr wrap="square" lIns="76200" tIns="38100" rIns="76200" bIns="38100" anchor="ctr"/>
          <a:lstStyle/>
          <a:p>
            <a:pPr algn="l">
              <a:buNone/>
            </a:pPr>
            <a:r>
              <a:rPr lang="en-US" sz="3200" b="1" dirty="0">
                <a:solidFill>
                  <a:srgbClr val="1F1F1F"/>
                </a:solidFill>
                <a:latin typeface="Calibri"/>
              </a:rPr>
              <a:t>Proposed System — Pose-to-Aim Integration</a:t>
            </a:r>
          </a:p>
        </p:txBody>
      </p:sp>
      <p:sp>
        <p:nvSpPr>
          <p:cNvPr id="101" name="t101"/>
          <p:cNvSpPr txBox="1"/>
          <p:nvPr/>
        </p:nvSpPr>
        <p:spPr>
          <a:xfrm>
            <a:off x="508000" y="1697684"/>
            <a:ext cx="11176000" cy="457200"/>
          </a:xfrm>
          <a:prstGeom prst="rect">
            <a:avLst/>
          </a:prstGeom>
          <a:noFill/>
          <a:ln>
            <a:noFill/>
          </a:ln>
        </p:spPr>
        <p:txBody>
          <a:bodyPr wrap="square" lIns="76200" tIns="38100" rIns="76200" bIns="38100" anchor="ctr"/>
          <a:lstStyle/>
          <a:p>
            <a:r>
              <a:rPr lang="en-US" dirty="0"/>
              <a:t>Upgrading inherited BLM hardware with vision-guided aiming, safety, and evaluation.</a:t>
            </a:r>
            <a:endParaRPr dirty="0"/>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The thesis contribution is the integration of perception, prediction, safety, and BLM control.</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5</a:t>
            </a:r>
          </a:p>
        </p:txBody>
      </p:sp>
      <p:sp>
        <p:nvSpPr>
          <p:cNvPr id="4" name="r100">
            <a:extLst>
              <a:ext uri="{FF2B5EF4-FFF2-40B4-BE49-F238E27FC236}">
                <a16:creationId xmlns:a16="http://schemas.microsoft.com/office/drawing/2014/main" id="{701D6E1F-D161-36F8-EBBD-9EB7CEBB6ACB}"/>
              </a:ext>
            </a:extLst>
          </p:cNvPr>
          <p:cNvSpPr/>
          <p:nvPr/>
        </p:nvSpPr>
        <p:spPr>
          <a:xfrm>
            <a:off x="575310" y="1607522"/>
            <a:ext cx="7490460" cy="74444"/>
          </a:xfrm>
          <a:prstGeom prst="rect">
            <a:avLst/>
          </a:prstGeom>
          <a:solidFill>
            <a:srgbClr val="935739"/>
          </a:solidFill>
          <a:ln>
            <a:noFill/>
          </a:ln>
        </p:spPr>
        <p:txBody>
          <a:bodyPr wrap="square" anchor="ctr"/>
          <a:lstStyle/>
          <a:p>
            <a:endParaRPr lang="en-US"/>
          </a:p>
        </p:txBody>
      </p:sp>
      <p:sp>
        <p:nvSpPr>
          <p:cNvPr id="6" name="AutoShape 4" descr="Compact PNG">
            <a:extLst>
              <a:ext uri="{FF2B5EF4-FFF2-40B4-BE49-F238E27FC236}">
                <a16:creationId xmlns:a16="http://schemas.microsoft.com/office/drawing/2014/main" id="{B191B60C-357A-96AF-CE66-BD81C543A6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6" descr="PNG 640×480">
            <a:extLst>
              <a:ext uri="{FF2B5EF4-FFF2-40B4-BE49-F238E27FC236}">
                <a16:creationId xmlns:a16="http://schemas.microsoft.com/office/drawing/2014/main" id="{2E6EB612-7719-6BBC-3E2B-67C9B7666FD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113" name="t102">
            <a:extLst>
              <a:ext uri="{FF2B5EF4-FFF2-40B4-BE49-F238E27FC236}">
                <a16:creationId xmlns:a16="http://schemas.microsoft.com/office/drawing/2014/main" id="{86A7C749-F441-E0AF-9E42-DA598F687CD8}"/>
              </a:ext>
            </a:extLst>
          </p:cNvPr>
          <p:cNvGraphicFramePr/>
          <p:nvPr>
            <p:extLst>
              <p:ext uri="{D42A27DB-BD31-4B8C-83A1-F6EECF244321}">
                <p14:modId xmlns:p14="http://schemas.microsoft.com/office/powerpoint/2010/main" val="3452673509"/>
              </p:ext>
            </p:extLst>
          </p:nvPr>
        </p:nvGraphicFramePr>
        <p:xfrm>
          <a:off x="508000" y="2170602"/>
          <a:ext cx="5969000" cy="3810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a:extLst>
              <a:ext uri="{FF2B5EF4-FFF2-40B4-BE49-F238E27FC236}">
                <a16:creationId xmlns:a16="http://schemas.microsoft.com/office/drawing/2014/main" id="{B7086023-F246-067A-A0BE-3D123B7E0EF6}"/>
              </a:ext>
            </a:extLst>
          </p:cNvPr>
          <p:cNvPicPr>
            <a:picLocks noChangeAspect="1"/>
          </p:cNvPicPr>
          <p:nvPr/>
        </p:nvPicPr>
        <p:blipFill>
          <a:blip r:embed="rId9"/>
          <a:stretch>
            <a:fillRect/>
          </a:stretch>
        </p:blipFill>
        <p:spPr>
          <a:xfrm>
            <a:off x="6546041" y="2587469"/>
            <a:ext cx="5645959" cy="2855527"/>
          </a:xfrm>
          <a:prstGeom prst="rect">
            <a:avLst/>
          </a:prstGeom>
        </p:spPr>
      </p:pic>
    </p:spTree>
    <p:extLst>
      <p:ext uri="{BB962C8B-B14F-4D97-AF65-F5344CB8AC3E}">
        <p14:creationId xmlns:p14="http://schemas.microsoft.com/office/powerpoint/2010/main" val="4097475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D94B3-EDA8-3229-40E7-08A456D45697}"/>
              </a:ext>
            </a:extLst>
          </p:cNvPr>
          <p:cNvSpPr>
            <a:spLocks noGrp="1"/>
          </p:cNvSpPr>
          <p:nvPr>
            <p:ph type="title"/>
          </p:nvPr>
        </p:nvSpPr>
        <p:spPr>
          <a:xfrm>
            <a:off x="508000" y="920750"/>
            <a:ext cx="11176000" cy="711200"/>
          </a:xfrm>
        </p:spPr>
        <p:txBody>
          <a:bodyPr wrap="square" lIns="76200" tIns="38100" rIns="76200" bIns="38100" anchor="ctr"/>
          <a:lstStyle/>
          <a:p>
            <a:pPr algn="l">
              <a:buNone/>
            </a:pPr>
            <a:r>
              <a:rPr lang="en-US" sz="3200" b="1" dirty="0">
                <a:solidFill>
                  <a:srgbClr val="1F1F1F"/>
                </a:solidFill>
                <a:latin typeface="Calibri"/>
              </a:rPr>
              <a:t>Architecture &amp; Pipeline</a:t>
            </a:r>
          </a:p>
        </p:txBody>
      </p:sp>
      <p:sp>
        <p:nvSpPr>
          <p:cNvPr id="101" name="t101"/>
          <p:cNvSpPr txBox="1"/>
          <p:nvPr/>
        </p:nvSpPr>
        <p:spPr>
          <a:xfrm>
            <a:off x="508000" y="1566440"/>
            <a:ext cx="11176000" cy="457200"/>
          </a:xfrm>
          <a:prstGeom prst="rect">
            <a:avLst/>
          </a:prstGeom>
          <a:noFill/>
          <a:ln>
            <a:noFill/>
          </a:ln>
        </p:spPr>
        <p:txBody>
          <a:bodyPr wrap="square" lIns="76200" tIns="38100" rIns="76200" bIns="38100" anchor="ctr"/>
          <a:lstStyle/>
          <a:p>
            <a:r>
              <a:rPr lang="en-US" dirty="0"/>
              <a:t>End-to-end runtime: ≈15 </a:t>
            </a:r>
            <a:r>
              <a:rPr lang="en-US" dirty="0" err="1"/>
              <a:t>ms</a:t>
            </a:r>
            <a:r>
              <a:rPr lang="en-US" dirty="0"/>
              <a:t>, below the 67 </a:t>
            </a:r>
            <a:r>
              <a:rPr lang="en-US" dirty="0" err="1"/>
              <a:t>ms</a:t>
            </a:r>
            <a:r>
              <a:rPr lang="en-US" dirty="0"/>
              <a:t> frame budget at 15 FPS.</a:t>
            </a:r>
            <a:endParaRPr dirty="0"/>
          </a:p>
        </p:txBody>
      </p:sp>
      <p:sp>
        <p:nvSpPr>
          <p:cNvPr id="103" name="t103"/>
          <p:cNvSpPr txBox="1"/>
          <p:nvPr/>
        </p:nvSpPr>
        <p:spPr>
          <a:xfrm>
            <a:off x="635000" y="2222500"/>
            <a:ext cx="10922000" cy="2794000"/>
          </a:xfrm>
          <a:prstGeom prst="rect">
            <a:avLst/>
          </a:prstGeom>
          <a:noFill/>
          <a:ln>
            <a:noFill/>
          </a:ln>
        </p:spPr>
        <p:txBody>
          <a:bodyPr wrap="square" lIns="76200" tIns="38100" rIns="76200" bIns="38100" anchor="ctr"/>
          <a:lstStyle/>
          <a:p>
            <a:r>
              <a:rPr dirty="0"/>
              <a:t>Capture 4ms → YOLO-Pose 6.2ms → Triangulate → Kalman → Ballistic Solve → Safety Gates → Serial 2ms → ESP32 FSM  |  Total ~15ms  |  Budget 67ms  |  Headroom 52ms</a:t>
            </a:r>
          </a:p>
        </p:txBody>
      </p:sp>
      <p:graphicFrame>
        <p:nvGraphicFramePr>
          <p:cNvPr id="13" name="Diagram 12">
            <a:extLst>
              <a:ext uri="{FF2B5EF4-FFF2-40B4-BE49-F238E27FC236}">
                <a16:creationId xmlns:a16="http://schemas.microsoft.com/office/drawing/2014/main" id="{98B952FD-98AD-CB37-8056-D6A270E3EA16}"/>
              </a:ext>
            </a:extLst>
          </p:cNvPr>
          <p:cNvGraphicFramePr/>
          <p:nvPr>
            <p:extLst>
              <p:ext uri="{D42A27DB-BD31-4B8C-83A1-F6EECF244321}">
                <p14:modId xmlns:p14="http://schemas.microsoft.com/office/powerpoint/2010/main" val="1181165612"/>
              </p:ext>
            </p:extLst>
          </p:nvPr>
        </p:nvGraphicFramePr>
        <p:xfrm>
          <a:off x="508000" y="5270500"/>
          <a:ext cx="11176000" cy="1016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compute pipeline ≈15 </a:t>
            </a:r>
            <a:r>
              <a:rPr lang="en-US" sz="1600" b="0" i="1" dirty="0" err="1">
                <a:solidFill>
                  <a:srgbClr val="FFFFFF"/>
                </a:solidFill>
                <a:latin typeface="Arial"/>
              </a:rPr>
              <a:t>ms</a:t>
            </a:r>
            <a:r>
              <a:rPr lang="en-US" sz="1600" b="0" i="1" dirty="0">
                <a:solidFill>
                  <a:srgbClr val="FFFFFF"/>
                </a:solidFill>
                <a:latin typeface="Arial"/>
              </a:rPr>
              <a:t>; 52 </a:t>
            </a:r>
            <a:r>
              <a:rPr lang="en-US" sz="1600" b="0" i="1" dirty="0" err="1">
                <a:solidFill>
                  <a:srgbClr val="FFFFFF"/>
                </a:solidFill>
                <a:latin typeface="Arial"/>
              </a:rPr>
              <a:t>ms</a:t>
            </a:r>
            <a:r>
              <a:rPr lang="en-US" sz="1600" b="0" i="1" dirty="0">
                <a:solidFill>
                  <a:srgbClr val="FFFFFF"/>
                </a:solidFill>
                <a:latin typeface="Arial"/>
              </a:rPr>
              <a:t> headroom remains within the 67 </a:t>
            </a:r>
            <a:r>
              <a:rPr lang="en-US" sz="1600" b="0" i="1" dirty="0" err="1">
                <a:solidFill>
                  <a:srgbClr val="FFFFFF"/>
                </a:solidFill>
                <a:latin typeface="Arial"/>
              </a:rPr>
              <a:t>ms</a:t>
            </a:r>
            <a:r>
              <a:rPr lang="en-US" sz="1600" b="0" i="1" dirty="0">
                <a:solidFill>
                  <a:srgbClr val="FFFFFF"/>
                </a:solidFill>
                <a:latin typeface="Arial"/>
              </a:rPr>
              <a:t> frame budget.</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6</a:t>
            </a:r>
          </a:p>
        </p:txBody>
      </p:sp>
      <p:sp>
        <p:nvSpPr>
          <p:cNvPr id="4" name="r100">
            <a:extLst>
              <a:ext uri="{FF2B5EF4-FFF2-40B4-BE49-F238E27FC236}">
                <a16:creationId xmlns:a16="http://schemas.microsoft.com/office/drawing/2014/main" id="{61B0C28A-DB8B-7382-848C-20D0E37DD0F8}"/>
              </a:ext>
            </a:extLst>
          </p:cNvPr>
          <p:cNvSpPr/>
          <p:nvPr/>
        </p:nvSpPr>
        <p:spPr>
          <a:xfrm>
            <a:off x="579120" y="1428496"/>
            <a:ext cx="3912870" cy="74444"/>
          </a:xfrm>
          <a:prstGeom prst="rect">
            <a:avLst/>
          </a:prstGeom>
          <a:solidFill>
            <a:srgbClr val="935739"/>
          </a:solidFill>
          <a:ln>
            <a:noFill/>
          </a:ln>
        </p:spPr>
        <p:txBody>
          <a:bodyPr wrap="square" anchor="ctr"/>
          <a:lstStyle/>
          <a:p>
            <a:endParaRPr lang="en-US"/>
          </a:p>
        </p:txBody>
      </p:sp>
      <p:sp>
        <p:nvSpPr>
          <p:cNvPr id="5" name="AutoShape 4">
            <a:extLst>
              <a:ext uri="{FF2B5EF4-FFF2-40B4-BE49-F238E27FC236}">
                <a16:creationId xmlns:a16="http://schemas.microsoft.com/office/drawing/2014/main" id="{207166F8-60DB-4B61-3E80-9AC57330FFE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6">
            <a:extLst>
              <a:ext uri="{FF2B5EF4-FFF2-40B4-BE49-F238E27FC236}">
                <a16:creationId xmlns:a16="http://schemas.microsoft.com/office/drawing/2014/main" id="{2ADC8CF1-6050-E6A7-DF58-683108FC4BE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8">
            <a:extLst>
              <a:ext uri="{FF2B5EF4-FFF2-40B4-BE49-F238E27FC236}">
                <a16:creationId xmlns:a16="http://schemas.microsoft.com/office/drawing/2014/main" id="{DB9CFC76-3220-6CFF-D2AA-87291F44C468}"/>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AutoShape 10">
            <a:extLst>
              <a:ext uri="{FF2B5EF4-FFF2-40B4-BE49-F238E27FC236}">
                <a16:creationId xmlns:a16="http://schemas.microsoft.com/office/drawing/2014/main" id="{80C896BA-EEDF-D6DC-8FB1-B47165DF0683}"/>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2" name="Picture 11">
            <a:extLst>
              <a:ext uri="{FF2B5EF4-FFF2-40B4-BE49-F238E27FC236}">
                <a16:creationId xmlns:a16="http://schemas.microsoft.com/office/drawing/2014/main" id="{0B348062-1020-7596-80EF-B68277F8F28F}"/>
              </a:ext>
            </a:extLst>
          </p:cNvPr>
          <p:cNvPicPr>
            <a:picLocks noChangeAspect="1"/>
          </p:cNvPicPr>
          <p:nvPr/>
        </p:nvPicPr>
        <p:blipFill>
          <a:blip r:embed="rId9"/>
          <a:stretch>
            <a:fillRect/>
          </a:stretch>
        </p:blipFill>
        <p:spPr>
          <a:xfrm>
            <a:off x="713691" y="2288465"/>
            <a:ext cx="11112549" cy="2848237"/>
          </a:xfrm>
          <a:prstGeom prst="rect">
            <a:avLst/>
          </a:prstGeom>
        </p:spPr>
      </p:pic>
    </p:spTree>
    <p:extLst>
      <p:ext uri="{BB962C8B-B14F-4D97-AF65-F5344CB8AC3E}">
        <p14:creationId xmlns:p14="http://schemas.microsoft.com/office/powerpoint/2010/main" val="2439234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8"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635394-164C-9D20-18AB-4002E28303CD}"/>
              </a:ext>
            </a:extLst>
          </p:cNvPr>
          <p:cNvSpPr>
            <a:spLocks noGrp="1"/>
          </p:cNvSpPr>
          <p:nvPr>
            <p:ph type="title"/>
          </p:nvPr>
        </p:nvSpPr>
        <p:spPr>
          <a:xfrm>
            <a:off x="410845" y="1098550"/>
            <a:ext cx="11176000" cy="711200"/>
          </a:xfrm>
        </p:spPr>
        <p:txBody>
          <a:bodyPr wrap="square" lIns="76200" tIns="38100" rIns="76200" bIns="38100" anchor="ctr"/>
          <a:lstStyle/>
          <a:p>
            <a:pPr algn="l">
              <a:buNone/>
            </a:pPr>
            <a:r>
              <a:rPr lang="en-US" sz="3200" b="1" dirty="0">
                <a:solidFill>
                  <a:srgbClr val="1F1F1F"/>
                </a:solidFill>
                <a:latin typeface="Calibri"/>
              </a:rPr>
              <a:t>Hardware Implementation</a:t>
            </a:r>
          </a:p>
        </p:txBody>
      </p:sp>
      <p:sp>
        <p:nvSpPr>
          <p:cNvPr id="101" name="t101"/>
          <p:cNvSpPr txBox="1"/>
          <p:nvPr/>
        </p:nvSpPr>
        <p:spPr>
          <a:xfrm>
            <a:off x="410845" y="1997710"/>
            <a:ext cx="11176000" cy="457200"/>
          </a:xfrm>
          <a:prstGeom prst="rect">
            <a:avLst/>
          </a:prstGeom>
          <a:noFill/>
          <a:ln>
            <a:noFill/>
          </a:ln>
        </p:spPr>
        <p:txBody>
          <a:bodyPr wrap="square" lIns="76200" tIns="38100" rIns="76200" bIns="38100" anchor="ctr"/>
          <a:lstStyle/>
          <a:p>
            <a:r>
              <a:rPr/>
              <a:t>Practical actuation paired with low-cost sensing — perception ≈USD 120, total ≈USD 358.</a:t>
            </a:r>
          </a:p>
        </p:txBody>
      </p:sp>
      <p:sp>
        <p:nvSpPr>
          <p:cNvPr id="102" name="t102"/>
          <p:cNvSpPr txBox="1"/>
          <p:nvPr/>
        </p:nvSpPr>
        <p:spPr>
          <a:xfrm>
            <a:off x="1267674" y="4611032"/>
            <a:ext cx="5180647" cy="719559"/>
          </a:xfrm>
          <a:prstGeom prst="rect">
            <a:avLst/>
          </a:prstGeom>
          <a:noFill/>
          <a:ln>
            <a:noFill/>
          </a:ln>
        </p:spPr>
        <p:txBody>
          <a:bodyPr wrap="square" lIns="76200" tIns="38100" rIns="76200" bIns="38100" anchor="ctr"/>
          <a:lstStyle/>
          <a:p>
            <a:pPr>
              <a:spcBef>
                <a:spcPts val="500"/>
              </a:spcBef>
            </a:pPr>
            <a:r>
              <a:rPr lang="en-US" sz="1800" dirty="0">
                <a:solidFill>
                  <a:srgbClr val="2A231F"/>
                </a:solidFill>
                <a:latin typeface="Arial"/>
              </a:rPr>
              <a:t>NEMA-23 steppers with worm-gear reducers (self-locking for safety).</a:t>
            </a:r>
          </a:p>
        </p:txBody>
      </p:sp>
      <p:sp>
        <p:nvSpPr>
          <p:cNvPr id="103" name="r103"/>
          <p:cNvSpPr/>
          <p:nvPr/>
        </p:nvSpPr>
        <p:spPr>
          <a:xfrm>
            <a:off x="6858000" y="2095500"/>
            <a:ext cx="4826000" cy="2286000"/>
          </a:xfrm>
          <a:prstGeom prst="rect">
            <a:avLst/>
          </a:prstGeom>
          <a:solidFill>
            <a:srgbClr val="F7F1EC"/>
          </a:solidFill>
          <a:ln w="15240">
            <a:solidFill>
              <a:srgbClr val="935739"/>
            </a:solidFill>
          </a:ln>
        </p:spPr>
        <p:txBody>
          <a:bodyPr wrap="square" anchor="ctr"/>
          <a:lstStyle/>
          <a:p>
            <a:endParaRPr lang="en-US"/>
          </a:p>
        </p:txBody>
      </p:sp>
      <p:sp>
        <p:nvSpPr>
          <p:cNvPr id="104" name="t104"/>
          <p:cNvSpPr txBox="1"/>
          <p:nvPr/>
        </p:nvSpPr>
        <p:spPr>
          <a:xfrm>
            <a:off x="6985000" y="2222500"/>
            <a:ext cx="4572000" cy="2032000"/>
          </a:xfrm>
          <a:prstGeom prst="rect">
            <a:avLst/>
          </a:prstGeom>
          <a:noFill/>
          <a:ln>
            <a:noFill/>
          </a:ln>
        </p:spPr>
        <p:txBody>
          <a:bodyPr wrap="square" lIns="76200" tIns="38100" rIns="76200" bIns="38100" anchor="ctr"/>
          <a:lstStyle/>
          <a:p>
            <a:pPr algn="ctr">
              <a:buNone/>
            </a:pPr>
            <a:r>
              <a:rPr sz="1400" i="1">
                <a:solidFill>
                  <a:srgbClr val="935739"/>
                </a:solidFill>
                <a:latin typeface="Arial"/>
              </a:rPr>
              <a:t>Arena setup: 4 USB cameras at corners, BLM at centre, 24 AprilTag fiducials on walls for extrinsic calibration (Sec 3.5). All hardware fits in a domestic garage — no lab infrastructure required.</a:t>
            </a:r>
          </a:p>
        </p:txBody>
      </p:sp>
      <p:sp>
        <p:nvSpPr>
          <p:cNvPr id="105" name="r105"/>
          <p:cNvSpPr/>
          <p:nvPr/>
        </p:nvSpPr>
        <p:spPr>
          <a:xfrm>
            <a:off x="6858000" y="4508500"/>
            <a:ext cx="4826000" cy="3556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6" name="t106"/>
          <p:cNvSpPr txBox="1"/>
          <p:nvPr/>
        </p:nvSpPr>
        <p:spPr>
          <a:xfrm>
            <a:off x="6959600" y="4508500"/>
            <a:ext cx="2540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Item</a:t>
            </a:r>
          </a:p>
        </p:txBody>
      </p:sp>
      <p:sp>
        <p:nvSpPr>
          <p:cNvPr id="107" name="t107"/>
          <p:cNvSpPr txBox="1"/>
          <p:nvPr/>
        </p:nvSpPr>
        <p:spPr>
          <a:xfrm>
            <a:off x="9499600" y="4508500"/>
            <a:ext cx="2032000" cy="3556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Cost</a:t>
            </a:r>
          </a:p>
        </p:txBody>
      </p:sp>
      <p:sp>
        <p:nvSpPr>
          <p:cNvPr id="108" name="r108"/>
          <p:cNvSpPr/>
          <p:nvPr/>
        </p:nvSpPr>
        <p:spPr>
          <a:xfrm>
            <a:off x="6858000" y="48641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959600" y="48641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Cameras (4×)</a:t>
            </a:r>
          </a:p>
        </p:txBody>
      </p:sp>
      <p:sp>
        <p:nvSpPr>
          <p:cNvPr id="110" name="t110"/>
          <p:cNvSpPr txBox="1"/>
          <p:nvPr/>
        </p:nvSpPr>
        <p:spPr>
          <a:xfrm>
            <a:off x="9499600" y="48641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120</a:t>
            </a:r>
          </a:p>
        </p:txBody>
      </p:sp>
      <p:sp>
        <p:nvSpPr>
          <p:cNvPr id="111" name="r111"/>
          <p:cNvSpPr/>
          <p:nvPr/>
        </p:nvSpPr>
        <p:spPr>
          <a:xfrm>
            <a:off x="6858000" y="50927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2" name="t112"/>
          <p:cNvSpPr txBox="1"/>
          <p:nvPr/>
        </p:nvSpPr>
        <p:spPr>
          <a:xfrm>
            <a:off x="6959600" y="50927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ESP32</a:t>
            </a:r>
          </a:p>
        </p:txBody>
      </p:sp>
      <p:sp>
        <p:nvSpPr>
          <p:cNvPr id="113" name="t113"/>
          <p:cNvSpPr txBox="1"/>
          <p:nvPr/>
        </p:nvSpPr>
        <p:spPr>
          <a:xfrm>
            <a:off x="9499600" y="50927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a:t>
            </a:r>
          </a:p>
        </p:txBody>
      </p:sp>
      <p:sp>
        <p:nvSpPr>
          <p:cNvPr id="114" name="r114"/>
          <p:cNvSpPr/>
          <p:nvPr/>
        </p:nvSpPr>
        <p:spPr>
          <a:xfrm>
            <a:off x="6858000" y="53213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959600" y="53213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Steppers + drivers</a:t>
            </a:r>
          </a:p>
        </p:txBody>
      </p:sp>
      <p:sp>
        <p:nvSpPr>
          <p:cNvPr id="116" name="t116"/>
          <p:cNvSpPr txBox="1"/>
          <p:nvPr/>
        </p:nvSpPr>
        <p:spPr>
          <a:xfrm>
            <a:off x="9499600" y="53213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90</a:t>
            </a:r>
          </a:p>
        </p:txBody>
      </p:sp>
      <p:sp>
        <p:nvSpPr>
          <p:cNvPr id="117" name="r117"/>
          <p:cNvSpPr/>
          <p:nvPr/>
        </p:nvSpPr>
        <p:spPr>
          <a:xfrm>
            <a:off x="6858000" y="55499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8" name="t118"/>
          <p:cNvSpPr txBox="1"/>
          <p:nvPr/>
        </p:nvSpPr>
        <p:spPr>
          <a:xfrm>
            <a:off x="6959600" y="55499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Flywheel motors + ESCs</a:t>
            </a:r>
          </a:p>
        </p:txBody>
      </p:sp>
      <p:sp>
        <p:nvSpPr>
          <p:cNvPr id="119" name="t119"/>
          <p:cNvSpPr txBox="1"/>
          <p:nvPr/>
        </p:nvSpPr>
        <p:spPr>
          <a:xfrm>
            <a:off x="9499600" y="55499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60</a:t>
            </a:r>
          </a:p>
        </p:txBody>
      </p:sp>
      <p:sp>
        <p:nvSpPr>
          <p:cNvPr id="120" name="r120"/>
          <p:cNvSpPr/>
          <p:nvPr/>
        </p:nvSpPr>
        <p:spPr>
          <a:xfrm>
            <a:off x="6858000" y="5778500"/>
            <a:ext cx="4826000" cy="2286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959600" y="5778500"/>
            <a:ext cx="2540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Chassis + wiring</a:t>
            </a:r>
          </a:p>
        </p:txBody>
      </p:sp>
      <p:sp>
        <p:nvSpPr>
          <p:cNvPr id="122" name="t122"/>
          <p:cNvSpPr txBox="1"/>
          <p:nvPr/>
        </p:nvSpPr>
        <p:spPr>
          <a:xfrm>
            <a:off x="9499600" y="5778500"/>
            <a:ext cx="2032000" cy="228600"/>
          </a:xfrm>
          <a:prstGeom prst="rect">
            <a:avLst/>
          </a:prstGeom>
          <a:noFill/>
          <a:ln>
            <a:noFill/>
          </a:ln>
        </p:spPr>
        <p:txBody>
          <a:bodyPr wrap="square" lIns="76200" tIns="38100" rIns="76200" bIns="38100" anchor="ctr"/>
          <a:lstStyle/>
          <a:p>
            <a:pPr algn="l">
              <a:buNone/>
            </a:pPr>
            <a:r>
              <a:rPr lang="en-US" sz="1200" dirty="0">
                <a:solidFill>
                  <a:srgbClr val="2A231F"/>
                </a:solidFill>
                <a:latin typeface="Arial"/>
              </a:rPr>
              <a:t>~USD 80</a:t>
            </a:r>
          </a:p>
        </p:txBody>
      </p:sp>
      <p:sp>
        <p:nvSpPr>
          <p:cNvPr id="123" name="r123"/>
          <p:cNvSpPr/>
          <p:nvPr/>
        </p:nvSpPr>
        <p:spPr>
          <a:xfrm>
            <a:off x="6858000" y="6007100"/>
            <a:ext cx="4826000" cy="2286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4" name="t124"/>
          <p:cNvSpPr txBox="1"/>
          <p:nvPr/>
        </p:nvSpPr>
        <p:spPr>
          <a:xfrm>
            <a:off x="6959600" y="6007100"/>
            <a:ext cx="2540000" cy="228600"/>
          </a:xfrm>
          <a:prstGeom prst="rect">
            <a:avLst/>
          </a:prstGeom>
          <a:noFill/>
          <a:ln>
            <a:noFill/>
          </a:ln>
        </p:spPr>
        <p:txBody>
          <a:bodyPr wrap="square" lIns="76200" tIns="38100" rIns="76200" bIns="38100" anchor="ctr"/>
          <a:lstStyle/>
          <a:p>
            <a:pPr algn="l">
              <a:buNone/>
            </a:pPr>
            <a:r>
              <a:rPr sz="1200">
                <a:solidFill>
                  <a:srgbClr val="2A231F"/>
                </a:solidFill>
                <a:latin typeface="Arial"/>
              </a:rPr>
              <a:t>Total</a:t>
            </a:r>
          </a:p>
        </p:txBody>
      </p:sp>
      <p:sp>
        <p:nvSpPr>
          <p:cNvPr id="125" name="t125"/>
          <p:cNvSpPr txBox="1"/>
          <p:nvPr/>
        </p:nvSpPr>
        <p:spPr>
          <a:xfrm>
            <a:off x="9499600" y="6007100"/>
            <a:ext cx="2032000" cy="228600"/>
          </a:xfrm>
          <a:prstGeom prst="rect">
            <a:avLst/>
          </a:prstGeom>
          <a:noFill/>
          <a:ln>
            <a:noFill/>
          </a:ln>
        </p:spPr>
        <p:txBody>
          <a:bodyPr wrap="square" lIns="76200" tIns="38100" rIns="76200" bIns="38100" anchor="ctr"/>
          <a:lstStyle/>
          <a:p>
            <a:pPr algn="l">
              <a:buNone/>
            </a:pPr>
            <a:r>
              <a:rPr sz="1200">
                <a:solidFill>
                  <a:srgbClr val="2A231F"/>
                </a:solidFill>
                <a:latin typeface="Arial"/>
              </a:rPr>
              <a:t>≈USD 358</a:t>
            </a:r>
          </a:p>
        </p:txBody>
      </p:sp>
      <p:sp>
        <p:nvSpPr>
          <p:cNvPr id="126" name="r126"/>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7" name="t127"/>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sz="1600" b="0" i="1">
                <a:solidFill>
                  <a:srgbClr val="FFFFFF"/>
                </a:solidFill>
                <a:latin typeface="Arial"/>
              </a:rPr>
              <a:t>Takeaway: expensive MoCap is not required for pose-guided aiming; perception is ≈USD 120, with ≈USD 358 for the full BLM (Sec 3.2, Table 3.2).</a:t>
            </a:r>
          </a:p>
        </p:txBody>
      </p:sp>
      <p:sp>
        <p:nvSpPr>
          <p:cNvPr id="129" name="TextBox 128"/>
          <p:cNvSpPr txBox="1"/>
          <p:nvPr/>
        </p:nvSpPr>
        <p:spPr>
          <a:xfrm>
            <a:off x="8050433" y="4320000"/>
            <a:ext cx="2055371" cy="246221"/>
          </a:xfrm>
          <a:prstGeom prst="rect">
            <a:avLst/>
          </a:prstGeom>
          <a:noFill/>
        </p:spPr>
        <p:txBody>
          <a:bodyPr wrap="none">
            <a:spAutoFit/>
          </a:bodyPr>
          <a:lstStyle/>
          <a:p>
            <a:pPr algn="l"/>
            <a:r>
              <a:rPr sz="1000" i="1" dirty="0">
                <a:solidFill>
                  <a:srgbClr val="935739"/>
                </a:solidFill>
                <a:latin typeface="Arial"/>
              </a:rPr>
              <a:t>Table 2. </a:t>
            </a:r>
            <a:r>
              <a:rPr lang="en-US" sz="1000" i="1" dirty="0">
                <a:solidFill>
                  <a:srgbClr val="935739"/>
                </a:solidFill>
                <a:latin typeface="Arial"/>
              </a:rPr>
              <a:t>Indicative hardware cost</a:t>
            </a:r>
            <a:endParaRPr sz="1000" i="1" dirty="0">
              <a:solidFill>
                <a:srgbClr val="935739"/>
              </a:solidFill>
              <a:latin typeface="Arial"/>
            </a:endParaRPr>
          </a:p>
        </p:txBody>
      </p:sp>
      <p:sp>
        <p:nvSpPr>
          <p:cNvPr id="132" name="Rectangle 13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33" name="Rectangle 13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7</a:t>
            </a:r>
          </a:p>
        </p:txBody>
      </p:sp>
      <p:sp>
        <p:nvSpPr>
          <p:cNvPr id="3" name="r100">
            <a:extLst>
              <a:ext uri="{FF2B5EF4-FFF2-40B4-BE49-F238E27FC236}">
                <a16:creationId xmlns:a16="http://schemas.microsoft.com/office/drawing/2014/main" id="{3EC0AC55-7E9F-50E1-19E6-8BCF04EB2BFF}"/>
              </a:ext>
            </a:extLst>
          </p:cNvPr>
          <p:cNvSpPr/>
          <p:nvPr/>
        </p:nvSpPr>
        <p:spPr>
          <a:xfrm>
            <a:off x="508000" y="1634976"/>
            <a:ext cx="4443095" cy="74444"/>
          </a:xfrm>
          <a:prstGeom prst="rect">
            <a:avLst/>
          </a:prstGeom>
          <a:solidFill>
            <a:srgbClr val="935739"/>
          </a:solidFill>
          <a:ln>
            <a:noFill/>
          </a:ln>
        </p:spPr>
        <p:txBody>
          <a:bodyPr wrap="square" anchor="ctr"/>
          <a:lstStyle/>
          <a:p>
            <a:endParaRPr lang="en-US"/>
          </a:p>
        </p:txBody>
      </p:sp>
      <p:pic>
        <p:nvPicPr>
          <p:cNvPr id="6" name="Picture 5">
            <a:extLst>
              <a:ext uri="{FF2B5EF4-FFF2-40B4-BE49-F238E27FC236}">
                <a16:creationId xmlns:a16="http://schemas.microsoft.com/office/drawing/2014/main" id="{78DF0C4C-76F1-606E-9D1E-2D057621D7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0" y="1026290"/>
            <a:ext cx="935038" cy="1040710"/>
          </a:xfrm>
          <a:prstGeom prst="rect">
            <a:avLst/>
          </a:prstGeom>
        </p:spPr>
      </p:pic>
      <p:pic>
        <p:nvPicPr>
          <p:cNvPr id="8" name="Picture 7">
            <a:extLst>
              <a:ext uri="{FF2B5EF4-FFF2-40B4-BE49-F238E27FC236}">
                <a16:creationId xmlns:a16="http://schemas.microsoft.com/office/drawing/2014/main" id="{FB495A86-40BE-C114-EDED-797D20ED73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81506" y="1038005"/>
            <a:ext cx="809307" cy="993995"/>
          </a:xfrm>
          <a:prstGeom prst="rect">
            <a:avLst/>
          </a:prstGeom>
        </p:spPr>
      </p:pic>
      <p:pic>
        <p:nvPicPr>
          <p:cNvPr id="10" name="Picture 9">
            <a:extLst>
              <a:ext uri="{FF2B5EF4-FFF2-40B4-BE49-F238E27FC236}">
                <a16:creationId xmlns:a16="http://schemas.microsoft.com/office/drawing/2014/main" id="{26181F31-5B35-B0DD-EA84-01B8AB454D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43012" y="1049675"/>
            <a:ext cx="1288519" cy="988675"/>
          </a:xfrm>
          <a:prstGeom prst="rect">
            <a:avLst/>
          </a:prstGeom>
        </p:spPr>
      </p:pic>
      <p:pic>
        <p:nvPicPr>
          <p:cNvPr id="5" name="Picture 4">
            <a:extLst>
              <a:ext uri="{FF2B5EF4-FFF2-40B4-BE49-F238E27FC236}">
                <a16:creationId xmlns:a16="http://schemas.microsoft.com/office/drawing/2014/main" id="{3D6F6848-663D-DCCD-E59E-BEEFF6A5CB66}"/>
              </a:ext>
            </a:extLst>
          </p:cNvPr>
          <p:cNvPicPr>
            <a:picLocks noChangeAspect="1"/>
          </p:cNvPicPr>
          <p:nvPr/>
        </p:nvPicPr>
        <p:blipFill>
          <a:blip r:embed="rId7">
            <a:extLst>
              <a:ext uri="{28A0092B-C50C-407E-A947-70E740481C1C}">
                <a14:useLocalDpi xmlns:a14="http://schemas.microsoft.com/office/drawing/2010/main" val="0"/>
              </a:ext>
            </a:extLst>
          </a:blip>
          <a:srcRect t="17976" b="34276"/>
          <a:stretch>
            <a:fillRect/>
          </a:stretch>
        </p:blipFill>
        <p:spPr>
          <a:xfrm>
            <a:off x="142514" y="2428095"/>
            <a:ext cx="1234319" cy="773194"/>
          </a:xfrm>
          <a:prstGeom prst="rect">
            <a:avLst/>
          </a:prstGeom>
        </p:spPr>
      </p:pic>
      <p:pic>
        <p:nvPicPr>
          <p:cNvPr id="9" name="Picture 8">
            <a:extLst>
              <a:ext uri="{FF2B5EF4-FFF2-40B4-BE49-F238E27FC236}">
                <a16:creationId xmlns:a16="http://schemas.microsoft.com/office/drawing/2014/main" id="{73DAB91E-6E5A-7422-206E-2638FDE391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1329" y="4556692"/>
            <a:ext cx="896688" cy="896688"/>
          </a:xfrm>
          <a:prstGeom prst="rect">
            <a:avLst/>
          </a:prstGeom>
        </p:spPr>
      </p:pic>
      <p:pic>
        <p:nvPicPr>
          <p:cNvPr id="12" name="Picture 11">
            <a:extLst>
              <a:ext uri="{FF2B5EF4-FFF2-40B4-BE49-F238E27FC236}">
                <a16:creationId xmlns:a16="http://schemas.microsoft.com/office/drawing/2014/main" id="{41BDF5B5-A6B3-A9A4-2604-A96236E8027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0733" y="3576127"/>
            <a:ext cx="817880" cy="612347"/>
          </a:xfrm>
          <a:prstGeom prst="rect">
            <a:avLst/>
          </a:prstGeom>
        </p:spPr>
      </p:pic>
      <p:sp>
        <p:nvSpPr>
          <p:cNvPr id="13" name="TextBox 12">
            <a:extLst>
              <a:ext uri="{FF2B5EF4-FFF2-40B4-BE49-F238E27FC236}">
                <a16:creationId xmlns:a16="http://schemas.microsoft.com/office/drawing/2014/main" id="{AA9B0E4F-F218-6098-F5F1-7EE481E5C801}"/>
              </a:ext>
            </a:extLst>
          </p:cNvPr>
          <p:cNvSpPr txBox="1"/>
          <p:nvPr/>
        </p:nvSpPr>
        <p:spPr>
          <a:xfrm>
            <a:off x="1267674" y="2509520"/>
            <a:ext cx="5431893" cy="926316"/>
          </a:xfrm>
          <a:prstGeom prst="rect">
            <a:avLst/>
          </a:prstGeom>
          <a:noFill/>
        </p:spPr>
        <p:txBody>
          <a:bodyPr wrap="square" rtlCol="0">
            <a:spAutoFit/>
          </a:bodyPr>
          <a:lstStyle/>
          <a:p>
            <a:r>
              <a:rPr lang="en-US" dirty="0">
                <a:solidFill>
                  <a:srgbClr val="2A231F"/>
                </a:solidFill>
                <a:latin typeface="Arial"/>
              </a:rPr>
              <a:t>4× Hikvision DS-E12 USB cameras (1280×720, ~$30 each).</a:t>
            </a:r>
          </a:p>
          <a:p>
            <a:endParaRPr lang="ru-RU" dirty="0"/>
          </a:p>
        </p:txBody>
      </p:sp>
      <p:sp>
        <p:nvSpPr>
          <p:cNvPr id="14" name="TextBox 13">
            <a:extLst>
              <a:ext uri="{FF2B5EF4-FFF2-40B4-BE49-F238E27FC236}">
                <a16:creationId xmlns:a16="http://schemas.microsoft.com/office/drawing/2014/main" id="{AB830980-A2D9-2FE5-4306-A4604F0DCB6B}"/>
              </a:ext>
            </a:extLst>
          </p:cNvPr>
          <p:cNvSpPr txBox="1"/>
          <p:nvPr/>
        </p:nvSpPr>
        <p:spPr>
          <a:xfrm>
            <a:off x="1267674" y="3517261"/>
            <a:ext cx="4826000" cy="923330"/>
          </a:xfrm>
          <a:prstGeom prst="rect">
            <a:avLst/>
          </a:prstGeom>
          <a:noFill/>
        </p:spPr>
        <p:txBody>
          <a:bodyPr wrap="square" rtlCol="0">
            <a:spAutoFit/>
          </a:bodyPr>
          <a:lstStyle/>
          <a:p>
            <a:r>
              <a:rPr lang="en-US" dirty="0">
                <a:solidFill>
                  <a:srgbClr val="2A231F"/>
                </a:solidFill>
                <a:latin typeface="Arial"/>
              </a:rPr>
              <a:t>ESP32 MCU running cooperative FSM (921,600 baud serial link).</a:t>
            </a:r>
          </a:p>
          <a:p>
            <a:endParaRPr lang="ru-RU" dirty="0"/>
          </a:p>
        </p:txBody>
      </p:sp>
    </p:spTree>
    <p:extLst>
      <p:ext uri="{BB962C8B-B14F-4D97-AF65-F5344CB8AC3E}">
        <p14:creationId xmlns:p14="http://schemas.microsoft.com/office/powerpoint/2010/main" val="3157767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9"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EBE49CD-7B1C-7E5C-D2D7-F16B8085FA4E}"/>
              </a:ext>
            </a:extLst>
          </p:cNvPr>
          <p:cNvSpPr>
            <a:spLocks noGrp="1"/>
          </p:cNvSpPr>
          <p:nvPr>
            <p:ph type="title"/>
          </p:nvPr>
        </p:nvSpPr>
        <p:spPr>
          <a:xfrm>
            <a:off x="422275" y="984250"/>
            <a:ext cx="11176000" cy="711200"/>
          </a:xfrm>
        </p:spPr>
        <p:txBody>
          <a:bodyPr wrap="square" lIns="76200" tIns="38100" rIns="76200" bIns="38100" anchor="ctr"/>
          <a:lstStyle/>
          <a:p>
            <a:pPr algn="l">
              <a:buNone/>
            </a:pPr>
            <a:r>
              <a:rPr lang="en-US" sz="3200" b="1" dirty="0">
                <a:solidFill>
                  <a:srgbClr val="1F1F1F"/>
                </a:solidFill>
                <a:latin typeface="Calibri"/>
              </a:rPr>
              <a:t>Software Implementation</a:t>
            </a:r>
          </a:p>
        </p:txBody>
      </p:sp>
      <p:sp>
        <p:nvSpPr>
          <p:cNvPr id="101" name="t101"/>
          <p:cNvSpPr txBox="1"/>
          <p:nvPr/>
        </p:nvSpPr>
        <p:spPr>
          <a:xfrm>
            <a:off x="508000" y="1562100"/>
            <a:ext cx="11176000" cy="457200"/>
          </a:xfrm>
          <a:prstGeom prst="rect">
            <a:avLst/>
          </a:prstGeom>
          <a:noFill/>
          <a:ln>
            <a:noFill/>
          </a:ln>
        </p:spPr>
        <p:txBody>
          <a:bodyPr wrap="square" lIns="76200" tIns="38100" rIns="76200" bIns="38100" anchor="ctr"/>
          <a:lstStyle/>
          <a:p>
            <a:r>
              <a:rPr lang="en-US" dirty="0"/>
              <a:t>YOLO-Pose + </a:t>
            </a:r>
            <a:r>
              <a:rPr lang="en-US" dirty="0" err="1"/>
              <a:t>TensorRT</a:t>
            </a:r>
            <a:r>
              <a:rPr lang="en-US" dirty="0"/>
              <a:t> enables real-time 4-camera inference within the 67 </a:t>
            </a:r>
            <a:r>
              <a:rPr lang="en-US" dirty="0" err="1"/>
              <a:t>ms</a:t>
            </a:r>
            <a:r>
              <a:rPr lang="en-US" dirty="0"/>
              <a:t> frame budget.</a:t>
            </a:r>
            <a:endParaRPr dirty="0"/>
          </a:p>
        </p:txBody>
      </p:sp>
      <p:sp>
        <p:nvSpPr>
          <p:cNvPr id="102" name="r102"/>
          <p:cNvSpPr/>
          <p:nvPr/>
        </p:nvSpPr>
        <p:spPr>
          <a:xfrm>
            <a:off x="508000" y="2095500"/>
            <a:ext cx="1778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095500"/>
            <a:ext cx="1574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Layer</a:t>
            </a:r>
          </a:p>
        </p:txBody>
      </p:sp>
      <p:sp>
        <p:nvSpPr>
          <p:cNvPr id="104" name="r104"/>
          <p:cNvSpPr/>
          <p:nvPr/>
        </p:nvSpPr>
        <p:spPr>
          <a:xfrm>
            <a:off x="2286000" y="2095500"/>
            <a:ext cx="4191000" cy="4318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2387600" y="2095500"/>
            <a:ext cx="3987800" cy="431800"/>
          </a:xfrm>
          <a:prstGeom prst="rect">
            <a:avLst/>
          </a:prstGeom>
          <a:noFill/>
          <a:ln>
            <a:noFill/>
          </a:ln>
        </p:spPr>
        <p:txBody>
          <a:bodyPr wrap="square" lIns="76200" tIns="38100" rIns="76200" bIns="38100" anchor="ctr"/>
          <a:lstStyle/>
          <a:p>
            <a:pPr algn="l">
              <a:buNone/>
            </a:pPr>
            <a:r>
              <a:rPr lang="en-US" sz="1400" b="1" dirty="0">
                <a:solidFill>
                  <a:srgbClr val="2A231F"/>
                </a:solidFill>
                <a:latin typeface="Arial"/>
              </a:rPr>
              <a:t>Module / Tool</a:t>
            </a:r>
          </a:p>
        </p:txBody>
      </p:sp>
      <p:sp>
        <p:nvSpPr>
          <p:cNvPr id="106" name="r106"/>
          <p:cNvSpPr/>
          <p:nvPr/>
        </p:nvSpPr>
        <p:spPr>
          <a:xfrm>
            <a:off x="508000" y="2527300"/>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7" name="t107"/>
          <p:cNvSpPr txBox="1"/>
          <p:nvPr/>
        </p:nvSpPr>
        <p:spPr>
          <a:xfrm>
            <a:off x="609600" y="2527300"/>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Perception</a:t>
            </a:r>
          </a:p>
        </p:txBody>
      </p:sp>
      <p:sp>
        <p:nvSpPr>
          <p:cNvPr id="108" name="r108"/>
          <p:cNvSpPr/>
          <p:nvPr/>
        </p:nvSpPr>
        <p:spPr>
          <a:xfrm>
            <a:off x="2286000" y="2527300"/>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2387600" y="2527300"/>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YOLO-Pose + custom YOLO ball detector</a:t>
            </a:r>
          </a:p>
        </p:txBody>
      </p:sp>
      <p:sp>
        <p:nvSpPr>
          <p:cNvPr id="110" name="r110"/>
          <p:cNvSpPr/>
          <p:nvPr/>
        </p:nvSpPr>
        <p:spPr>
          <a:xfrm>
            <a:off x="508000" y="3028043"/>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609600" y="3028043"/>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Inference</a:t>
            </a:r>
          </a:p>
        </p:txBody>
      </p:sp>
      <p:sp>
        <p:nvSpPr>
          <p:cNvPr id="112" name="r112"/>
          <p:cNvSpPr/>
          <p:nvPr/>
        </p:nvSpPr>
        <p:spPr>
          <a:xfrm>
            <a:off x="2286000" y="3028043"/>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2387600" y="3028043"/>
            <a:ext cx="3987800" cy="500743"/>
          </a:xfrm>
          <a:prstGeom prst="rect">
            <a:avLst/>
          </a:prstGeom>
          <a:noFill/>
          <a:ln>
            <a:noFill/>
          </a:ln>
        </p:spPr>
        <p:txBody>
          <a:bodyPr wrap="square" lIns="76200" tIns="38100" rIns="76200" bIns="38100" anchor="ctr"/>
          <a:lstStyle/>
          <a:p>
            <a:pPr algn="l">
              <a:buNone/>
            </a:pPr>
            <a:r>
              <a:rPr lang="en-US" sz="1400" dirty="0" err="1">
                <a:solidFill>
                  <a:srgbClr val="2A231F"/>
                </a:solidFill>
                <a:latin typeface="Arial"/>
              </a:rPr>
              <a:t>TensorRT</a:t>
            </a:r>
            <a:r>
              <a:rPr lang="en-US" sz="1400" dirty="0">
                <a:solidFill>
                  <a:srgbClr val="2A231F"/>
                </a:solidFill>
                <a:latin typeface="Arial"/>
              </a:rPr>
              <a:t> FP16, 4-camera batch</a:t>
            </a:r>
          </a:p>
        </p:txBody>
      </p:sp>
      <p:sp>
        <p:nvSpPr>
          <p:cNvPr id="114" name="r114"/>
          <p:cNvSpPr/>
          <p:nvPr/>
        </p:nvSpPr>
        <p:spPr>
          <a:xfrm>
            <a:off x="508000" y="3528786"/>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528786"/>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Geometry</a:t>
            </a:r>
          </a:p>
        </p:txBody>
      </p:sp>
      <p:sp>
        <p:nvSpPr>
          <p:cNvPr id="116" name="r116"/>
          <p:cNvSpPr/>
          <p:nvPr/>
        </p:nvSpPr>
        <p:spPr>
          <a:xfrm>
            <a:off x="2286000" y="3528786"/>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2387600" y="3528786"/>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SVD-DLT multi-view triangulation</a:t>
            </a:r>
          </a:p>
        </p:txBody>
      </p:sp>
      <p:sp>
        <p:nvSpPr>
          <p:cNvPr id="118" name="r118"/>
          <p:cNvSpPr/>
          <p:nvPr/>
        </p:nvSpPr>
        <p:spPr>
          <a:xfrm>
            <a:off x="508000" y="4029529"/>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609600" y="4029529"/>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Robust ball</a:t>
            </a:r>
          </a:p>
        </p:txBody>
      </p:sp>
      <p:sp>
        <p:nvSpPr>
          <p:cNvPr id="120" name="r120"/>
          <p:cNvSpPr/>
          <p:nvPr/>
        </p:nvSpPr>
        <p:spPr>
          <a:xfrm>
            <a:off x="2286000" y="4029529"/>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2387600" y="4029529"/>
            <a:ext cx="3987800" cy="500743"/>
          </a:xfrm>
          <a:prstGeom prst="rect">
            <a:avLst/>
          </a:prstGeom>
          <a:noFill/>
          <a:ln>
            <a:noFill/>
          </a:ln>
        </p:spPr>
        <p:txBody>
          <a:bodyPr wrap="square" lIns="76200" tIns="38100" rIns="76200" bIns="38100" anchor="ctr"/>
          <a:lstStyle/>
          <a:p>
            <a:pPr algn="l">
              <a:buNone/>
            </a:pPr>
            <a:r>
              <a:rPr sz="1400">
                <a:solidFill>
                  <a:srgbClr val="2A231F"/>
                </a:solidFill>
                <a:latin typeface="Arial"/>
              </a:rPr>
              <a:t>iterative reprojection-error rejection (Sec 3.7.2)</a:t>
            </a:r>
          </a:p>
        </p:txBody>
      </p:sp>
      <p:sp>
        <p:nvSpPr>
          <p:cNvPr id="122" name="r122"/>
          <p:cNvSpPr/>
          <p:nvPr/>
        </p:nvSpPr>
        <p:spPr>
          <a:xfrm>
            <a:off x="508000" y="4530271"/>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609600" y="4530271"/>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Filter</a:t>
            </a:r>
          </a:p>
        </p:txBody>
      </p:sp>
      <p:sp>
        <p:nvSpPr>
          <p:cNvPr id="124" name="r124"/>
          <p:cNvSpPr/>
          <p:nvPr/>
        </p:nvSpPr>
        <p:spPr>
          <a:xfrm>
            <a:off x="2286000" y="4530271"/>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2387600" y="4530271"/>
            <a:ext cx="3987800" cy="500743"/>
          </a:xfrm>
          <a:prstGeom prst="rect">
            <a:avLst/>
          </a:prstGeom>
          <a:noFill/>
          <a:ln>
            <a:noFill/>
          </a:ln>
        </p:spPr>
        <p:txBody>
          <a:bodyPr wrap="square" lIns="76200" tIns="38100" rIns="76200" bIns="38100" anchor="ctr"/>
          <a:lstStyle/>
          <a:p>
            <a:r>
              <a:rPr sz="1400">
                <a:latin typeface="Arial"/>
              </a:rPr>
              <a:t>adaptive EMA + CV Kalman (Sec 5.7)</a:t>
            </a:r>
            <a:endParaRPr sz="1400" dirty="0">
              <a:latin typeface="Arial" panose="020B0604020202020204" pitchFamily="34" charset="0"/>
              <a:cs typeface="Arial" panose="020B0604020202020204" pitchFamily="34" charset="0"/>
            </a:endParaRPr>
          </a:p>
        </p:txBody>
      </p:sp>
      <p:sp>
        <p:nvSpPr>
          <p:cNvPr id="126" name="r126"/>
          <p:cNvSpPr/>
          <p:nvPr/>
        </p:nvSpPr>
        <p:spPr>
          <a:xfrm>
            <a:off x="508000" y="5031014"/>
            <a:ext cx="1778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5031014"/>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a:t>
            </a:r>
          </a:p>
        </p:txBody>
      </p:sp>
      <p:sp>
        <p:nvSpPr>
          <p:cNvPr id="128" name="r128"/>
          <p:cNvSpPr/>
          <p:nvPr/>
        </p:nvSpPr>
        <p:spPr>
          <a:xfrm>
            <a:off x="2286000" y="5031014"/>
            <a:ext cx="4191000" cy="500743"/>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2387600" y="5031014"/>
            <a:ext cx="3987800" cy="500743"/>
          </a:xfrm>
          <a:prstGeom prst="rect">
            <a:avLst/>
          </a:prstGeom>
          <a:noFill/>
          <a:ln>
            <a:noFill/>
          </a:ln>
        </p:spPr>
        <p:txBody>
          <a:bodyPr wrap="square" lIns="76200" tIns="38100" rIns="76200" bIns="38100" anchor="ctr"/>
          <a:lstStyle/>
          <a:p>
            <a:r>
              <a:rPr lang="en-US" sz="1400" dirty="0">
                <a:latin typeface="Arial" panose="020B0604020202020204" pitchFamily="34" charset="0"/>
                <a:cs typeface="Arial" panose="020B0604020202020204" pitchFamily="34" charset="0"/>
              </a:rPr>
              <a:t>Python, safety gates, ballistic solver</a:t>
            </a:r>
            <a:endParaRPr sz="1400" dirty="0">
              <a:latin typeface="Arial" panose="020B0604020202020204" pitchFamily="34" charset="0"/>
              <a:cs typeface="Arial" panose="020B0604020202020204" pitchFamily="34" charset="0"/>
            </a:endParaRPr>
          </a:p>
        </p:txBody>
      </p:sp>
      <p:sp>
        <p:nvSpPr>
          <p:cNvPr id="130" name="r130"/>
          <p:cNvSpPr/>
          <p:nvPr/>
        </p:nvSpPr>
        <p:spPr>
          <a:xfrm>
            <a:off x="508000" y="5531757"/>
            <a:ext cx="1778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609600" y="5531757"/>
            <a:ext cx="1574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Firmware</a:t>
            </a:r>
          </a:p>
        </p:txBody>
      </p:sp>
      <p:sp>
        <p:nvSpPr>
          <p:cNvPr id="132" name="r132"/>
          <p:cNvSpPr/>
          <p:nvPr/>
        </p:nvSpPr>
        <p:spPr>
          <a:xfrm>
            <a:off x="2286000" y="5531757"/>
            <a:ext cx="4191000" cy="500743"/>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2387600" y="5531757"/>
            <a:ext cx="3987800" cy="500743"/>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ESP32 FSM</a:t>
            </a:r>
          </a:p>
        </p:txBody>
      </p:sp>
      <p:sp>
        <p:nvSpPr>
          <p:cNvPr id="134" name="r134"/>
          <p:cNvSpPr/>
          <p:nvPr/>
        </p:nvSpPr>
        <p:spPr>
          <a:xfrm>
            <a:off x="6858000" y="2095500"/>
            <a:ext cx="4826000" cy="3937000"/>
          </a:xfrm>
          <a:prstGeom prst="rect">
            <a:avLst/>
          </a:prstGeom>
          <a:solidFill>
            <a:srgbClr val="F7F1EC"/>
          </a:solidFill>
          <a:ln w="15240">
            <a:solidFill>
              <a:srgbClr val="935739"/>
            </a:solidFill>
          </a:ln>
        </p:spPr>
        <p:txBody>
          <a:bodyPr wrap="square" anchor="ctr"/>
          <a:lstStyle/>
          <a:p>
            <a:endParaRPr lang="en-US"/>
          </a:p>
        </p:txBody>
      </p:sp>
      <p:sp>
        <p:nvSpPr>
          <p:cNvPr id="135" name="t135"/>
          <p:cNvSpPr txBox="1"/>
          <p:nvPr/>
        </p:nvSpPr>
        <p:spPr>
          <a:xfrm>
            <a:off x="6858000" y="2095500"/>
            <a:ext cx="4826000" cy="355600"/>
          </a:xfrm>
          <a:prstGeom prst="rect">
            <a:avLst/>
          </a:prstGeom>
          <a:noFill/>
          <a:ln>
            <a:noFill/>
          </a:ln>
        </p:spPr>
        <p:txBody>
          <a:bodyPr wrap="square" lIns="76200" tIns="38100" rIns="76200" bIns="38100" anchor="ctr"/>
          <a:lstStyle/>
          <a:p>
            <a:pPr algn="l">
              <a:buNone/>
            </a:pPr>
          </a:p>
        </p:txBody>
      </p:sp>
      <p:sp>
        <p:nvSpPr>
          <p:cNvPr id="136" name="t136"/>
          <p:cNvSpPr txBox="1"/>
          <p:nvPr/>
        </p:nvSpPr>
        <p:spPr>
          <a:xfrm>
            <a:off x="6985000" y="2476500"/>
            <a:ext cx="4572000" cy="3492500"/>
          </a:xfrm>
          <a:prstGeom prst="rect">
            <a:avLst/>
          </a:prstGeom>
          <a:noFill/>
          <a:ln>
            <a:noFill/>
          </a:ln>
        </p:spPr>
        <p:txBody>
          <a:bodyPr wrap="square" lIns="76200" tIns="38100" rIns="76200" bIns="38100" anchor="ctr"/>
          <a:lstStyle/>
          <a:p>
            <a:pPr algn="l">
              <a:buNone/>
            </a:pPr>
          </a:p>
        </p:txBody>
      </p:sp>
      <p:sp>
        <p:nvSpPr>
          <p:cNvPr id="137" name="r137"/>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8" name="t138"/>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a:t>
            </a:r>
            <a:r>
              <a:rPr lang="en-US" dirty="0">
                <a:solidFill>
                  <a:schemeClr val="bg1"/>
                </a:solidFill>
              </a:rPr>
              <a:t>multi-camera detections become safety-gated pitch, yaw, and RPM commands.</a:t>
            </a:r>
            <a:endParaRPr dirty="0">
              <a:solidFill>
                <a:schemeClr val="bg1"/>
              </a:solidFill>
            </a:endParaRPr>
          </a:p>
        </p:txBody>
      </p:sp>
      <p:sp>
        <p:nvSpPr>
          <p:cNvPr id="142" name="Rectangle 141"/>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3" name="Rectangle 142"/>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8</a:t>
            </a:r>
          </a:p>
        </p:txBody>
      </p:sp>
      <p:sp>
        <p:nvSpPr>
          <p:cNvPr id="3" name="r100">
            <a:extLst>
              <a:ext uri="{FF2B5EF4-FFF2-40B4-BE49-F238E27FC236}">
                <a16:creationId xmlns:a16="http://schemas.microsoft.com/office/drawing/2014/main" id="{FA0906F8-7A09-71B8-0706-4138D6774033}"/>
              </a:ext>
            </a:extLst>
          </p:cNvPr>
          <p:cNvSpPr/>
          <p:nvPr/>
        </p:nvSpPr>
        <p:spPr>
          <a:xfrm>
            <a:off x="508001" y="1520313"/>
            <a:ext cx="4323079"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1021246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DA3B3F-B713-E609-B1E0-910641999C70}"/>
              </a:ext>
            </a:extLst>
          </p:cNvPr>
          <p:cNvSpPr>
            <a:spLocks noGrp="1"/>
          </p:cNvSpPr>
          <p:nvPr>
            <p:ph type="title"/>
          </p:nvPr>
        </p:nvSpPr>
        <p:spPr>
          <a:xfrm>
            <a:off x="421640" y="1178836"/>
            <a:ext cx="11176000" cy="711200"/>
          </a:xfrm>
        </p:spPr>
        <p:txBody>
          <a:bodyPr wrap="square" lIns="76200" tIns="38100" rIns="76200" bIns="38100" anchor="ctr"/>
          <a:lstStyle/>
          <a:p>
            <a:pPr algn="l">
              <a:buNone/>
            </a:pPr>
            <a:r>
              <a:rPr lang="en-US" sz="3200" b="1" dirty="0">
                <a:solidFill>
                  <a:srgbClr val="1F1F1F"/>
                </a:solidFill>
                <a:latin typeface="Calibri"/>
              </a:rPr>
              <a:t>Calibration &amp; Geometry</a:t>
            </a:r>
          </a:p>
        </p:txBody>
      </p:sp>
      <p:sp>
        <p:nvSpPr>
          <p:cNvPr id="101" name="t101"/>
          <p:cNvSpPr txBox="1"/>
          <p:nvPr/>
        </p:nvSpPr>
        <p:spPr>
          <a:xfrm>
            <a:off x="452120" y="2017036"/>
            <a:ext cx="11176000" cy="457200"/>
          </a:xfrm>
          <a:prstGeom prst="rect">
            <a:avLst/>
          </a:prstGeom>
          <a:noFill/>
          <a:ln>
            <a:noFill/>
          </a:ln>
        </p:spPr>
        <p:txBody>
          <a:bodyPr wrap="square" lIns="76200" tIns="38100" rIns="76200" bIns="38100" anchor="ctr"/>
          <a:lstStyle/>
          <a:p>
            <a:r>
              <a:rPr/>
              <a:t>Intrinsic: ChArUco board, reproj 2-8 px (Sec 5.1)</a:t>
            </a:r>
          </a:p>
          <a:p>
            <a:r>
              <a:rPr/>
              <a:t>Extrinsic: 24 AprilTags + RANSAC + σ=2.0 sigma-clipping (Sec 3.5.2)</a:t>
            </a:r>
          </a:p>
          <a:p>
            <a:r>
              <a:rPr/>
              <a:t>Extrinsic RMSE: 3-7 px after 8-15 % outlier rejection (Sec 5.2)</a:t>
            </a:r>
          </a:p>
          <a:p>
            <a:r>
              <a:rPr/>
              <a:t>Overlay validation: reprojected corners within 5-10 px on all 4 cams</a:t>
            </a:r>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one calibrated world frame enables 3D joint coordinates from four USB cameras.</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9</a:t>
            </a:r>
          </a:p>
        </p:txBody>
      </p:sp>
      <p:sp>
        <p:nvSpPr>
          <p:cNvPr id="3" name="r100">
            <a:extLst>
              <a:ext uri="{FF2B5EF4-FFF2-40B4-BE49-F238E27FC236}">
                <a16:creationId xmlns:a16="http://schemas.microsoft.com/office/drawing/2014/main" id="{4110691C-6B7F-FAFB-ACE2-D36A8E0288DE}"/>
              </a:ext>
            </a:extLst>
          </p:cNvPr>
          <p:cNvSpPr/>
          <p:nvPr/>
        </p:nvSpPr>
        <p:spPr>
          <a:xfrm>
            <a:off x="507999" y="1786106"/>
            <a:ext cx="4052572" cy="74444"/>
          </a:xfrm>
          <a:prstGeom prst="rect">
            <a:avLst/>
          </a:prstGeom>
          <a:solidFill>
            <a:srgbClr val="935739"/>
          </a:solidFill>
          <a:ln>
            <a:noFill/>
          </a:ln>
        </p:spPr>
        <p:txBody>
          <a:bodyPr wrap="square" anchor="ctr"/>
          <a:lstStyle/>
          <a:p>
            <a:endParaRPr lang="en-US"/>
          </a:p>
        </p:txBody>
      </p:sp>
      <p:pic>
        <p:nvPicPr>
          <p:cNvPr id="5" name="Picture 4">
            <a:extLst>
              <a:ext uri="{FF2B5EF4-FFF2-40B4-BE49-F238E27FC236}">
                <a16:creationId xmlns:a16="http://schemas.microsoft.com/office/drawing/2014/main" id="{F742871F-2913-EECA-DCDF-BA543741134B}"/>
              </a:ext>
            </a:extLst>
          </p:cNvPr>
          <p:cNvPicPr>
            <a:picLocks noChangeAspect="1"/>
          </p:cNvPicPr>
          <p:nvPr/>
        </p:nvPicPr>
        <p:blipFill>
          <a:blip r:embed="rId4"/>
          <a:srcRect t="18282"/>
          <a:stretch>
            <a:fillRect/>
          </a:stretch>
        </p:blipFill>
        <p:spPr>
          <a:xfrm>
            <a:off x="1743347" y="2535153"/>
            <a:ext cx="8705305" cy="3595621"/>
          </a:xfrm>
          <a:prstGeom prst="rect">
            <a:avLst/>
          </a:prstGeom>
        </p:spPr>
      </p:pic>
    </p:spTree>
    <p:extLst>
      <p:ext uri="{BB962C8B-B14F-4D97-AF65-F5344CB8AC3E}">
        <p14:creationId xmlns:p14="http://schemas.microsoft.com/office/powerpoint/2010/main" val="1236530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rial" panose="020B0604020202020204" pitchFamily="34" charset="0"/>
              <a:cs typeface="Arial" panose="020B0604020202020204" pitchFamily="34" charset="0"/>
            </a:endParaRPr>
          </a:p>
        </p:txBody>
      </p:sp>
      <p:pic>
        <p:nvPicPr>
          <p:cNvPr id="16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8972593-EAEC-8037-2482-68486F0A8FB6}"/>
              </a:ext>
            </a:extLst>
          </p:cNvPr>
          <p:cNvSpPr>
            <a:spLocks noGrp="1"/>
          </p:cNvSpPr>
          <p:nvPr>
            <p:ph type="title"/>
          </p:nvPr>
        </p:nvSpPr>
        <p:spPr>
          <a:xfrm>
            <a:off x="406400" y="902758"/>
            <a:ext cx="11176000" cy="711200"/>
          </a:xfrm>
        </p:spPr>
        <p:txBody>
          <a:bodyPr wrap="square" lIns="76200" tIns="38100" rIns="76200" bIns="38100" anchor="ctr"/>
          <a:lstStyle/>
          <a:p>
            <a:pPr algn="l">
              <a:buNone/>
            </a:pPr>
            <a:r>
              <a:rPr lang="en-US" sz="3200" b="1" dirty="0">
                <a:solidFill>
                  <a:srgbClr val="1F1F1F"/>
                </a:solidFill>
                <a:latin typeface="Arial" panose="020B0604020202020204" pitchFamily="34" charset="0"/>
                <a:cs typeface="Arial" panose="020B0604020202020204" pitchFamily="34" charset="0"/>
              </a:rPr>
              <a:t>Methodology &amp; Experiments</a:t>
            </a:r>
          </a:p>
        </p:txBody>
      </p:sp>
      <p:sp>
        <p:nvSpPr>
          <p:cNvPr id="101" name="t101"/>
          <p:cNvSpPr txBox="1"/>
          <p:nvPr/>
        </p:nvSpPr>
        <p:spPr>
          <a:xfrm>
            <a:off x="406400" y="1608667"/>
            <a:ext cx="11176000" cy="457200"/>
          </a:xfrm>
          <a:prstGeom prst="rect">
            <a:avLst/>
          </a:prstGeom>
          <a:noFill/>
          <a:ln>
            <a:noFill/>
          </a:ln>
        </p:spPr>
        <p:txBody>
          <a:bodyPr wrap="square" lIns="76200" tIns="38100" rIns="76200" bIns="38100" anchor="ctr"/>
          <a:lstStyle/>
          <a:p>
            <a:r>
              <a:rPr lang="en-US" dirty="0">
                <a:latin typeface="Arial" panose="020B0604020202020204" pitchFamily="34" charset="0"/>
                <a:cs typeface="Arial" panose="020B0604020202020204" pitchFamily="34" charset="0"/>
              </a:rPr>
              <a:t>Evaluation combines </a:t>
            </a:r>
            <a:r>
              <a:rPr lang="en-US" dirty="0" err="1">
                <a:latin typeface="Arial" panose="020B0604020202020204" pitchFamily="34" charset="0"/>
                <a:cs typeface="Arial" panose="020B0604020202020204" pitchFamily="34" charset="0"/>
              </a:rPr>
              <a:t>localisation</a:t>
            </a:r>
            <a:r>
              <a:rPr lang="en-US" dirty="0">
                <a:latin typeface="Arial" panose="020B0604020202020204" pitchFamily="34" charset="0"/>
                <a:cs typeface="Arial" panose="020B0604020202020204" pitchFamily="34" charset="0"/>
              </a:rPr>
              <a:t> accuracy, dynamic tracking, safety, and traceability.</a:t>
            </a:r>
            <a:endParaRPr dirty="0">
              <a:latin typeface="Arial" panose="020B0604020202020204" pitchFamily="34" charset="0"/>
              <a:cs typeface="Arial" panose="020B0604020202020204" pitchFamily="34" charset="0"/>
            </a:endParaRPr>
          </a:p>
        </p:txBody>
      </p:sp>
      <p:sp>
        <p:nvSpPr>
          <p:cNvPr id="102" name="r102"/>
          <p:cNvSpPr/>
          <p:nvPr/>
        </p:nvSpPr>
        <p:spPr>
          <a:xfrm>
            <a:off x="508000" y="2095500"/>
            <a:ext cx="2794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3" name="t103"/>
          <p:cNvSpPr txBox="1"/>
          <p:nvPr/>
        </p:nvSpPr>
        <p:spPr>
          <a:xfrm>
            <a:off x="609600" y="2095500"/>
            <a:ext cx="2590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Experiment</a:t>
            </a:r>
          </a:p>
        </p:txBody>
      </p:sp>
      <p:sp>
        <p:nvSpPr>
          <p:cNvPr id="104" name="r104"/>
          <p:cNvSpPr/>
          <p:nvPr/>
        </p:nvSpPr>
        <p:spPr>
          <a:xfrm>
            <a:off x="3302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5" name="t105"/>
          <p:cNvSpPr txBox="1"/>
          <p:nvPr/>
        </p:nvSpPr>
        <p:spPr>
          <a:xfrm>
            <a:off x="3403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Input</a:t>
            </a:r>
          </a:p>
        </p:txBody>
      </p:sp>
      <p:sp>
        <p:nvSpPr>
          <p:cNvPr id="106" name="r106"/>
          <p:cNvSpPr/>
          <p:nvPr/>
        </p:nvSpPr>
        <p:spPr>
          <a:xfrm>
            <a:off x="6223000" y="20955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7" name="t107"/>
          <p:cNvSpPr txBox="1"/>
          <p:nvPr/>
        </p:nvSpPr>
        <p:spPr>
          <a:xfrm>
            <a:off x="6324600" y="20955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Metric</a:t>
            </a:r>
          </a:p>
        </p:txBody>
      </p:sp>
      <p:sp>
        <p:nvSpPr>
          <p:cNvPr id="108" name="r108"/>
          <p:cNvSpPr/>
          <p:nvPr/>
        </p:nvSpPr>
        <p:spPr>
          <a:xfrm>
            <a:off x="8763000" y="2095500"/>
            <a:ext cx="2921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latin typeface="Arial" panose="020B0604020202020204" pitchFamily="34" charset="0"/>
              <a:cs typeface="Arial" panose="020B0604020202020204" pitchFamily="34" charset="0"/>
            </a:endParaRPr>
          </a:p>
        </p:txBody>
      </p:sp>
      <p:sp>
        <p:nvSpPr>
          <p:cNvPr id="109" name="t109"/>
          <p:cNvSpPr txBox="1"/>
          <p:nvPr/>
        </p:nvSpPr>
        <p:spPr>
          <a:xfrm>
            <a:off x="8864600" y="2095500"/>
            <a:ext cx="2717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panose="020B0604020202020204" pitchFamily="34" charset="0"/>
                <a:cs typeface="Arial" panose="020B0604020202020204" pitchFamily="34" charset="0"/>
              </a:rPr>
              <a:t>Outcome</a:t>
            </a:r>
          </a:p>
        </p:txBody>
      </p:sp>
      <p:sp>
        <p:nvSpPr>
          <p:cNvPr id="110" name="r110"/>
          <p:cNvSpPr/>
          <p:nvPr/>
        </p:nvSpPr>
        <p:spPr>
          <a:xfrm>
            <a:off x="508000" y="2552700"/>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1" name="t111"/>
          <p:cNvSpPr txBox="1"/>
          <p:nvPr/>
        </p:nvSpPr>
        <p:spPr>
          <a:xfrm>
            <a:off x="609600" y="2552700"/>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Ball GT</a:t>
            </a:r>
          </a:p>
        </p:txBody>
      </p:sp>
      <p:sp>
        <p:nvSpPr>
          <p:cNvPr id="112" name="r112"/>
          <p:cNvSpPr/>
          <p:nvPr/>
        </p:nvSpPr>
        <p:spPr>
          <a:xfrm>
            <a:off x="3302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3" name="t113"/>
          <p:cNvSpPr txBox="1"/>
          <p:nvPr/>
        </p:nvSpPr>
        <p:spPr>
          <a:xfrm>
            <a:off x="3403600" y="2552700"/>
            <a:ext cx="2717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36-point grid</a:t>
            </a:r>
          </a:p>
        </p:txBody>
      </p:sp>
      <p:sp>
        <p:nvSpPr>
          <p:cNvPr id="114" name="r114"/>
          <p:cNvSpPr/>
          <p:nvPr/>
        </p:nvSpPr>
        <p:spPr>
          <a:xfrm>
            <a:off x="6223000" y="2552700"/>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5" name="t115"/>
          <p:cNvSpPr txBox="1"/>
          <p:nvPr/>
        </p:nvSpPr>
        <p:spPr>
          <a:xfrm>
            <a:off x="6324600" y="2552700"/>
            <a:ext cx="2336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Mean / P95</a:t>
            </a:r>
          </a:p>
        </p:txBody>
      </p:sp>
      <p:sp>
        <p:nvSpPr>
          <p:cNvPr id="116" name="r116"/>
          <p:cNvSpPr/>
          <p:nvPr/>
        </p:nvSpPr>
        <p:spPr>
          <a:xfrm>
            <a:off x="8763000" y="2552700"/>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7" name="t117"/>
          <p:cNvSpPr txBox="1"/>
          <p:nvPr/>
        </p:nvSpPr>
        <p:spPr>
          <a:xfrm>
            <a:off x="8864600" y="2552700"/>
            <a:ext cx="2717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95.17 mm</a:t>
            </a:r>
            <a:r>
              <a:rPr lang="en-US" sz="1600" dirty="0">
                <a:latin typeface="Arial" panose="020B0604020202020204" pitchFamily="34" charset="0"/>
                <a:cs typeface="Arial" panose="020B0604020202020204" pitchFamily="34" charset="0"/>
              </a:rPr>
              <a:t> mean</a:t>
            </a:r>
            <a:endParaRPr sz="1600" dirty="0">
              <a:latin typeface="Arial" panose="020B0604020202020204" pitchFamily="34" charset="0"/>
              <a:cs typeface="Arial" panose="020B0604020202020204" pitchFamily="34" charset="0"/>
            </a:endParaRPr>
          </a:p>
        </p:txBody>
      </p:sp>
      <p:sp>
        <p:nvSpPr>
          <p:cNvPr id="118" name="r118"/>
          <p:cNvSpPr/>
          <p:nvPr/>
        </p:nvSpPr>
        <p:spPr>
          <a:xfrm>
            <a:off x="508000" y="3090333"/>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19" name="t119"/>
          <p:cNvSpPr txBox="1"/>
          <p:nvPr/>
        </p:nvSpPr>
        <p:spPr>
          <a:xfrm>
            <a:off x="609600" y="3090333"/>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Joint-touch GT</a:t>
            </a:r>
          </a:p>
        </p:txBody>
      </p:sp>
      <p:sp>
        <p:nvSpPr>
          <p:cNvPr id="120" name="r120"/>
          <p:cNvSpPr/>
          <p:nvPr/>
        </p:nvSpPr>
        <p:spPr>
          <a:xfrm>
            <a:off x="3302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1" name="t121"/>
          <p:cNvSpPr txBox="1"/>
          <p:nvPr/>
        </p:nvSpPr>
        <p:spPr>
          <a:xfrm>
            <a:off x="3403600" y="30903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81 trials</a:t>
            </a:r>
            <a:endParaRPr sz="1600" dirty="0">
              <a:latin typeface="Arial" panose="020B0604020202020204" pitchFamily="34" charset="0"/>
              <a:cs typeface="Arial" panose="020B0604020202020204" pitchFamily="34" charset="0"/>
            </a:endParaRPr>
          </a:p>
        </p:txBody>
      </p:sp>
      <p:sp>
        <p:nvSpPr>
          <p:cNvPr id="122" name="r122"/>
          <p:cNvSpPr/>
          <p:nvPr/>
        </p:nvSpPr>
        <p:spPr>
          <a:xfrm>
            <a:off x="6223000" y="3090333"/>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3" name="t123"/>
          <p:cNvSpPr txBox="1"/>
          <p:nvPr/>
        </p:nvSpPr>
        <p:spPr>
          <a:xfrm>
            <a:off x="6324600" y="3090333"/>
            <a:ext cx="2336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Mean / P95</a:t>
            </a:r>
          </a:p>
        </p:txBody>
      </p:sp>
      <p:sp>
        <p:nvSpPr>
          <p:cNvPr id="124" name="r124"/>
          <p:cNvSpPr/>
          <p:nvPr/>
        </p:nvSpPr>
        <p:spPr>
          <a:xfrm>
            <a:off x="8763000" y="3090333"/>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5" name="t125"/>
          <p:cNvSpPr txBox="1"/>
          <p:nvPr/>
        </p:nvSpPr>
        <p:spPr>
          <a:xfrm>
            <a:off x="8864600" y="30903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143.38 mm, 62 valid</a:t>
            </a:r>
            <a:endParaRPr sz="1600" dirty="0">
              <a:latin typeface="Arial" panose="020B0604020202020204" pitchFamily="34" charset="0"/>
              <a:cs typeface="Arial" panose="020B0604020202020204" pitchFamily="34" charset="0"/>
            </a:endParaRPr>
          </a:p>
        </p:txBody>
      </p:sp>
      <p:sp>
        <p:nvSpPr>
          <p:cNvPr id="126" name="r126"/>
          <p:cNvSpPr/>
          <p:nvPr/>
        </p:nvSpPr>
        <p:spPr>
          <a:xfrm>
            <a:off x="508000" y="3627967"/>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7" name="t127"/>
          <p:cNvSpPr txBox="1"/>
          <p:nvPr/>
        </p:nvSpPr>
        <p:spPr>
          <a:xfrm>
            <a:off x="609600" y="3627967"/>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Dynamic clips</a:t>
            </a:r>
          </a:p>
        </p:txBody>
      </p:sp>
      <p:sp>
        <p:nvSpPr>
          <p:cNvPr id="128" name="r128"/>
          <p:cNvSpPr/>
          <p:nvPr/>
        </p:nvSpPr>
        <p:spPr>
          <a:xfrm>
            <a:off x="3302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29" name="t129"/>
          <p:cNvSpPr txBox="1"/>
          <p:nvPr/>
        </p:nvSpPr>
        <p:spPr>
          <a:xfrm>
            <a:off x="3403600" y="3627967"/>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3 clips</a:t>
            </a:r>
            <a:endParaRPr sz="1600" dirty="0">
              <a:latin typeface="Arial" panose="020B0604020202020204" pitchFamily="34" charset="0"/>
              <a:cs typeface="Arial" panose="020B0604020202020204" pitchFamily="34" charset="0"/>
            </a:endParaRPr>
          </a:p>
        </p:txBody>
      </p:sp>
      <p:sp>
        <p:nvSpPr>
          <p:cNvPr id="130" name="r130"/>
          <p:cNvSpPr/>
          <p:nvPr/>
        </p:nvSpPr>
        <p:spPr>
          <a:xfrm>
            <a:off x="6223000" y="3627967"/>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1" name="t131"/>
          <p:cNvSpPr txBox="1"/>
          <p:nvPr/>
        </p:nvSpPr>
        <p:spPr>
          <a:xfrm>
            <a:off x="6324600" y="3627967"/>
            <a:ext cx="2336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S</a:t>
            </a:r>
            <a:r>
              <a:rPr sz="1600" dirty="0">
                <a:latin typeface="Arial" panose="020B0604020202020204" pitchFamily="34" charset="0"/>
                <a:cs typeface="Arial" panose="020B0604020202020204" pitchFamily="34" charset="0"/>
              </a:rPr>
              <a:t>tability</a:t>
            </a:r>
          </a:p>
        </p:txBody>
      </p:sp>
      <p:sp>
        <p:nvSpPr>
          <p:cNvPr id="132" name="r132"/>
          <p:cNvSpPr/>
          <p:nvPr/>
        </p:nvSpPr>
        <p:spPr>
          <a:xfrm>
            <a:off x="8763000" y="3627967"/>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3" name="t133"/>
          <p:cNvSpPr txBox="1"/>
          <p:nvPr/>
        </p:nvSpPr>
        <p:spPr>
          <a:xfrm>
            <a:off x="8864600" y="3627967"/>
            <a:ext cx="2717800" cy="537633"/>
          </a:xfrm>
          <a:prstGeom prst="rect">
            <a:avLst/>
          </a:prstGeom>
          <a:noFill/>
          <a:ln>
            <a:noFill/>
          </a:ln>
        </p:spPr>
        <p:txBody>
          <a:bodyPr wrap="square" lIns="76200" tIns="38100" rIns="76200" bIns="38100" anchor="ctr"/>
          <a:lstStyle/>
          <a:p>
            <a:r>
              <a:rPr sz="1600">
                <a:latin typeface="Arial"/>
              </a:rPr>
              <a:t>&lt;800 mm frame-to-frame jumps (slow), motion-blur stress (fast), near-zero false-positive (no-ball)</a:t>
            </a:r>
            <a:endParaRPr sz="1600" dirty="0">
              <a:latin typeface="Arial" panose="020B0604020202020204" pitchFamily="34" charset="0"/>
              <a:cs typeface="Arial" panose="020B0604020202020204" pitchFamily="34" charset="0"/>
            </a:endParaRPr>
          </a:p>
        </p:txBody>
      </p:sp>
      <p:sp>
        <p:nvSpPr>
          <p:cNvPr id="134" name="r134"/>
          <p:cNvSpPr/>
          <p:nvPr/>
        </p:nvSpPr>
        <p:spPr>
          <a:xfrm>
            <a:off x="508000" y="4165600"/>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5" name="t135"/>
          <p:cNvSpPr txBox="1"/>
          <p:nvPr/>
        </p:nvSpPr>
        <p:spPr>
          <a:xfrm>
            <a:off x="609600" y="4165600"/>
            <a:ext cx="2590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Bias correction</a:t>
            </a:r>
          </a:p>
        </p:txBody>
      </p:sp>
      <p:sp>
        <p:nvSpPr>
          <p:cNvPr id="136" name="r136"/>
          <p:cNvSpPr/>
          <p:nvPr/>
        </p:nvSpPr>
        <p:spPr>
          <a:xfrm>
            <a:off x="3302000" y="4165600"/>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7" name="t137"/>
          <p:cNvSpPr txBox="1"/>
          <p:nvPr/>
        </p:nvSpPr>
        <p:spPr>
          <a:xfrm>
            <a:off x="3403600" y="4165600"/>
            <a:ext cx="2717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Axis offsets from GT</a:t>
            </a:r>
          </a:p>
        </p:txBody>
      </p:sp>
      <p:sp>
        <p:nvSpPr>
          <p:cNvPr id="138" name="r138"/>
          <p:cNvSpPr/>
          <p:nvPr/>
        </p:nvSpPr>
        <p:spPr>
          <a:xfrm>
            <a:off x="6223000" y="4165600"/>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39" name="t139"/>
          <p:cNvSpPr txBox="1"/>
          <p:nvPr/>
        </p:nvSpPr>
        <p:spPr>
          <a:xfrm>
            <a:off x="6324600" y="4165600"/>
            <a:ext cx="2336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Corrected vs raw error</a:t>
            </a:r>
          </a:p>
        </p:txBody>
      </p:sp>
      <p:sp>
        <p:nvSpPr>
          <p:cNvPr id="140" name="r140"/>
          <p:cNvSpPr/>
          <p:nvPr/>
        </p:nvSpPr>
        <p:spPr>
          <a:xfrm>
            <a:off x="8763000" y="4165600"/>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1" name="t141"/>
          <p:cNvSpPr txBox="1"/>
          <p:nvPr/>
        </p:nvSpPr>
        <p:spPr>
          <a:xfrm>
            <a:off x="8864600" y="4165600"/>
            <a:ext cx="2717800" cy="537633"/>
          </a:xfrm>
          <a:prstGeom prst="rect">
            <a:avLst/>
          </a:prstGeom>
          <a:noFill/>
          <a:ln>
            <a:noFill/>
          </a:ln>
        </p:spPr>
        <p:txBody>
          <a:bodyPr wrap="square" lIns="76200" tIns="38100" rIns="76200" bIns="38100" anchor="ctr"/>
          <a:lstStyle/>
          <a:p>
            <a:r>
              <a:rPr sz="1600">
                <a:latin typeface="Arial"/>
              </a:rPr>
              <a:t>Raw 150.77 mm → corrected 95.17 mm (Fig 5.1)</a:t>
            </a:r>
          </a:p>
        </p:txBody>
      </p:sp>
      <p:sp>
        <p:nvSpPr>
          <p:cNvPr id="142" name="r142"/>
          <p:cNvSpPr/>
          <p:nvPr/>
        </p:nvSpPr>
        <p:spPr>
          <a:xfrm>
            <a:off x="508000" y="4703233"/>
            <a:ext cx="2794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3" name="t143"/>
          <p:cNvSpPr txBox="1"/>
          <p:nvPr/>
        </p:nvSpPr>
        <p:spPr>
          <a:xfrm>
            <a:off x="609600" y="4703233"/>
            <a:ext cx="2590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Safety checklist</a:t>
            </a:r>
          </a:p>
        </p:txBody>
      </p:sp>
      <p:sp>
        <p:nvSpPr>
          <p:cNvPr id="144" name="r144"/>
          <p:cNvSpPr/>
          <p:nvPr/>
        </p:nvSpPr>
        <p:spPr>
          <a:xfrm>
            <a:off x="3302000" y="4703233"/>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5" name="t145"/>
          <p:cNvSpPr txBox="1"/>
          <p:nvPr/>
        </p:nvSpPr>
        <p:spPr>
          <a:xfrm>
            <a:off x="3403600" y="47032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S0–S4</a:t>
            </a:r>
            <a:endParaRPr sz="1600" dirty="0">
              <a:latin typeface="Arial" panose="020B0604020202020204" pitchFamily="34" charset="0"/>
              <a:cs typeface="Arial" panose="020B0604020202020204" pitchFamily="34" charset="0"/>
            </a:endParaRPr>
          </a:p>
        </p:txBody>
      </p:sp>
      <p:sp>
        <p:nvSpPr>
          <p:cNvPr id="146" name="r146"/>
          <p:cNvSpPr/>
          <p:nvPr/>
        </p:nvSpPr>
        <p:spPr>
          <a:xfrm>
            <a:off x="6223000" y="4703233"/>
            <a:ext cx="2540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7" name="t147"/>
          <p:cNvSpPr txBox="1"/>
          <p:nvPr/>
        </p:nvSpPr>
        <p:spPr>
          <a:xfrm>
            <a:off x="6324600" y="4703233"/>
            <a:ext cx="2336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Pass / fail + logs</a:t>
            </a:r>
          </a:p>
        </p:txBody>
      </p:sp>
      <p:sp>
        <p:nvSpPr>
          <p:cNvPr id="148" name="r148"/>
          <p:cNvSpPr/>
          <p:nvPr/>
        </p:nvSpPr>
        <p:spPr>
          <a:xfrm>
            <a:off x="8763000" y="4703233"/>
            <a:ext cx="2921000" cy="537633"/>
          </a:xfrm>
          <a:prstGeom prst="rect">
            <a:avLst/>
          </a:prstGeom>
          <a:solidFill>
            <a:srgbClr val="FFFFFF"/>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49" name="t149"/>
          <p:cNvSpPr txBox="1"/>
          <p:nvPr/>
        </p:nvSpPr>
        <p:spPr>
          <a:xfrm>
            <a:off x="8864600" y="4703233"/>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Passed, E-STOP &lt;100 </a:t>
            </a:r>
            <a:r>
              <a:rPr lang="en-US" sz="1600" dirty="0" err="1">
                <a:latin typeface="Arial" panose="020B0604020202020204" pitchFamily="34" charset="0"/>
                <a:cs typeface="Arial" panose="020B0604020202020204" pitchFamily="34" charset="0"/>
              </a:rPr>
              <a:t>ms</a:t>
            </a:r>
            <a:endParaRPr sz="1600" dirty="0">
              <a:latin typeface="Arial" panose="020B0604020202020204" pitchFamily="34" charset="0"/>
              <a:cs typeface="Arial" panose="020B0604020202020204" pitchFamily="34" charset="0"/>
            </a:endParaRPr>
          </a:p>
        </p:txBody>
      </p:sp>
      <p:sp>
        <p:nvSpPr>
          <p:cNvPr id="150" name="r150"/>
          <p:cNvSpPr/>
          <p:nvPr/>
        </p:nvSpPr>
        <p:spPr>
          <a:xfrm>
            <a:off x="508000" y="5240867"/>
            <a:ext cx="2794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1" name="t151"/>
          <p:cNvSpPr txBox="1"/>
          <p:nvPr/>
        </p:nvSpPr>
        <p:spPr>
          <a:xfrm>
            <a:off x="609600" y="5240867"/>
            <a:ext cx="2590800" cy="537633"/>
          </a:xfrm>
          <a:prstGeom prst="rect">
            <a:avLst/>
          </a:prstGeom>
          <a:noFill/>
          <a:ln>
            <a:noFill/>
          </a:ln>
        </p:spPr>
        <p:txBody>
          <a:bodyPr wrap="square" lIns="76200" tIns="38100" rIns="76200" bIns="38100" anchor="ctr"/>
          <a:lstStyle/>
          <a:p>
            <a:r>
              <a:rPr sz="1600" dirty="0">
                <a:latin typeface="Arial" panose="020B0604020202020204" pitchFamily="34" charset="0"/>
                <a:cs typeface="Arial" panose="020B0604020202020204" pitchFamily="34" charset="0"/>
              </a:rPr>
              <a:t>Decision logging</a:t>
            </a:r>
          </a:p>
        </p:txBody>
      </p:sp>
      <p:sp>
        <p:nvSpPr>
          <p:cNvPr id="152" name="r152"/>
          <p:cNvSpPr/>
          <p:nvPr/>
        </p:nvSpPr>
        <p:spPr>
          <a:xfrm>
            <a:off x="3302000" y="5240867"/>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3" name="t153"/>
          <p:cNvSpPr txBox="1"/>
          <p:nvPr/>
        </p:nvSpPr>
        <p:spPr>
          <a:xfrm>
            <a:off x="3403600" y="5240867"/>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JSONL logs</a:t>
            </a:r>
            <a:endParaRPr sz="1600" dirty="0">
              <a:latin typeface="Arial" panose="020B0604020202020204" pitchFamily="34" charset="0"/>
              <a:cs typeface="Arial" panose="020B0604020202020204" pitchFamily="34" charset="0"/>
            </a:endParaRPr>
          </a:p>
        </p:txBody>
      </p:sp>
      <p:sp>
        <p:nvSpPr>
          <p:cNvPr id="154" name="r154"/>
          <p:cNvSpPr/>
          <p:nvPr/>
        </p:nvSpPr>
        <p:spPr>
          <a:xfrm>
            <a:off x="6223000" y="5240867"/>
            <a:ext cx="2540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5" name="t155"/>
          <p:cNvSpPr txBox="1"/>
          <p:nvPr/>
        </p:nvSpPr>
        <p:spPr>
          <a:xfrm>
            <a:off x="6324600" y="5240867"/>
            <a:ext cx="2336800" cy="537633"/>
          </a:xfrm>
          <a:prstGeom prst="rect">
            <a:avLst/>
          </a:prstGeom>
          <a:noFill/>
          <a:ln>
            <a:noFill/>
          </a:ln>
        </p:spPr>
        <p:txBody>
          <a:bodyPr wrap="square" lIns="76200" tIns="38100" rIns="76200" bIns="38100" anchor="ctr"/>
          <a:lstStyle/>
          <a:p>
            <a:r>
              <a:rPr sz="1600">
                <a:latin typeface="Arial" panose="020B0604020202020204" pitchFamily="34" charset="0"/>
                <a:cs typeface="Arial" panose="020B0604020202020204" pitchFamily="34" charset="0"/>
              </a:rPr>
              <a:t>Auditability</a:t>
            </a:r>
          </a:p>
        </p:txBody>
      </p:sp>
      <p:sp>
        <p:nvSpPr>
          <p:cNvPr id="156" name="r156"/>
          <p:cNvSpPr/>
          <p:nvPr/>
        </p:nvSpPr>
        <p:spPr>
          <a:xfrm>
            <a:off x="8763000" y="5240867"/>
            <a:ext cx="2921000" cy="537633"/>
          </a:xfrm>
          <a:prstGeom prst="rect">
            <a:avLst/>
          </a:prstGeom>
          <a:solidFill>
            <a:srgbClr val="FBF8F5"/>
          </a:solidFill>
          <a:ln w="10160">
            <a:solidFill>
              <a:srgbClr val="935739"/>
            </a:solidFill>
          </a:ln>
        </p:spPr>
        <p:txBody>
          <a:bodyPr wrap="square" lIns="76200" tIns="38100" rIns="76200" bIns="38100" anchor="ctr"/>
          <a:lstStyle/>
          <a:p>
            <a:endParaRPr lang="en-US">
              <a:latin typeface="Arial" panose="020B0604020202020204" pitchFamily="34" charset="0"/>
              <a:cs typeface="Arial" panose="020B0604020202020204" pitchFamily="34" charset="0"/>
            </a:endParaRPr>
          </a:p>
        </p:txBody>
      </p:sp>
      <p:sp>
        <p:nvSpPr>
          <p:cNvPr id="157" name="t157"/>
          <p:cNvSpPr txBox="1"/>
          <p:nvPr/>
        </p:nvSpPr>
        <p:spPr>
          <a:xfrm>
            <a:off x="8864600" y="5240867"/>
            <a:ext cx="2717800" cy="537633"/>
          </a:xfrm>
          <a:prstGeom prst="rect">
            <a:avLst/>
          </a:prstGeom>
          <a:noFill/>
          <a:ln>
            <a:noFill/>
          </a:ln>
        </p:spPr>
        <p:txBody>
          <a:bodyPr wrap="square" lIns="76200" tIns="38100" rIns="76200" bIns="38100" anchor="ctr"/>
          <a:lstStyle/>
          <a:p>
            <a:r>
              <a:rPr lang="en-US" sz="1600" dirty="0">
                <a:latin typeface="Arial" panose="020B0604020202020204" pitchFamily="34" charset="0"/>
                <a:cs typeface="Arial" panose="020B0604020202020204" pitchFamily="34" charset="0"/>
              </a:rPr>
              <a:t>Every actuation logged</a:t>
            </a:r>
            <a:endParaRPr sz="1600" dirty="0">
              <a:latin typeface="Arial" panose="020B0604020202020204" pitchFamily="34" charset="0"/>
              <a:cs typeface="Arial" panose="020B0604020202020204" pitchFamily="34" charset="0"/>
            </a:endParaRPr>
          </a:p>
        </p:txBody>
      </p:sp>
      <p:sp>
        <p:nvSpPr>
          <p:cNvPr id="158" name="r15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latin typeface="Arial" panose="020B0604020202020204" pitchFamily="34" charset="0"/>
              <a:cs typeface="Arial" panose="020B0604020202020204" pitchFamily="34" charset="0"/>
            </a:endParaRPr>
          </a:p>
        </p:txBody>
      </p:sp>
      <p:sp>
        <p:nvSpPr>
          <p:cNvPr id="159" name="t15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sz="1600" b="0" i="1">
                <a:solidFill>
                  <a:srgbClr val="FFFFFF"/>
                </a:solidFill>
                <a:latin typeface="Arial"/>
              </a:rPr>
              <a:t>Takeaway: localisation, dynamic stability, and safety logging satisfy static + live-aim acceptance. Bias correction was fitted in-sample on the same 36-pt set (Sec 4.4.2, 6.3).</a:t>
            </a:r>
          </a:p>
        </p:txBody>
      </p:sp>
      <p:sp>
        <p:nvSpPr>
          <p:cNvPr id="163" name="Rectangle 16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rPr>
                <a:latin typeface="Arial" panose="020B0604020202020204" pitchFamily="34" charset="0"/>
                <a:cs typeface="Arial" panose="020B0604020202020204" pitchFamily="34" charset="0"/>
              </a:rPr>
              <a:t>SEDS · NU</a:t>
            </a:r>
          </a:p>
        </p:txBody>
      </p:sp>
      <p:sp>
        <p:nvSpPr>
          <p:cNvPr id="164" name="Rectangle 16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rPr>
                <a:latin typeface="Arial" panose="020B0604020202020204" pitchFamily="34" charset="0"/>
                <a:cs typeface="Arial" panose="020B0604020202020204" pitchFamily="34" charset="0"/>
              </a:rPr>
              <a:t>10</a:t>
            </a:r>
          </a:p>
        </p:txBody>
      </p:sp>
      <p:sp>
        <p:nvSpPr>
          <p:cNvPr id="3" name="r100">
            <a:extLst>
              <a:ext uri="{FF2B5EF4-FFF2-40B4-BE49-F238E27FC236}">
                <a16:creationId xmlns:a16="http://schemas.microsoft.com/office/drawing/2014/main" id="{30EFE7C6-FD7B-31C1-E012-104BCA8A946E}"/>
              </a:ext>
            </a:extLst>
          </p:cNvPr>
          <p:cNvSpPr/>
          <p:nvPr/>
        </p:nvSpPr>
        <p:spPr>
          <a:xfrm>
            <a:off x="508000" y="1483423"/>
            <a:ext cx="5467985" cy="74444"/>
          </a:xfrm>
          <a:prstGeom prst="rect">
            <a:avLst/>
          </a:prstGeom>
          <a:solidFill>
            <a:srgbClr val="935739"/>
          </a:solidFill>
          <a:ln>
            <a:noFill/>
          </a:ln>
        </p:spPr>
        <p:txBody>
          <a:bodyPr wrap="square" anchor="ct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133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77C3383-8AFD-AE17-4257-A14591002920}"/>
              </a:ext>
            </a:extLst>
          </p:cNvPr>
          <p:cNvSpPr>
            <a:spLocks noGrp="1"/>
          </p:cNvSpPr>
          <p:nvPr>
            <p:ph type="title"/>
          </p:nvPr>
        </p:nvSpPr>
        <p:spPr>
          <a:xfrm>
            <a:off x="434847" y="927100"/>
            <a:ext cx="11176000" cy="711200"/>
          </a:xfrm>
        </p:spPr>
        <p:txBody>
          <a:bodyPr wrap="square" lIns="76200" tIns="38100" rIns="76200" bIns="38100" anchor="ctr"/>
          <a:lstStyle/>
          <a:p>
            <a:pPr algn="l">
              <a:buNone/>
            </a:pPr>
            <a:r>
              <a:rPr lang="en-US" sz="3200" b="1" dirty="0">
                <a:solidFill>
                  <a:srgbClr val="1F1F1F"/>
                </a:solidFill>
                <a:latin typeface="Calibri"/>
              </a:rPr>
              <a:t>Key Results — Accuracy, Safety, Runtime</a:t>
            </a:r>
          </a:p>
        </p:txBody>
      </p:sp>
      <p:sp>
        <p:nvSpPr>
          <p:cNvPr id="101" name="t101"/>
          <p:cNvSpPr txBox="1"/>
          <p:nvPr/>
        </p:nvSpPr>
        <p:spPr>
          <a:xfrm>
            <a:off x="508000" y="1553740"/>
            <a:ext cx="11176000" cy="457200"/>
          </a:xfrm>
          <a:prstGeom prst="rect">
            <a:avLst/>
          </a:prstGeom>
          <a:noFill/>
          <a:ln>
            <a:noFill/>
          </a:ln>
        </p:spPr>
        <p:txBody>
          <a:bodyPr wrap="square" lIns="76200" tIns="38100" rIns="76200" bIns="38100" anchor="ctr"/>
          <a:lstStyle/>
          <a:p>
            <a:r>
              <a:rPr lang="en-US" b="1" dirty="0"/>
              <a:t>Acceptance thresholds met within the validated static/live-aim scope.</a:t>
            </a:r>
            <a:endParaRPr lang="en-US" dirty="0"/>
          </a:p>
        </p:txBody>
      </p:sp>
      <p:sp>
        <p:nvSpPr>
          <p:cNvPr id="103" name="t103"/>
          <p:cNvSpPr txBox="1"/>
          <p:nvPr/>
        </p:nvSpPr>
        <p:spPr>
          <a:xfrm>
            <a:off x="698500" y="2222500"/>
            <a:ext cx="3429000" cy="508000"/>
          </a:xfrm>
          <a:prstGeom prst="rect">
            <a:avLst/>
          </a:prstGeom>
          <a:noFill/>
          <a:ln>
            <a:noFill/>
          </a:ln>
        </p:spPr>
        <p:txBody>
          <a:bodyPr wrap="square" lIns="76200" tIns="38100" rIns="76200" bIns="38100" anchor="ctr"/>
          <a:lstStyle/>
          <a:p>
            <a:r>
              <a:rPr b="1" dirty="0"/>
              <a:t>Headline results</a:t>
            </a:r>
          </a:p>
        </p:txBody>
      </p:sp>
      <p:sp>
        <p:nvSpPr>
          <p:cNvPr id="104" name="t104"/>
          <p:cNvSpPr txBox="1"/>
          <p:nvPr/>
        </p:nvSpPr>
        <p:spPr>
          <a:xfrm>
            <a:off x="698500" y="2730500"/>
            <a:ext cx="1651000" cy="457200"/>
          </a:xfrm>
          <a:prstGeom prst="rect">
            <a:avLst/>
          </a:prstGeom>
          <a:noFill/>
          <a:ln>
            <a:noFill/>
          </a:ln>
        </p:spPr>
        <p:txBody>
          <a:bodyPr wrap="square" lIns="76200" tIns="38100" rIns="76200" bIns="38100" anchor="ctr"/>
          <a:lstStyle/>
          <a:p>
            <a:r>
              <a:t>95.17 mm</a:t>
            </a:r>
          </a:p>
        </p:txBody>
      </p:sp>
      <p:sp>
        <p:nvSpPr>
          <p:cNvPr id="105" name="t105"/>
          <p:cNvSpPr txBox="1"/>
          <p:nvPr/>
        </p:nvSpPr>
        <p:spPr>
          <a:xfrm>
            <a:off x="2413000" y="2730500"/>
            <a:ext cx="1714500" cy="457200"/>
          </a:xfrm>
          <a:prstGeom prst="rect">
            <a:avLst/>
          </a:prstGeom>
          <a:noFill/>
          <a:ln>
            <a:noFill/>
          </a:ln>
        </p:spPr>
        <p:txBody>
          <a:bodyPr wrap="square" lIns="76200" tIns="38100" rIns="76200" bIns="38100" anchor="ctr"/>
          <a:lstStyle/>
          <a:p>
            <a:r>
              <a:rPr dirty="0"/>
              <a:t>corrected ball mean</a:t>
            </a:r>
            <a:r>
              <a:rPr lang="en-US" dirty="0"/>
              <a:t> error</a:t>
            </a:r>
            <a:endParaRPr dirty="0"/>
          </a:p>
        </p:txBody>
      </p:sp>
      <p:sp>
        <p:nvSpPr>
          <p:cNvPr id="106" name="t106"/>
          <p:cNvSpPr txBox="1"/>
          <p:nvPr/>
        </p:nvSpPr>
        <p:spPr>
          <a:xfrm>
            <a:off x="698500" y="3340100"/>
            <a:ext cx="1651000" cy="457200"/>
          </a:xfrm>
          <a:prstGeom prst="rect">
            <a:avLst/>
          </a:prstGeom>
          <a:noFill/>
          <a:ln>
            <a:noFill/>
          </a:ln>
        </p:spPr>
        <p:txBody>
          <a:bodyPr wrap="square" lIns="76200" tIns="38100" rIns="76200" bIns="38100" anchor="ctr"/>
          <a:lstStyle/>
          <a:p>
            <a:r>
              <a:t>143.38 mm</a:t>
            </a:r>
          </a:p>
        </p:txBody>
      </p:sp>
      <p:sp>
        <p:nvSpPr>
          <p:cNvPr id="107" name="t107"/>
          <p:cNvSpPr txBox="1"/>
          <p:nvPr/>
        </p:nvSpPr>
        <p:spPr>
          <a:xfrm>
            <a:off x="2413000" y="3340100"/>
            <a:ext cx="1714500" cy="457200"/>
          </a:xfrm>
          <a:prstGeom prst="rect">
            <a:avLst/>
          </a:prstGeom>
          <a:noFill/>
          <a:ln>
            <a:noFill/>
          </a:ln>
        </p:spPr>
        <p:txBody>
          <a:bodyPr wrap="square" lIns="76200" tIns="38100" rIns="76200" bIns="38100" anchor="ctr"/>
          <a:lstStyle/>
          <a:p>
            <a:r>
              <a:rPr dirty="0"/>
              <a:t>joint mean</a:t>
            </a:r>
            <a:r>
              <a:rPr lang="en-US" dirty="0"/>
              <a:t> error</a:t>
            </a:r>
            <a:r>
              <a:rPr dirty="0"/>
              <a:t> (62 valid trials)</a:t>
            </a:r>
          </a:p>
        </p:txBody>
      </p:sp>
      <p:sp>
        <p:nvSpPr>
          <p:cNvPr id="108" name="t108"/>
          <p:cNvSpPr txBox="1"/>
          <p:nvPr/>
        </p:nvSpPr>
        <p:spPr>
          <a:xfrm>
            <a:off x="698500" y="3949700"/>
            <a:ext cx="1651000" cy="457200"/>
          </a:xfrm>
          <a:prstGeom prst="rect">
            <a:avLst/>
          </a:prstGeom>
          <a:noFill/>
          <a:ln>
            <a:noFill/>
          </a:ln>
        </p:spPr>
        <p:txBody>
          <a:bodyPr wrap="square" lIns="76200" tIns="38100" rIns="76200" bIns="38100" anchor="ctr"/>
          <a:lstStyle/>
          <a:p>
            <a:r>
              <a:rPr dirty="0"/>
              <a:t>110 / 150 / 164 mm</a:t>
            </a:r>
          </a:p>
        </p:txBody>
      </p:sp>
      <p:sp>
        <p:nvSpPr>
          <p:cNvPr id="109" name="t109"/>
          <p:cNvSpPr txBox="1"/>
          <p:nvPr/>
        </p:nvSpPr>
        <p:spPr>
          <a:xfrm>
            <a:off x="2413000" y="3949700"/>
            <a:ext cx="1714500" cy="457200"/>
          </a:xfrm>
          <a:prstGeom prst="rect">
            <a:avLst/>
          </a:prstGeom>
          <a:noFill/>
          <a:ln>
            <a:noFill/>
          </a:ln>
        </p:spPr>
        <p:txBody>
          <a:bodyPr wrap="square" lIns="76200" tIns="38100" rIns="76200" bIns="38100" anchor="ctr"/>
          <a:lstStyle/>
          <a:p>
            <a:r>
              <a:rPr dirty="0"/>
              <a:t>knee / hip / shoulder means</a:t>
            </a:r>
          </a:p>
        </p:txBody>
      </p:sp>
      <p:sp>
        <p:nvSpPr>
          <p:cNvPr id="110" name="t110"/>
          <p:cNvSpPr txBox="1"/>
          <p:nvPr/>
        </p:nvSpPr>
        <p:spPr>
          <a:xfrm>
            <a:off x="698500" y="4559300"/>
            <a:ext cx="1651000" cy="457200"/>
          </a:xfrm>
          <a:prstGeom prst="rect">
            <a:avLst/>
          </a:prstGeom>
          <a:noFill/>
          <a:ln>
            <a:noFill/>
          </a:ln>
        </p:spPr>
        <p:txBody>
          <a:bodyPr wrap="square" lIns="76200" tIns="38100" rIns="76200" bIns="38100" anchor="ctr"/>
          <a:lstStyle/>
          <a:p>
            <a:r>
              <a:t>&lt;100 ms</a:t>
            </a:r>
          </a:p>
        </p:txBody>
      </p:sp>
      <p:sp>
        <p:nvSpPr>
          <p:cNvPr id="111" name="t111"/>
          <p:cNvSpPr txBox="1"/>
          <p:nvPr/>
        </p:nvSpPr>
        <p:spPr>
          <a:xfrm>
            <a:off x="2413000" y="4559300"/>
            <a:ext cx="1714500" cy="457200"/>
          </a:xfrm>
          <a:prstGeom prst="rect">
            <a:avLst/>
          </a:prstGeom>
          <a:noFill/>
          <a:ln>
            <a:noFill/>
          </a:ln>
        </p:spPr>
        <p:txBody>
          <a:bodyPr wrap="square" lIns="76200" tIns="38100" rIns="76200" bIns="38100" anchor="ctr"/>
          <a:lstStyle/>
          <a:p>
            <a:r>
              <a:rPr dirty="0"/>
              <a:t>E-STOP latch response</a:t>
            </a:r>
          </a:p>
        </p:txBody>
      </p:sp>
      <p:sp>
        <p:nvSpPr>
          <p:cNvPr id="112" name="t112"/>
          <p:cNvSpPr txBox="1"/>
          <p:nvPr/>
        </p:nvSpPr>
        <p:spPr>
          <a:xfrm>
            <a:off x="698500" y="5168900"/>
            <a:ext cx="1651000" cy="457200"/>
          </a:xfrm>
          <a:prstGeom prst="rect">
            <a:avLst/>
          </a:prstGeom>
          <a:noFill/>
          <a:ln>
            <a:noFill/>
          </a:ln>
        </p:spPr>
        <p:txBody>
          <a:bodyPr wrap="square" lIns="76200" tIns="38100" rIns="76200" bIns="38100" anchor="ctr"/>
          <a:lstStyle/>
          <a:p>
            <a:r>
              <a:t>15 FPS</a:t>
            </a:r>
          </a:p>
        </p:txBody>
      </p:sp>
      <p:sp>
        <p:nvSpPr>
          <p:cNvPr id="113" name="t113"/>
          <p:cNvSpPr txBox="1"/>
          <p:nvPr/>
        </p:nvSpPr>
        <p:spPr>
          <a:xfrm>
            <a:off x="2413000" y="5168900"/>
            <a:ext cx="1714500" cy="457200"/>
          </a:xfrm>
          <a:prstGeom prst="rect">
            <a:avLst/>
          </a:prstGeom>
          <a:noFill/>
          <a:ln>
            <a:noFill/>
          </a:ln>
        </p:spPr>
        <p:txBody>
          <a:bodyPr wrap="square" lIns="76200" tIns="38100" rIns="76200" bIns="38100" anchor="ctr"/>
          <a:lstStyle/>
          <a:p>
            <a:r>
              <a:t>live YOLO-Pose pipeline</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a:t>
            </a:r>
            <a:r>
              <a:rPr lang="en-US" dirty="0" err="1">
                <a:solidFill>
                  <a:schemeClr val="bg1"/>
                </a:solidFill>
              </a:rPr>
              <a:t>localisation</a:t>
            </a:r>
            <a:r>
              <a:rPr lang="en-US" dirty="0">
                <a:solidFill>
                  <a:schemeClr val="bg1"/>
                </a:solidFill>
              </a:rPr>
              <a:t> targets were met; safety and runtime support static/live-aim validation.</a:t>
            </a:r>
            <a:endParaRPr dirty="0">
              <a:solidFill>
                <a:schemeClr val="bg1"/>
              </a:solidFill>
            </a:endParaRP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11</a:t>
            </a:r>
          </a:p>
        </p:txBody>
      </p:sp>
      <p:sp>
        <p:nvSpPr>
          <p:cNvPr id="3" name="r100">
            <a:extLst>
              <a:ext uri="{FF2B5EF4-FFF2-40B4-BE49-F238E27FC236}">
                <a16:creationId xmlns:a16="http://schemas.microsoft.com/office/drawing/2014/main" id="{F5DC871C-5C6C-E215-9249-97016177CA34}"/>
              </a:ext>
            </a:extLst>
          </p:cNvPr>
          <p:cNvSpPr/>
          <p:nvPr/>
        </p:nvSpPr>
        <p:spPr>
          <a:xfrm>
            <a:off x="519047" y="1516518"/>
            <a:ext cx="6773293" cy="74444"/>
          </a:xfrm>
          <a:prstGeom prst="rect">
            <a:avLst/>
          </a:prstGeom>
          <a:solidFill>
            <a:srgbClr val="935739"/>
          </a:solidFill>
          <a:ln>
            <a:noFill/>
          </a:ln>
        </p:spPr>
        <p:txBody>
          <a:bodyPr wrap="square" anchor="ctr"/>
          <a:lstStyle/>
          <a:p>
            <a:endParaRPr lang="en-US"/>
          </a:p>
        </p:txBody>
      </p:sp>
      <p:sp>
        <p:nvSpPr>
          <p:cNvPr id="4" name="r100">
            <a:extLst>
              <a:ext uri="{FF2B5EF4-FFF2-40B4-BE49-F238E27FC236}">
                <a16:creationId xmlns:a16="http://schemas.microsoft.com/office/drawing/2014/main" id="{CCE88183-1A2E-459D-5BBA-521C895C3409}"/>
              </a:ext>
            </a:extLst>
          </p:cNvPr>
          <p:cNvSpPr/>
          <p:nvPr/>
        </p:nvSpPr>
        <p:spPr>
          <a:xfrm>
            <a:off x="744778" y="3226541"/>
            <a:ext cx="3336443" cy="45719"/>
          </a:xfrm>
          <a:prstGeom prst="rect">
            <a:avLst/>
          </a:prstGeom>
          <a:solidFill>
            <a:srgbClr val="935739"/>
          </a:solidFill>
          <a:ln>
            <a:noFill/>
          </a:ln>
        </p:spPr>
        <p:txBody>
          <a:bodyPr wrap="square" anchor="ctr"/>
          <a:lstStyle/>
          <a:p>
            <a:endParaRPr lang="en-US"/>
          </a:p>
        </p:txBody>
      </p:sp>
      <p:sp>
        <p:nvSpPr>
          <p:cNvPr id="5" name="r100">
            <a:extLst>
              <a:ext uri="{FF2B5EF4-FFF2-40B4-BE49-F238E27FC236}">
                <a16:creationId xmlns:a16="http://schemas.microsoft.com/office/drawing/2014/main" id="{0EBA7501-7845-A967-3C88-8279A538B31D}"/>
              </a:ext>
            </a:extLst>
          </p:cNvPr>
          <p:cNvSpPr/>
          <p:nvPr/>
        </p:nvSpPr>
        <p:spPr>
          <a:xfrm>
            <a:off x="744778" y="3850640"/>
            <a:ext cx="3336443" cy="45719"/>
          </a:xfrm>
          <a:prstGeom prst="rect">
            <a:avLst/>
          </a:prstGeom>
          <a:solidFill>
            <a:srgbClr val="935739"/>
          </a:solidFill>
          <a:ln>
            <a:noFill/>
          </a:ln>
        </p:spPr>
        <p:txBody>
          <a:bodyPr wrap="square" anchor="ctr"/>
          <a:lstStyle/>
          <a:p>
            <a:endParaRPr lang="en-US"/>
          </a:p>
        </p:txBody>
      </p:sp>
      <p:sp>
        <p:nvSpPr>
          <p:cNvPr id="6" name="r100">
            <a:extLst>
              <a:ext uri="{FF2B5EF4-FFF2-40B4-BE49-F238E27FC236}">
                <a16:creationId xmlns:a16="http://schemas.microsoft.com/office/drawing/2014/main" id="{732A4F07-D937-0545-A64C-CF041F77985B}"/>
              </a:ext>
            </a:extLst>
          </p:cNvPr>
          <p:cNvSpPr/>
          <p:nvPr/>
        </p:nvSpPr>
        <p:spPr>
          <a:xfrm>
            <a:off x="744778" y="4460048"/>
            <a:ext cx="3336443" cy="45719"/>
          </a:xfrm>
          <a:prstGeom prst="rect">
            <a:avLst/>
          </a:prstGeom>
          <a:solidFill>
            <a:srgbClr val="935739"/>
          </a:solidFill>
          <a:ln>
            <a:noFill/>
          </a:ln>
        </p:spPr>
        <p:txBody>
          <a:bodyPr wrap="square" anchor="ctr"/>
          <a:lstStyle/>
          <a:p>
            <a:endParaRPr lang="en-US"/>
          </a:p>
        </p:txBody>
      </p:sp>
      <p:sp>
        <p:nvSpPr>
          <p:cNvPr id="7" name="r100">
            <a:extLst>
              <a:ext uri="{FF2B5EF4-FFF2-40B4-BE49-F238E27FC236}">
                <a16:creationId xmlns:a16="http://schemas.microsoft.com/office/drawing/2014/main" id="{537AB4FD-4B29-F910-BE4D-F570EF66F6CD}"/>
              </a:ext>
            </a:extLst>
          </p:cNvPr>
          <p:cNvSpPr/>
          <p:nvPr/>
        </p:nvSpPr>
        <p:spPr>
          <a:xfrm>
            <a:off x="744778" y="5069648"/>
            <a:ext cx="3336443" cy="45719"/>
          </a:xfrm>
          <a:prstGeom prst="rect">
            <a:avLst/>
          </a:prstGeom>
          <a:solidFill>
            <a:srgbClr val="935739"/>
          </a:solidFill>
          <a:ln>
            <a:noFill/>
          </a:ln>
        </p:spPr>
        <p:txBody>
          <a:bodyPr wrap="square" anchor="ctr"/>
          <a:lstStyle/>
          <a:p>
            <a:endParaRPr lang="en-US"/>
          </a:p>
        </p:txBody>
      </p:sp>
      <p:sp>
        <p:nvSpPr>
          <p:cNvPr id="8" name="r100">
            <a:extLst>
              <a:ext uri="{FF2B5EF4-FFF2-40B4-BE49-F238E27FC236}">
                <a16:creationId xmlns:a16="http://schemas.microsoft.com/office/drawing/2014/main" id="{31DF6030-9235-ADE1-73A8-4E85D76670ED}"/>
              </a:ext>
            </a:extLst>
          </p:cNvPr>
          <p:cNvSpPr/>
          <p:nvPr/>
        </p:nvSpPr>
        <p:spPr>
          <a:xfrm>
            <a:off x="791057" y="2613661"/>
            <a:ext cx="3336443" cy="45719"/>
          </a:xfrm>
          <a:prstGeom prst="rect">
            <a:avLst/>
          </a:prstGeom>
          <a:solidFill>
            <a:srgbClr val="935739"/>
          </a:solidFill>
          <a:ln>
            <a:noFill/>
          </a:ln>
        </p:spPr>
        <p:txBody>
          <a:bodyPr wrap="square" anchor="ctr"/>
          <a:lstStyle/>
          <a:p>
            <a:endParaRPr lang="en-US"/>
          </a:p>
        </p:txBody>
      </p:sp>
      <p:sp>
        <p:nvSpPr>
          <p:cNvPr id="9" name="r100">
            <a:extLst>
              <a:ext uri="{FF2B5EF4-FFF2-40B4-BE49-F238E27FC236}">
                <a16:creationId xmlns:a16="http://schemas.microsoft.com/office/drawing/2014/main" id="{B4898623-D409-AE9C-C54B-133F97F43403}"/>
              </a:ext>
            </a:extLst>
          </p:cNvPr>
          <p:cNvSpPr/>
          <p:nvPr/>
        </p:nvSpPr>
        <p:spPr>
          <a:xfrm>
            <a:off x="727557" y="5679633"/>
            <a:ext cx="3336443" cy="45719"/>
          </a:xfrm>
          <a:prstGeom prst="rect">
            <a:avLst/>
          </a:prstGeom>
          <a:solidFill>
            <a:srgbClr val="935739"/>
          </a:solidFill>
          <a:ln>
            <a:noFill/>
          </a:ln>
        </p:spPr>
        <p:txBody>
          <a:bodyPr wrap="square" anchor="ctr"/>
          <a:lstStyle/>
          <a:p>
            <a:endParaRPr lang="en-US"/>
          </a:p>
        </p:txBody>
      </p:sp>
      <p:pic>
        <p:nvPicPr>
          <p:cNvPr id="11" name="Picture 10">
            <a:extLst>
              <a:ext uri="{FF2B5EF4-FFF2-40B4-BE49-F238E27FC236}">
                <a16:creationId xmlns:a16="http://schemas.microsoft.com/office/drawing/2014/main" id="{56A1327D-391A-94E2-9852-E73282F41950}"/>
              </a:ext>
            </a:extLst>
          </p:cNvPr>
          <p:cNvPicPr>
            <a:picLocks noChangeAspect="1"/>
          </p:cNvPicPr>
          <p:nvPr/>
        </p:nvPicPr>
        <p:blipFill>
          <a:blip r:embed="rId4"/>
          <a:stretch>
            <a:fillRect/>
          </a:stretch>
        </p:blipFill>
        <p:spPr>
          <a:xfrm>
            <a:off x="8171076" y="2833162"/>
            <a:ext cx="4020924" cy="2233075"/>
          </a:xfrm>
          <a:prstGeom prst="rect">
            <a:avLst/>
          </a:prstGeom>
        </p:spPr>
      </p:pic>
      <p:pic>
        <p:nvPicPr>
          <p:cNvPr id="13" name="Picture 12">
            <a:extLst>
              <a:ext uri="{FF2B5EF4-FFF2-40B4-BE49-F238E27FC236}">
                <a16:creationId xmlns:a16="http://schemas.microsoft.com/office/drawing/2014/main" id="{10D9BF3C-D98D-91A0-2AF4-69AA7177F8C7}"/>
              </a:ext>
            </a:extLst>
          </p:cNvPr>
          <p:cNvPicPr>
            <a:picLocks noChangeAspect="1"/>
          </p:cNvPicPr>
          <p:nvPr/>
        </p:nvPicPr>
        <p:blipFill>
          <a:blip r:embed="rId5"/>
          <a:stretch>
            <a:fillRect/>
          </a:stretch>
        </p:blipFill>
        <p:spPr>
          <a:xfrm>
            <a:off x="4150152" y="2842036"/>
            <a:ext cx="4020924" cy="2215328"/>
          </a:xfrm>
          <a:prstGeom prst="rect">
            <a:avLst/>
          </a:prstGeom>
        </p:spPr>
      </p:pic>
    </p:spTree>
    <p:extLst>
      <p:ext uri="{BB962C8B-B14F-4D97-AF65-F5344CB8AC3E}">
        <p14:creationId xmlns:p14="http://schemas.microsoft.com/office/powerpoint/2010/main" val="2752527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7"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9308F2B-84C4-18D7-27CE-949CBD503638}"/>
              </a:ext>
            </a:extLst>
          </p:cNvPr>
          <p:cNvSpPr>
            <a:spLocks noGrp="1"/>
          </p:cNvSpPr>
          <p:nvPr>
            <p:ph type="title"/>
          </p:nvPr>
        </p:nvSpPr>
        <p:spPr>
          <a:xfrm>
            <a:off x="508000" y="965200"/>
            <a:ext cx="11176000" cy="711200"/>
          </a:xfrm>
        </p:spPr>
        <p:txBody>
          <a:bodyPr wrap="square" lIns="76200" tIns="38100" rIns="76200" bIns="38100" anchor="ctr"/>
          <a:lstStyle/>
          <a:p>
            <a:pPr algn="l">
              <a:buNone/>
            </a:pPr>
            <a:r>
              <a:rPr lang="en-US" sz="3200" b="1" dirty="0">
                <a:solidFill>
                  <a:srgbClr val="1F1F1F"/>
                </a:solidFill>
                <a:latin typeface="Calibri"/>
              </a:rPr>
              <a:t>Limitations &amp; Challenges</a:t>
            </a:r>
          </a:p>
        </p:txBody>
      </p:sp>
      <p:sp>
        <p:nvSpPr>
          <p:cNvPr id="101" name="t101"/>
          <p:cNvSpPr txBox="1"/>
          <p:nvPr/>
        </p:nvSpPr>
        <p:spPr>
          <a:xfrm>
            <a:off x="508000" y="1693120"/>
            <a:ext cx="11176000" cy="457200"/>
          </a:xfrm>
          <a:prstGeom prst="rect">
            <a:avLst/>
          </a:prstGeom>
          <a:noFill/>
          <a:ln>
            <a:noFill/>
          </a:ln>
        </p:spPr>
        <p:txBody>
          <a:bodyPr wrap="square" lIns="76200" tIns="38100" rIns="76200" bIns="38100" anchor="ctr"/>
          <a:lstStyle/>
          <a:p>
            <a:r>
              <a:rPr lang="en-US" b="1" dirty="0"/>
              <a:t>Validated:</a:t>
            </a:r>
            <a:r>
              <a:rPr lang="en-US" dirty="0"/>
              <a:t> perception, 3D targeting, safety gates, and static/live-aim tests.</a:t>
            </a:r>
          </a:p>
          <a:p>
            <a:r>
              <a:rPr lang="en-US" b="1" dirty="0"/>
              <a:t>Pending</a:t>
            </a:r>
            <a:r>
              <a:rPr lang="en-US" dirty="0"/>
              <a:t>: moving-subject closed-loop firing.</a:t>
            </a:r>
            <a:endParaRPr dirty="0"/>
          </a:p>
        </p:txBody>
      </p:sp>
      <p:sp>
        <p:nvSpPr>
          <p:cNvPr id="105" name="r105"/>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6" name="t106"/>
          <p:cNvSpPr txBox="1"/>
          <p:nvPr/>
        </p:nvSpPr>
        <p:spPr>
          <a:xfrm>
            <a:off x="508000" y="6350000"/>
            <a:ext cx="11176000" cy="508000"/>
          </a:xfrm>
          <a:prstGeom prst="rect">
            <a:avLst/>
          </a:prstGeom>
          <a:noFill/>
          <a:ln>
            <a:noFill/>
          </a:ln>
        </p:spPr>
        <p:txBody>
          <a:bodyPr wrap="square" lIns="76200" tIns="38100" rIns="76200" bIns="38100" anchor="ctr"/>
          <a:lstStyle/>
          <a:p>
            <a:r>
              <a:rPr dirty="0">
                <a:solidFill>
                  <a:schemeClr val="bg1"/>
                </a:solidFill>
              </a:rPr>
              <a:t>Takeaway: the validated scope (perception → safety-gated static shots) is a strong partial validation. The unvalidated boundary is precisely defined: moving-subject closed-loop firing.</a:t>
            </a:r>
          </a:p>
        </p:txBody>
      </p:sp>
      <p:sp>
        <p:nvSpPr>
          <p:cNvPr id="110" name="Rectangle 109"/>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1" name="Rectangle 110"/>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13</a:t>
            </a:r>
          </a:p>
        </p:txBody>
      </p:sp>
      <p:sp>
        <p:nvSpPr>
          <p:cNvPr id="3" name="r100">
            <a:extLst>
              <a:ext uri="{FF2B5EF4-FFF2-40B4-BE49-F238E27FC236}">
                <a16:creationId xmlns:a16="http://schemas.microsoft.com/office/drawing/2014/main" id="{933E4AE8-D596-CFD3-FEE9-781A07E17DB6}"/>
              </a:ext>
            </a:extLst>
          </p:cNvPr>
          <p:cNvSpPr/>
          <p:nvPr/>
        </p:nvSpPr>
        <p:spPr>
          <a:xfrm>
            <a:off x="598170" y="1555496"/>
            <a:ext cx="4150995" cy="74444"/>
          </a:xfrm>
          <a:prstGeom prst="rect">
            <a:avLst/>
          </a:prstGeom>
          <a:solidFill>
            <a:srgbClr val="935739"/>
          </a:solidFill>
          <a:ln>
            <a:noFill/>
          </a:ln>
        </p:spPr>
        <p:txBody>
          <a:bodyPr wrap="square" anchor="ctr"/>
          <a:lstStyle/>
          <a:p>
            <a:endParaRPr lang="en-US"/>
          </a:p>
        </p:txBody>
      </p:sp>
      <p:graphicFrame>
        <p:nvGraphicFramePr>
          <p:cNvPr id="113" name="t102">
            <a:extLst>
              <a:ext uri="{FF2B5EF4-FFF2-40B4-BE49-F238E27FC236}">
                <a16:creationId xmlns:a16="http://schemas.microsoft.com/office/drawing/2014/main" id="{DBE73A32-5161-36F2-5617-3C3E3B1DA591}"/>
              </a:ext>
            </a:extLst>
          </p:cNvPr>
          <p:cNvGraphicFramePr/>
          <p:nvPr>
            <p:extLst>
              <p:ext uri="{D42A27DB-BD31-4B8C-83A1-F6EECF244321}">
                <p14:modId xmlns:p14="http://schemas.microsoft.com/office/powerpoint/2010/main" val="3921843089"/>
              </p:ext>
            </p:extLst>
          </p:nvPr>
        </p:nvGraphicFramePr>
        <p:xfrm>
          <a:off x="508000" y="2294680"/>
          <a:ext cx="5969000" cy="3810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4F377259-8051-6FBA-B3C1-2481C6161390}"/>
              </a:ext>
            </a:extLst>
          </p:cNvPr>
          <p:cNvPicPr>
            <a:picLocks noChangeAspect="1"/>
          </p:cNvPicPr>
          <p:nvPr/>
        </p:nvPicPr>
        <p:blipFill>
          <a:blip r:embed="rId9"/>
          <a:srcRect b="18439"/>
          <a:stretch>
            <a:fillRect/>
          </a:stretch>
        </p:blipFill>
        <p:spPr>
          <a:xfrm>
            <a:off x="6477000" y="2395640"/>
            <a:ext cx="5689703" cy="3480440"/>
          </a:xfrm>
          <a:prstGeom prst="rect">
            <a:avLst/>
          </a:prstGeom>
        </p:spPr>
      </p:pic>
    </p:spTree>
    <p:extLst>
      <p:ext uri="{BB962C8B-B14F-4D97-AF65-F5344CB8AC3E}">
        <p14:creationId xmlns:p14="http://schemas.microsoft.com/office/powerpoint/2010/main" val="3230508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2" name="NUThemeBackground" descr="nu_theme-2.png"/>
          <p:cNvPicPr>
            <a:picLocks noChangeAspect="1"/>
          </p:cNvPicPr>
          <p:nvPr/>
        </p:nvPicPr>
        <p:blipFill>
          <a:blip r:embed="rId3"/>
          <a:stretch>
            <a:fillRect/>
          </a:stretch>
        </p:blipFill>
        <p:spPr>
          <a:xfrm>
            <a:off x="-2" y="31234"/>
            <a:ext cx="12192000" cy="6858000"/>
          </a:xfrm>
          <a:prstGeom prst="rect">
            <a:avLst/>
          </a:prstGeom>
        </p:spPr>
      </p:pic>
      <p:sp>
        <p:nvSpPr>
          <p:cNvPr id="2" name="Title 1">
            <a:extLst>
              <a:ext uri="{FF2B5EF4-FFF2-40B4-BE49-F238E27FC236}">
                <a16:creationId xmlns:a16="http://schemas.microsoft.com/office/drawing/2014/main" id="{15ABDFC1-C322-06B2-128F-8E22988F71D3}"/>
              </a:ext>
            </a:extLst>
          </p:cNvPr>
          <p:cNvSpPr>
            <a:spLocks noGrp="1"/>
          </p:cNvSpPr>
          <p:nvPr>
            <p:ph type="title"/>
          </p:nvPr>
        </p:nvSpPr>
        <p:spPr>
          <a:xfrm>
            <a:off x="507998" y="934720"/>
            <a:ext cx="11176000" cy="711200"/>
          </a:xfrm>
        </p:spPr>
        <p:txBody>
          <a:bodyPr wrap="square" lIns="76200" tIns="38100" rIns="76200" bIns="38100" anchor="ctr"/>
          <a:lstStyle/>
          <a:p>
            <a:pPr algn="l">
              <a:buNone/>
            </a:pPr>
            <a:r>
              <a:rPr lang="en-US" sz="3200" b="1" dirty="0">
                <a:solidFill>
                  <a:srgbClr val="1F1F1F"/>
                </a:solidFill>
                <a:latin typeface="Calibri"/>
              </a:rPr>
              <a:t>Conclusions &amp; Contributions</a:t>
            </a:r>
          </a:p>
        </p:txBody>
      </p:sp>
      <p:sp>
        <p:nvSpPr>
          <p:cNvPr id="101" name="t101"/>
          <p:cNvSpPr txBox="1"/>
          <p:nvPr/>
        </p:nvSpPr>
        <p:spPr>
          <a:xfrm>
            <a:off x="507998" y="1536700"/>
            <a:ext cx="11176000" cy="457200"/>
          </a:xfrm>
          <a:prstGeom prst="rect">
            <a:avLst/>
          </a:prstGeom>
          <a:noFill/>
          <a:ln>
            <a:noFill/>
          </a:ln>
        </p:spPr>
        <p:txBody>
          <a:bodyPr wrap="square" lIns="76200" tIns="38100" rIns="76200" bIns="38100" anchor="ctr"/>
          <a:lstStyle/>
          <a:p>
            <a:r>
              <a:rPr lang="en-US" dirty="0"/>
              <a:t>Static/live-aim validation completed; moving-target firing remains future work.</a:t>
            </a:r>
            <a:endParaRPr dirty="0"/>
          </a:p>
        </p:txBody>
      </p:sp>
      <p:sp>
        <p:nvSpPr>
          <p:cNvPr id="102" name="r102"/>
          <p:cNvSpPr/>
          <p:nvPr/>
        </p:nvSpPr>
        <p:spPr>
          <a:xfrm>
            <a:off x="469900" y="3079750"/>
            <a:ext cx="3683000" cy="1841500"/>
          </a:xfrm>
          <a:prstGeom prst="rect">
            <a:avLst/>
          </a:prstGeom>
          <a:solidFill>
            <a:srgbClr val="F7F1EC"/>
          </a:solidFill>
          <a:ln w="16510">
            <a:solidFill>
              <a:srgbClr val="935739"/>
            </a:solidFill>
          </a:ln>
        </p:spPr>
        <p:txBody>
          <a:bodyPr wrap="square" anchor="ctr"/>
          <a:lstStyle/>
          <a:p>
            <a:endParaRPr lang="en-US" dirty="0"/>
          </a:p>
        </p:txBody>
      </p:sp>
      <p:sp>
        <p:nvSpPr>
          <p:cNvPr id="103" name="t103"/>
          <p:cNvSpPr txBox="1"/>
          <p:nvPr/>
        </p:nvSpPr>
        <p:spPr>
          <a:xfrm>
            <a:off x="381000" y="362077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1</a:t>
            </a:r>
          </a:p>
        </p:txBody>
      </p:sp>
      <p:sp>
        <p:nvSpPr>
          <p:cNvPr id="104" name="t104"/>
          <p:cNvSpPr txBox="1"/>
          <p:nvPr/>
        </p:nvSpPr>
        <p:spPr>
          <a:xfrm>
            <a:off x="1391105" y="3395660"/>
            <a:ext cx="2476500" cy="319648"/>
          </a:xfrm>
          <a:prstGeom prst="rect">
            <a:avLst/>
          </a:prstGeom>
          <a:noFill/>
          <a:ln>
            <a:noFill/>
          </a:ln>
        </p:spPr>
        <p:txBody>
          <a:bodyPr wrap="square" lIns="76200" tIns="38100" rIns="76200" bIns="38100" anchor="ctr"/>
          <a:lstStyle/>
          <a:p>
            <a:r>
              <a:rPr lang="en-US" b="1" dirty="0"/>
              <a:t>Pose-reactive aiming</a:t>
            </a:r>
            <a:endParaRPr b="1" dirty="0"/>
          </a:p>
        </p:txBody>
      </p:sp>
      <p:sp>
        <p:nvSpPr>
          <p:cNvPr id="105" name="r105"/>
          <p:cNvSpPr/>
          <p:nvPr/>
        </p:nvSpPr>
        <p:spPr>
          <a:xfrm>
            <a:off x="4318000" y="2095500"/>
            <a:ext cx="3683000" cy="1841500"/>
          </a:xfrm>
          <a:prstGeom prst="rect">
            <a:avLst/>
          </a:prstGeom>
          <a:solidFill>
            <a:srgbClr val="F7F1EC"/>
          </a:solidFill>
          <a:ln w="16510">
            <a:solidFill>
              <a:srgbClr val="935739"/>
            </a:solidFill>
          </a:ln>
        </p:spPr>
        <p:txBody>
          <a:bodyPr wrap="square" anchor="ctr"/>
          <a:lstStyle/>
          <a:p>
            <a:endParaRPr lang="en-US"/>
          </a:p>
        </p:txBody>
      </p:sp>
      <p:sp>
        <p:nvSpPr>
          <p:cNvPr id="106" name="t106"/>
          <p:cNvSpPr txBox="1"/>
          <p:nvPr/>
        </p:nvSpPr>
        <p:spPr>
          <a:xfrm>
            <a:off x="4266289" y="2571234"/>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2</a:t>
            </a:r>
          </a:p>
        </p:txBody>
      </p:sp>
      <p:sp>
        <p:nvSpPr>
          <p:cNvPr id="107" name="t107"/>
          <p:cNvSpPr txBox="1"/>
          <p:nvPr/>
        </p:nvSpPr>
        <p:spPr>
          <a:xfrm>
            <a:off x="5080000" y="2353548"/>
            <a:ext cx="2476500" cy="439420"/>
          </a:xfrm>
          <a:prstGeom prst="rect">
            <a:avLst/>
          </a:prstGeom>
          <a:noFill/>
          <a:ln>
            <a:noFill/>
          </a:ln>
        </p:spPr>
        <p:txBody>
          <a:bodyPr wrap="square" lIns="76200" tIns="38100" rIns="76200" bIns="38100" anchor="ctr"/>
          <a:lstStyle/>
          <a:p>
            <a:r>
              <a:rPr lang="en-US" b="1" dirty="0"/>
              <a:t>Low-cost 3D perception</a:t>
            </a:r>
            <a:endParaRPr b="1" dirty="0"/>
          </a:p>
        </p:txBody>
      </p:sp>
      <p:sp>
        <p:nvSpPr>
          <p:cNvPr id="108" name="r108"/>
          <p:cNvSpPr/>
          <p:nvPr/>
        </p:nvSpPr>
        <p:spPr>
          <a:xfrm>
            <a:off x="4318513" y="4160004"/>
            <a:ext cx="3683000" cy="1841500"/>
          </a:xfrm>
          <a:prstGeom prst="rect">
            <a:avLst/>
          </a:prstGeom>
          <a:solidFill>
            <a:srgbClr val="F7F1EC"/>
          </a:solidFill>
          <a:ln w="16510">
            <a:solidFill>
              <a:srgbClr val="935739"/>
            </a:solidFill>
          </a:ln>
        </p:spPr>
        <p:txBody>
          <a:bodyPr wrap="square" anchor="ctr"/>
          <a:lstStyle/>
          <a:p>
            <a:endParaRPr lang="en-US" dirty="0"/>
          </a:p>
        </p:txBody>
      </p:sp>
      <p:sp>
        <p:nvSpPr>
          <p:cNvPr id="109" name="t109"/>
          <p:cNvSpPr txBox="1"/>
          <p:nvPr/>
        </p:nvSpPr>
        <p:spPr>
          <a:xfrm>
            <a:off x="4318513" y="4657844"/>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3</a:t>
            </a:r>
          </a:p>
        </p:txBody>
      </p:sp>
      <p:sp>
        <p:nvSpPr>
          <p:cNvPr id="110" name="t110"/>
          <p:cNvSpPr txBox="1"/>
          <p:nvPr/>
        </p:nvSpPr>
        <p:spPr>
          <a:xfrm>
            <a:off x="5490724" y="4934704"/>
            <a:ext cx="1673860" cy="800993"/>
          </a:xfrm>
          <a:prstGeom prst="rect">
            <a:avLst/>
          </a:prstGeom>
          <a:noFill/>
          <a:ln>
            <a:noFill/>
          </a:ln>
        </p:spPr>
        <p:txBody>
          <a:bodyPr wrap="square" lIns="76200" tIns="38100" rIns="76200" bIns="38100" anchor="ctr"/>
          <a:lstStyle/>
          <a:p>
            <a:pPr algn="ctr"/>
            <a:r>
              <a:rPr lang="en-US" dirty="0"/>
              <a:t>S0–S4 passed; E-STOP &lt;100 </a:t>
            </a:r>
            <a:r>
              <a:rPr lang="en-US" dirty="0" err="1"/>
              <a:t>ms</a:t>
            </a:r>
            <a:endParaRPr dirty="0"/>
          </a:p>
        </p:txBody>
      </p:sp>
      <p:sp>
        <p:nvSpPr>
          <p:cNvPr id="111" name="r111"/>
          <p:cNvSpPr/>
          <p:nvPr/>
        </p:nvSpPr>
        <p:spPr>
          <a:xfrm>
            <a:off x="8192411" y="3056890"/>
            <a:ext cx="3683000" cy="1841500"/>
          </a:xfrm>
          <a:prstGeom prst="rect">
            <a:avLst/>
          </a:prstGeom>
          <a:solidFill>
            <a:srgbClr val="F7F1EC"/>
          </a:solidFill>
          <a:ln w="16510">
            <a:solidFill>
              <a:srgbClr val="935739"/>
            </a:solidFill>
          </a:ln>
        </p:spPr>
        <p:txBody>
          <a:bodyPr wrap="square" anchor="ctr"/>
          <a:lstStyle/>
          <a:p>
            <a:endParaRPr lang="en-US" dirty="0"/>
          </a:p>
        </p:txBody>
      </p:sp>
      <p:sp>
        <p:nvSpPr>
          <p:cNvPr id="112" name="t112"/>
          <p:cNvSpPr txBox="1"/>
          <p:nvPr/>
        </p:nvSpPr>
        <p:spPr>
          <a:xfrm>
            <a:off x="8166100" y="3533140"/>
            <a:ext cx="762000" cy="889000"/>
          </a:xfrm>
          <a:prstGeom prst="rect">
            <a:avLst/>
          </a:prstGeom>
          <a:noFill/>
          <a:ln>
            <a:noFill/>
          </a:ln>
        </p:spPr>
        <p:txBody>
          <a:bodyPr wrap="square" lIns="76200" tIns="38100" rIns="76200" bIns="38100" anchor="ctr"/>
          <a:lstStyle/>
          <a:p>
            <a:pPr algn="ctr">
              <a:buNone/>
            </a:pPr>
            <a:r>
              <a:rPr lang="en-US" sz="4400" b="1" dirty="0">
                <a:solidFill>
                  <a:srgbClr val="935739"/>
                </a:solidFill>
                <a:latin typeface="Arial"/>
              </a:rPr>
              <a:t>4</a:t>
            </a:r>
          </a:p>
        </p:txBody>
      </p:sp>
      <p:sp>
        <p:nvSpPr>
          <p:cNvPr id="113" name="t113"/>
          <p:cNvSpPr txBox="1"/>
          <p:nvPr/>
        </p:nvSpPr>
        <p:spPr>
          <a:xfrm>
            <a:off x="8954411" y="3303270"/>
            <a:ext cx="2476500" cy="415052"/>
          </a:xfrm>
          <a:prstGeom prst="rect">
            <a:avLst/>
          </a:prstGeom>
          <a:noFill/>
          <a:ln>
            <a:noFill/>
          </a:ln>
        </p:spPr>
        <p:txBody>
          <a:bodyPr wrap="square" lIns="76200" tIns="38100" rIns="76200" bIns="38100" anchor="ctr"/>
          <a:lstStyle/>
          <a:p>
            <a:r>
              <a:rPr lang="en-US" b="1" dirty="0"/>
              <a:t>Training-mode interface</a:t>
            </a:r>
            <a:endParaRPr b="1" dirty="0"/>
          </a:p>
        </p:txBody>
      </p:sp>
      <p:sp>
        <p:nvSpPr>
          <p:cNvPr id="120" name="r120"/>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21" name="t121"/>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strong partial validation of a low-cost, pose-guided BLM system.</a:t>
            </a:r>
          </a:p>
        </p:txBody>
      </p:sp>
      <p:sp>
        <p:nvSpPr>
          <p:cNvPr id="125" name="Rectangle 124"/>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6" name="Rectangle 125"/>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14</a:t>
            </a:r>
          </a:p>
        </p:txBody>
      </p:sp>
      <p:sp>
        <p:nvSpPr>
          <p:cNvPr id="3" name="r100">
            <a:extLst>
              <a:ext uri="{FF2B5EF4-FFF2-40B4-BE49-F238E27FC236}">
                <a16:creationId xmlns:a16="http://schemas.microsoft.com/office/drawing/2014/main" id="{7C1B5ED0-3FCA-E1E4-78C7-B8219B83295C}"/>
              </a:ext>
            </a:extLst>
          </p:cNvPr>
          <p:cNvSpPr/>
          <p:nvPr/>
        </p:nvSpPr>
        <p:spPr>
          <a:xfrm>
            <a:off x="586740" y="1499478"/>
            <a:ext cx="4772026" cy="74444"/>
          </a:xfrm>
          <a:prstGeom prst="rect">
            <a:avLst/>
          </a:prstGeom>
          <a:solidFill>
            <a:srgbClr val="935739"/>
          </a:solidFill>
          <a:ln>
            <a:noFill/>
          </a:ln>
        </p:spPr>
        <p:txBody>
          <a:bodyPr wrap="square" anchor="ctr"/>
          <a:lstStyle/>
          <a:p>
            <a:endParaRPr lang="en-US"/>
          </a:p>
        </p:txBody>
      </p:sp>
      <p:sp>
        <p:nvSpPr>
          <p:cNvPr id="4" name="TextBox 3">
            <a:extLst>
              <a:ext uri="{FF2B5EF4-FFF2-40B4-BE49-F238E27FC236}">
                <a16:creationId xmlns:a16="http://schemas.microsoft.com/office/drawing/2014/main" id="{97B770CF-2077-F366-C900-DFF47FB073B5}"/>
              </a:ext>
            </a:extLst>
          </p:cNvPr>
          <p:cNvSpPr txBox="1"/>
          <p:nvPr/>
        </p:nvSpPr>
        <p:spPr>
          <a:xfrm>
            <a:off x="1562818" y="3993257"/>
            <a:ext cx="1794151" cy="646331"/>
          </a:xfrm>
          <a:prstGeom prst="rect">
            <a:avLst/>
          </a:prstGeom>
          <a:noFill/>
        </p:spPr>
        <p:txBody>
          <a:bodyPr wrap="square" rtlCol="0">
            <a:spAutoFit/>
          </a:bodyPr>
          <a:lstStyle/>
          <a:p>
            <a:pPr algn="ctr"/>
            <a:r>
              <a:rPr lang="en-US" dirty="0"/>
              <a:t>BLM aims from live 3D joints</a:t>
            </a:r>
            <a:endParaRPr lang="ru-RU" dirty="0"/>
          </a:p>
        </p:txBody>
      </p:sp>
      <p:sp>
        <p:nvSpPr>
          <p:cNvPr id="5" name="TextBox 4">
            <a:extLst>
              <a:ext uri="{FF2B5EF4-FFF2-40B4-BE49-F238E27FC236}">
                <a16:creationId xmlns:a16="http://schemas.microsoft.com/office/drawing/2014/main" id="{95D36262-369C-78F9-C328-16BBC37B7C64}"/>
              </a:ext>
            </a:extLst>
          </p:cNvPr>
          <p:cNvSpPr txBox="1"/>
          <p:nvPr/>
        </p:nvSpPr>
        <p:spPr>
          <a:xfrm>
            <a:off x="5571837" y="2819975"/>
            <a:ext cx="1492823" cy="923330"/>
          </a:xfrm>
          <a:prstGeom prst="rect">
            <a:avLst/>
          </a:prstGeom>
          <a:noFill/>
        </p:spPr>
        <p:txBody>
          <a:bodyPr wrap="square" rtlCol="0">
            <a:spAutoFit/>
          </a:bodyPr>
          <a:lstStyle/>
          <a:p>
            <a:pPr algn="ctr"/>
            <a:r>
              <a:rPr lang="es-ES" dirty="0"/>
              <a:t>4 USB cameras, ≈USD 200</a:t>
            </a:r>
            <a:endParaRPr lang="ru-RU" dirty="0"/>
          </a:p>
        </p:txBody>
      </p:sp>
      <p:sp>
        <p:nvSpPr>
          <p:cNvPr id="7" name="TextBox 6">
            <a:extLst>
              <a:ext uri="{FF2B5EF4-FFF2-40B4-BE49-F238E27FC236}">
                <a16:creationId xmlns:a16="http://schemas.microsoft.com/office/drawing/2014/main" id="{4319D42B-01A1-0624-BCF0-5BD08409ED02}"/>
              </a:ext>
            </a:extLst>
          </p:cNvPr>
          <p:cNvSpPr txBox="1"/>
          <p:nvPr/>
        </p:nvSpPr>
        <p:spPr>
          <a:xfrm>
            <a:off x="5207513" y="4453473"/>
            <a:ext cx="2466338" cy="369332"/>
          </a:xfrm>
          <a:prstGeom prst="rect">
            <a:avLst/>
          </a:prstGeom>
          <a:noFill/>
        </p:spPr>
        <p:txBody>
          <a:bodyPr wrap="square">
            <a:spAutoFit/>
          </a:bodyPr>
          <a:lstStyle/>
          <a:p>
            <a:r>
              <a:rPr lang="en-US" b="1" dirty="0"/>
              <a:t>Safety-gated integration</a:t>
            </a:r>
            <a:endParaRPr lang="ru-RU" b="1" dirty="0"/>
          </a:p>
        </p:txBody>
      </p:sp>
      <p:sp>
        <p:nvSpPr>
          <p:cNvPr id="8" name="TextBox 7">
            <a:extLst>
              <a:ext uri="{FF2B5EF4-FFF2-40B4-BE49-F238E27FC236}">
                <a16:creationId xmlns:a16="http://schemas.microsoft.com/office/drawing/2014/main" id="{FBE2850A-2A8E-CA40-7175-2F8DCA39D0C4}"/>
              </a:ext>
            </a:extLst>
          </p:cNvPr>
          <p:cNvSpPr txBox="1"/>
          <p:nvPr/>
        </p:nvSpPr>
        <p:spPr>
          <a:xfrm>
            <a:off x="9181074" y="3857912"/>
            <a:ext cx="2023173" cy="646331"/>
          </a:xfrm>
          <a:prstGeom prst="rect">
            <a:avLst/>
          </a:prstGeom>
          <a:noFill/>
        </p:spPr>
        <p:txBody>
          <a:bodyPr wrap="square" rtlCol="0">
            <a:spAutoFit/>
          </a:bodyPr>
          <a:lstStyle/>
          <a:p>
            <a:pPr algn="ctr"/>
            <a:r>
              <a:rPr lang="en-US" dirty="0"/>
              <a:t>Voice commands behind safety gates</a:t>
            </a:r>
            <a:endParaRPr lang="ru-RU" dirty="0"/>
          </a:p>
        </p:txBody>
      </p:sp>
    </p:spTree>
    <p:extLst>
      <p:ext uri="{BB962C8B-B14F-4D97-AF65-F5344CB8AC3E}">
        <p14:creationId xmlns:p14="http://schemas.microsoft.com/office/powerpoint/2010/main" val="2467844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9BBA95-0B93-5D7B-EBD9-2C461300CA2F}"/>
              </a:ext>
            </a:extLst>
          </p:cNvPr>
          <p:cNvSpPr>
            <a:spLocks noGrp="1"/>
          </p:cNvSpPr>
          <p:nvPr>
            <p:ph type="title"/>
          </p:nvPr>
        </p:nvSpPr>
        <p:spPr>
          <a:xfrm>
            <a:off x="507999" y="952500"/>
            <a:ext cx="11176000" cy="711200"/>
          </a:xfrm>
        </p:spPr>
        <p:txBody>
          <a:bodyPr wrap="square" lIns="76200" tIns="38100" rIns="76200" bIns="38100" anchor="ctr"/>
          <a:lstStyle/>
          <a:p>
            <a:pPr algn="l">
              <a:buNone/>
            </a:pPr>
            <a:r>
              <a:rPr lang="en-US" sz="3200" b="1" dirty="0">
                <a:solidFill>
                  <a:srgbClr val="1F1F1F"/>
                </a:solidFill>
                <a:latin typeface="Calibri"/>
              </a:rPr>
              <a:t>Future Work + Ethics &amp; Standards</a:t>
            </a:r>
          </a:p>
        </p:txBody>
      </p:sp>
      <p:sp>
        <p:nvSpPr>
          <p:cNvPr id="101" name="t101"/>
          <p:cNvSpPr txBox="1"/>
          <p:nvPr/>
        </p:nvSpPr>
        <p:spPr>
          <a:xfrm>
            <a:off x="507999" y="1651000"/>
            <a:ext cx="11176000" cy="457200"/>
          </a:xfrm>
          <a:prstGeom prst="rect">
            <a:avLst/>
          </a:prstGeom>
          <a:noFill/>
          <a:ln>
            <a:noFill/>
          </a:ln>
        </p:spPr>
        <p:txBody>
          <a:bodyPr wrap="square" lIns="76200" tIns="38100" rIns="76200" bIns="38100" anchor="ctr"/>
          <a:lstStyle/>
          <a:p>
            <a:r>
              <a:rPr lang="en-US" b="1" dirty="0"/>
              <a:t>Next milestone:</a:t>
            </a:r>
            <a:r>
              <a:rPr lang="en-US" dirty="0"/>
              <a:t> moving-target closed-loop firing with calibrated RPM-to-velocity mapping.</a:t>
            </a:r>
            <a:endParaRPr dirty="0"/>
          </a:p>
        </p:txBody>
      </p:sp>
      <p:sp>
        <p:nvSpPr>
          <p:cNvPr id="102" name="t102"/>
          <p:cNvSpPr txBox="1"/>
          <p:nvPr/>
        </p:nvSpPr>
        <p:spPr>
          <a:xfrm>
            <a:off x="507999" y="2146300"/>
            <a:ext cx="5588000" cy="381000"/>
          </a:xfrm>
          <a:prstGeom prst="rect">
            <a:avLst/>
          </a:prstGeom>
          <a:noFill/>
          <a:ln>
            <a:noFill/>
          </a:ln>
        </p:spPr>
        <p:txBody>
          <a:bodyPr wrap="square" lIns="76200" tIns="38100" rIns="76200" bIns="38100" anchor="ctr"/>
          <a:lstStyle/>
          <a:p>
            <a:pPr algn="l">
              <a:buNone/>
            </a:pPr>
            <a:r>
              <a:rPr lang="en-US" sz="2000" b="1" dirty="0">
                <a:solidFill>
                  <a:srgbClr val="935739"/>
                </a:solidFill>
                <a:latin typeface="Arial"/>
              </a:rPr>
              <a:t>Future roadmap</a:t>
            </a:r>
          </a:p>
        </p:txBody>
      </p:sp>
      <p:sp>
        <p:nvSpPr>
          <p:cNvPr id="104" name="t104"/>
          <p:cNvSpPr txBox="1"/>
          <p:nvPr/>
        </p:nvSpPr>
        <p:spPr>
          <a:xfrm>
            <a:off x="6350000" y="2095500"/>
            <a:ext cx="5334000" cy="381000"/>
          </a:xfrm>
          <a:prstGeom prst="rect">
            <a:avLst/>
          </a:prstGeom>
          <a:noFill/>
          <a:ln>
            <a:noFill/>
          </a:ln>
        </p:spPr>
        <p:txBody>
          <a:bodyPr wrap="square" lIns="76200" tIns="38100" rIns="76200" bIns="38100" anchor="ctr"/>
          <a:lstStyle/>
          <a:p>
            <a:r>
              <a:rPr lang="en-US" sz="2000" b="1" dirty="0">
                <a:solidFill>
                  <a:srgbClr val="935739"/>
                </a:solidFill>
              </a:rPr>
              <a:t>Safety &amp; Ethics</a:t>
            </a:r>
            <a:endParaRPr lang="en-US" sz="2000" dirty="0">
              <a:solidFill>
                <a:srgbClr val="935739"/>
              </a:solidFill>
            </a:endParaRPr>
          </a:p>
        </p:txBody>
      </p:sp>
      <p:sp>
        <p:nvSpPr>
          <p:cNvPr id="105" name="r105"/>
          <p:cNvSpPr/>
          <p:nvPr/>
        </p:nvSpPr>
        <p:spPr>
          <a:xfrm>
            <a:off x="6350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6" name="t106"/>
          <p:cNvSpPr txBox="1"/>
          <p:nvPr/>
        </p:nvSpPr>
        <p:spPr>
          <a:xfrm>
            <a:off x="6502400" y="2692400"/>
            <a:ext cx="2235200" cy="508000"/>
          </a:xfrm>
          <a:prstGeom prst="rect">
            <a:avLst/>
          </a:prstGeom>
          <a:noFill/>
          <a:ln>
            <a:noFill/>
          </a:ln>
        </p:spPr>
        <p:txBody>
          <a:bodyPr wrap="square" lIns="76200" tIns="38100" rIns="76200" bIns="38100" anchor="ctr"/>
          <a:lstStyle/>
          <a:p>
            <a:pPr algn="l">
              <a:buNone/>
            </a:pPr>
            <a:r>
              <a:rPr lang="en-US" sz="1800" b="1" dirty="0">
                <a:latin typeface="Arial"/>
              </a:rPr>
              <a:t>ISO 12100</a:t>
            </a:r>
          </a:p>
        </p:txBody>
      </p:sp>
      <p:sp>
        <p:nvSpPr>
          <p:cNvPr id="107" name="t107"/>
          <p:cNvSpPr txBox="1"/>
          <p:nvPr/>
        </p:nvSpPr>
        <p:spPr>
          <a:xfrm>
            <a:off x="6502400" y="3403599"/>
            <a:ext cx="2235200" cy="457201"/>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Machinery safety — risk assessment</a:t>
            </a:r>
          </a:p>
        </p:txBody>
      </p:sp>
      <p:sp>
        <p:nvSpPr>
          <p:cNvPr id="108" name="r108"/>
          <p:cNvSpPr/>
          <p:nvPr/>
        </p:nvSpPr>
        <p:spPr>
          <a:xfrm>
            <a:off x="9017000" y="25400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09" name="t109"/>
          <p:cNvSpPr txBox="1"/>
          <p:nvPr/>
        </p:nvSpPr>
        <p:spPr>
          <a:xfrm>
            <a:off x="9169400" y="2692400"/>
            <a:ext cx="2235200" cy="508000"/>
          </a:xfrm>
          <a:prstGeom prst="rect">
            <a:avLst/>
          </a:prstGeom>
          <a:noFill/>
          <a:ln>
            <a:noFill/>
          </a:ln>
        </p:spPr>
        <p:txBody>
          <a:bodyPr wrap="square" lIns="76200" tIns="38100" rIns="76200" bIns="38100" anchor="ctr"/>
          <a:lstStyle/>
          <a:p>
            <a:pPr algn="l">
              <a:buNone/>
            </a:pPr>
            <a:r>
              <a:rPr lang="en-US" sz="1800" b="1" dirty="0">
                <a:latin typeface="Arial"/>
              </a:rPr>
              <a:t>ISO 13849-1</a:t>
            </a:r>
          </a:p>
        </p:txBody>
      </p:sp>
      <p:sp>
        <p:nvSpPr>
          <p:cNvPr id="110" name="t110"/>
          <p:cNvSpPr txBox="1"/>
          <p:nvPr/>
        </p:nvSpPr>
        <p:spPr>
          <a:xfrm>
            <a:off x="9156700" y="3302000"/>
            <a:ext cx="2235200" cy="4318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Safety-related control</a:t>
            </a:r>
          </a:p>
        </p:txBody>
      </p:sp>
      <p:sp>
        <p:nvSpPr>
          <p:cNvPr id="111" name="r111"/>
          <p:cNvSpPr/>
          <p:nvPr/>
        </p:nvSpPr>
        <p:spPr>
          <a:xfrm>
            <a:off x="6350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2" name="t112"/>
          <p:cNvSpPr txBox="1"/>
          <p:nvPr/>
        </p:nvSpPr>
        <p:spPr>
          <a:xfrm>
            <a:off x="6502400" y="4445000"/>
            <a:ext cx="2235200" cy="508000"/>
          </a:xfrm>
          <a:prstGeom prst="rect">
            <a:avLst/>
          </a:prstGeom>
          <a:noFill/>
          <a:ln>
            <a:noFill/>
          </a:ln>
        </p:spPr>
        <p:txBody>
          <a:bodyPr wrap="square" lIns="76200" tIns="38100" rIns="76200" bIns="38100" anchor="ctr"/>
          <a:lstStyle/>
          <a:p>
            <a:pPr algn="l">
              <a:buNone/>
            </a:pPr>
            <a:r>
              <a:rPr lang="en-US" sz="1800" b="1" dirty="0">
                <a:latin typeface="Arial"/>
              </a:rPr>
              <a:t>IEC 60204-1</a:t>
            </a:r>
          </a:p>
        </p:txBody>
      </p:sp>
      <p:sp>
        <p:nvSpPr>
          <p:cNvPr id="113" name="t113"/>
          <p:cNvSpPr txBox="1"/>
          <p:nvPr/>
        </p:nvSpPr>
        <p:spPr>
          <a:xfrm>
            <a:off x="6502400" y="5080000"/>
            <a:ext cx="2235200" cy="4318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Wiring, fusing, E-STOP</a:t>
            </a:r>
          </a:p>
        </p:txBody>
      </p:sp>
      <p:sp>
        <p:nvSpPr>
          <p:cNvPr id="114" name="r114"/>
          <p:cNvSpPr/>
          <p:nvPr/>
        </p:nvSpPr>
        <p:spPr>
          <a:xfrm>
            <a:off x="9017000" y="4292600"/>
            <a:ext cx="2540000" cy="1625600"/>
          </a:xfrm>
          <a:prstGeom prst="rect">
            <a:avLst/>
          </a:prstGeom>
          <a:solidFill>
            <a:srgbClr val="F7F1EC"/>
          </a:solidFill>
          <a:ln w="15240">
            <a:solidFill>
              <a:srgbClr val="935739"/>
            </a:solidFill>
          </a:ln>
        </p:spPr>
        <p:txBody>
          <a:bodyPr wrap="square" anchor="ctr"/>
          <a:lstStyle/>
          <a:p>
            <a:endParaRPr lang="en-US"/>
          </a:p>
        </p:txBody>
      </p:sp>
      <p:sp>
        <p:nvSpPr>
          <p:cNvPr id="115" name="t115"/>
          <p:cNvSpPr txBox="1"/>
          <p:nvPr/>
        </p:nvSpPr>
        <p:spPr>
          <a:xfrm>
            <a:off x="9169400" y="4445000"/>
            <a:ext cx="2235200" cy="508000"/>
          </a:xfrm>
          <a:prstGeom prst="rect">
            <a:avLst/>
          </a:prstGeom>
          <a:noFill/>
          <a:ln>
            <a:noFill/>
          </a:ln>
        </p:spPr>
        <p:txBody>
          <a:bodyPr wrap="square" lIns="76200" tIns="38100" rIns="76200" bIns="38100" anchor="ctr"/>
          <a:lstStyle/>
          <a:p>
            <a:pPr algn="l">
              <a:buNone/>
            </a:pPr>
            <a:r>
              <a:rPr lang="en-US" sz="1800" b="1" dirty="0">
                <a:latin typeface="Arial"/>
              </a:rPr>
              <a:t>ISO 10218-1</a:t>
            </a:r>
          </a:p>
        </p:txBody>
      </p:sp>
      <p:sp>
        <p:nvSpPr>
          <p:cNvPr id="116" name="t116"/>
          <p:cNvSpPr txBox="1"/>
          <p:nvPr/>
        </p:nvSpPr>
        <p:spPr>
          <a:xfrm>
            <a:off x="9169400" y="5161280"/>
            <a:ext cx="2235200" cy="4318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Human exclusion during operation</a:t>
            </a:r>
          </a:p>
        </p:txBody>
      </p:sp>
      <p:sp>
        <p:nvSpPr>
          <p:cNvPr id="117" name="t117"/>
          <p:cNvSpPr txBox="1"/>
          <p:nvPr/>
        </p:nvSpPr>
        <p:spPr>
          <a:xfrm>
            <a:off x="508000" y="5842000"/>
            <a:ext cx="5588000" cy="457200"/>
          </a:xfrm>
          <a:prstGeom prst="rect">
            <a:avLst/>
          </a:prstGeom>
          <a:noFill/>
          <a:ln>
            <a:noFill/>
          </a:ln>
        </p:spPr>
        <p:txBody>
          <a:bodyPr wrap="square" lIns="76200" tIns="38100" rIns="76200" bIns="38100" anchor="ctr"/>
          <a:lstStyle/>
          <a:p>
            <a:r>
              <a:rPr b="1" dirty="0"/>
              <a:t>Applicability</a:t>
            </a:r>
            <a:r>
              <a:rPr dirty="0"/>
              <a:t>: sports training, rehabilitation, and adaptive PE instruction.</a:t>
            </a:r>
          </a:p>
        </p:txBody>
      </p:sp>
      <p:sp>
        <p:nvSpPr>
          <p:cNvPr id="118" name="r11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19" name="t11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Takeaway: future work closes the moving-target loop while preserving safety, traceability, and ethical deployment.</a:t>
            </a:r>
          </a:p>
        </p:txBody>
      </p:sp>
      <p:sp>
        <p:nvSpPr>
          <p:cNvPr id="123" name="Rectangle 12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24" name="Rectangle 123"/>
          <p:cNvSpPr/>
          <p:nvPr/>
        </p:nvSpPr>
        <p:spPr>
          <a:xfrm>
            <a:off x="11277600" y="6583680"/>
            <a:ext cx="5486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defRPr sz="1200">
                <a:solidFill>
                  <a:srgbClr val="8A8A8A"/>
                </a:solidFill>
                <a:latin typeface="Calibri"/>
              </a:defRPr>
            </a:pPr>
            <a:r>
              <a:t>15</a:t>
            </a:r>
          </a:p>
        </p:txBody>
      </p:sp>
      <p:sp>
        <p:nvSpPr>
          <p:cNvPr id="3" name="r100">
            <a:extLst>
              <a:ext uri="{FF2B5EF4-FFF2-40B4-BE49-F238E27FC236}">
                <a16:creationId xmlns:a16="http://schemas.microsoft.com/office/drawing/2014/main" id="{3633B827-6659-0835-A46F-46FE8F883854}"/>
              </a:ext>
            </a:extLst>
          </p:cNvPr>
          <p:cNvSpPr/>
          <p:nvPr/>
        </p:nvSpPr>
        <p:spPr>
          <a:xfrm>
            <a:off x="507999" y="1544806"/>
            <a:ext cx="5721351" cy="74444"/>
          </a:xfrm>
          <a:prstGeom prst="rect">
            <a:avLst/>
          </a:prstGeom>
          <a:solidFill>
            <a:srgbClr val="935739"/>
          </a:solidFill>
          <a:ln>
            <a:noFill/>
          </a:ln>
        </p:spPr>
        <p:txBody>
          <a:bodyPr wrap="square" anchor="ctr"/>
          <a:lstStyle/>
          <a:p>
            <a:endParaRPr lang="en-US"/>
          </a:p>
        </p:txBody>
      </p:sp>
      <p:graphicFrame>
        <p:nvGraphicFramePr>
          <p:cNvPr id="126" name="t103">
            <a:extLst>
              <a:ext uri="{FF2B5EF4-FFF2-40B4-BE49-F238E27FC236}">
                <a16:creationId xmlns:a16="http://schemas.microsoft.com/office/drawing/2014/main" id="{CBF9D725-6ABE-C6ED-168B-90DDCA135758}"/>
              </a:ext>
            </a:extLst>
          </p:cNvPr>
          <p:cNvGraphicFramePr/>
          <p:nvPr>
            <p:extLst>
              <p:ext uri="{D42A27DB-BD31-4B8C-83A1-F6EECF244321}">
                <p14:modId xmlns:p14="http://schemas.microsoft.com/office/powerpoint/2010/main" val="1488802586"/>
              </p:ext>
            </p:extLst>
          </p:nvPr>
        </p:nvGraphicFramePr>
        <p:xfrm>
          <a:off x="574674" y="2586990"/>
          <a:ext cx="5588000" cy="3175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00161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CC71AE8-1E3B-6626-4456-A7CE47DF69C4}"/>
              </a:ext>
            </a:extLst>
          </p:cNvPr>
          <p:cNvSpPr>
            <a:spLocks noGrp="1"/>
          </p:cNvSpPr>
          <p:nvPr>
            <p:ph type="title"/>
          </p:nvPr>
        </p:nvSpPr>
        <p:spPr>
          <a:xfrm>
            <a:off x="507999" y="886460"/>
            <a:ext cx="11176000" cy="711200"/>
          </a:xfrm>
        </p:spPr>
        <p:txBody>
          <a:bodyPr wrap="square" lIns="76200" tIns="38100" rIns="76200" bIns="38100" anchor="ctr"/>
          <a:lstStyle/>
          <a:p>
            <a:pPr algn="l">
              <a:buNone/>
            </a:pPr>
            <a:r>
              <a:rPr lang="en-US" sz="3200" b="1" dirty="0">
                <a:solidFill>
                  <a:srgbClr val="1F1F1F"/>
                </a:solidFill>
                <a:latin typeface="Calibri"/>
              </a:rPr>
              <a:t>A1 · Live Demo</a:t>
            </a:r>
          </a:p>
        </p:txBody>
      </p:sp>
      <p:sp>
        <p:nvSpPr>
          <p:cNvPr id="101" name="t101"/>
          <p:cNvSpPr txBox="1"/>
          <p:nvPr/>
        </p:nvSpPr>
        <p:spPr>
          <a:xfrm>
            <a:off x="508000" y="153887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Arena 3D tracking, trimmed to 20–30 s.</a:t>
            </a:r>
          </a:p>
        </p:txBody>
      </p:sp>
      <p:sp>
        <p:nvSpPr>
          <p:cNvPr id="102" name="r102"/>
          <p:cNvSpPr/>
          <p:nvPr/>
        </p:nvSpPr>
        <p:spPr>
          <a:xfrm>
            <a:off x="1524000" y="2032000"/>
            <a:ext cx="9144000" cy="3937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1651000" y="2159000"/>
            <a:ext cx="8890000" cy="3683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[PLACEHOLDER_VIDEO_1: arena3d_20260417_123348.mp4 — Parallel_working/output/recordings/arena3d_20260417_123348.mp4; trim to 20–30 s; mute audio]</a:t>
            </a:r>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Unhide only if the panel asks for a demo or a buffer opens.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22AB804E-A9CD-797D-41E1-B526FE79EDD8}"/>
              </a:ext>
            </a:extLst>
          </p:cNvPr>
          <p:cNvSpPr/>
          <p:nvPr/>
        </p:nvSpPr>
        <p:spPr>
          <a:xfrm>
            <a:off x="507998" y="1428496"/>
            <a:ext cx="2595247"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1544443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4"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5BDCB89-ABBB-8B2D-BE51-F19EF40035CA}"/>
              </a:ext>
            </a:extLst>
          </p:cNvPr>
          <p:cNvSpPr>
            <a:spLocks noGrp="1"/>
          </p:cNvSpPr>
          <p:nvPr>
            <p:ph type="title"/>
          </p:nvPr>
        </p:nvSpPr>
        <p:spPr>
          <a:xfrm>
            <a:off x="508000" y="916940"/>
            <a:ext cx="11176000" cy="711200"/>
          </a:xfrm>
        </p:spPr>
        <p:txBody>
          <a:bodyPr wrap="square" lIns="76200" tIns="38100" rIns="76200" bIns="38100" anchor="ctr"/>
          <a:lstStyle/>
          <a:p>
            <a:pPr algn="l">
              <a:buNone/>
            </a:pPr>
            <a:r>
              <a:rPr lang="en-US" sz="3200" b="1" dirty="0">
                <a:solidFill>
                  <a:srgbClr val="1F1F1F"/>
                </a:solidFill>
                <a:latin typeface="Calibri"/>
              </a:rPr>
              <a:t>A2 · 10-Layer Safety Stack</a:t>
            </a:r>
          </a:p>
        </p:txBody>
      </p:sp>
      <p:sp>
        <p:nvSpPr>
          <p:cNvPr id="101" name="t101"/>
          <p:cNvSpPr txBox="1"/>
          <p:nvPr/>
        </p:nvSpPr>
        <p:spPr>
          <a:xfrm>
            <a:off x="457200" y="1588770"/>
            <a:ext cx="11943080" cy="468630"/>
          </a:xfrm>
          <a:prstGeom prst="rect">
            <a:avLst/>
          </a:prstGeom>
          <a:noFill/>
          <a:ln>
            <a:noFill/>
          </a:ln>
        </p:spPr>
        <p:txBody>
          <a:bodyPr wrap="square" lIns="76200" tIns="38100" rIns="76200" bIns="38100" anchor="ctr"/>
          <a:lstStyle/>
          <a:p>
            <a:pPr algn="l">
              <a:buNone/>
            </a:pPr>
            <a:r>
              <a:rPr lang="en-US" sz="1100" b="1" dirty="0">
                <a:solidFill>
                  <a:srgbClr val="2A231F"/>
                </a:solidFill>
                <a:latin typeface="Arial"/>
              </a:rPr>
              <a:t>OPERATOR (human authority, top) → SOFTWARE GATES (L1-L6: zone, confidence, stability, angle clamps, RPM clamps) → HARDWARE INTERLOCKS (L7-L10: firmware RPM gate, arm+confirm, NC E-STOP, link-loss watchdog, exception shutdown). Each layer is independently sufficient to prevent unsafe actuation.</a:t>
            </a:r>
          </a:p>
        </p:txBody>
      </p:sp>
      <p:sp>
        <p:nvSpPr>
          <p:cNvPr id="102" name="r102"/>
          <p:cNvSpPr/>
          <p:nvPr/>
        </p:nvSpPr>
        <p:spPr>
          <a:xfrm>
            <a:off x="508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r103"/>
          <p:cNvSpPr/>
          <p:nvPr/>
        </p:nvSpPr>
        <p:spPr>
          <a:xfrm>
            <a:off x="1016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4" name="t104"/>
          <p:cNvSpPr txBox="1"/>
          <p:nvPr/>
        </p:nvSpPr>
        <p:spPr>
          <a:xfrm>
            <a:off x="508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a:t>
            </a:r>
          </a:p>
        </p:txBody>
      </p:sp>
      <p:sp>
        <p:nvSpPr>
          <p:cNvPr id="105" name="t105"/>
          <p:cNvSpPr txBox="1"/>
          <p:nvPr/>
        </p:nvSpPr>
        <p:spPr>
          <a:xfrm>
            <a:off x="1143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Zone gate — reject targets outside safe arena</a:t>
            </a:r>
          </a:p>
        </p:txBody>
      </p:sp>
      <p:sp>
        <p:nvSpPr>
          <p:cNvPr id="106" name="r106"/>
          <p:cNvSpPr/>
          <p:nvPr/>
        </p:nvSpPr>
        <p:spPr>
          <a:xfrm>
            <a:off x="508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r107"/>
          <p:cNvSpPr/>
          <p:nvPr/>
        </p:nvSpPr>
        <p:spPr>
          <a:xfrm>
            <a:off x="1016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08" name="t108"/>
          <p:cNvSpPr txBox="1"/>
          <p:nvPr/>
        </p:nvSpPr>
        <p:spPr>
          <a:xfrm>
            <a:off x="508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L2</a:t>
            </a:r>
          </a:p>
        </p:txBody>
      </p:sp>
      <p:sp>
        <p:nvSpPr>
          <p:cNvPr id="109" name="t109"/>
          <p:cNvSpPr txBox="1"/>
          <p:nvPr/>
        </p:nvSpPr>
        <p:spPr>
          <a:xfrm>
            <a:off x="1143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Confidence gate — per-joint + ball detection score</a:t>
            </a:r>
          </a:p>
        </p:txBody>
      </p:sp>
      <p:sp>
        <p:nvSpPr>
          <p:cNvPr id="110" name="r110"/>
          <p:cNvSpPr/>
          <p:nvPr/>
        </p:nvSpPr>
        <p:spPr>
          <a:xfrm>
            <a:off x="508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1" name="r111"/>
          <p:cNvSpPr/>
          <p:nvPr/>
        </p:nvSpPr>
        <p:spPr>
          <a:xfrm>
            <a:off x="1016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2" name="t112"/>
          <p:cNvSpPr txBox="1"/>
          <p:nvPr/>
        </p:nvSpPr>
        <p:spPr>
          <a:xfrm>
            <a:off x="508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L3</a:t>
            </a:r>
          </a:p>
        </p:txBody>
      </p:sp>
      <p:sp>
        <p:nvSpPr>
          <p:cNvPr id="113" name="t113"/>
          <p:cNvSpPr txBox="1"/>
          <p:nvPr/>
        </p:nvSpPr>
        <p:spPr>
          <a:xfrm>
            <a:off x="1143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Stability gate — multi-frame temporal filter</a:t>
            </a:r>
          </a:p>
        </p:txBody>
      </p:sp>
      <p:sp>
        <p:nvSpPr>
          <p:cNvPr id="114" name="r114"/>
          <p:cNvSpPr/>
          <p:nvPr/>
        </p:nvSpPr>
        <p:spPr>
          <a:xfrm>
            <a:off x="508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5" name="r115"/>
          <p:cNvSpPr/>
          <p:nvPr/>
        </p:nvSpPr>
        <p:spPr>
          <a:xfrm>
            <a:off x="1016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16" name="t116"/>
          <p:cNvSpPr txBox="1"/>
          <p:nvPr/>
        </p:nvSpPr>
        <p:spPr>
          <a:xfrm>
            <a:off x="508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L4</a:t>
            </a:r>
          </a:p>
        </p:txBody>
      </p:sp>
      <p:sp>
        <p:nvSpPr>
          <p:cNvPr id="117" name="t117"/>
          <p:cNvSpPr txBox="1"/>
          <p:nvPr/>
        </p:nvSpPr>
        <p:spPr>
          <a:xfrm>
            <a:off x="1143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(Python side)</a:t>
            </a:r>
          </a:p>
        </p:txBody>
      </p:sp>
      <p:sp>
        <p:nvSpPr>
          <p:cNvPr id="118" name="r118"/>
          <p:cNvSpPr/>
          <p:nvPr/>
        </p:nvSpPr>
        <p:spPr>
          <a:xfrm>
            <a:off x="508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19" name="r119"/>
          <p:cNvSpPr/>
          <p:nvPr/>
        </p:nvSpPr>
        <p:spPr>
          <a:xfrm>
            <a:off x="1016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0" name="t120"/>
          <p:cNvSpPr txBox="1"/>
          <p:nvPr/>
        </p:nvSpPr>
        <p:spPr>
          <a:xfrm>
            <a:off x="508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L5</a:t>
            </a:r>
          </a:p>
        </p:txBody>
      </p:sp>
      <p:sp>
        <p:nvSpPr>
          <p:cNvPr id="121" name="t121"/>
          <p:cNvSpPr txBox="1"/>
          <p:nvPr/>
        </p:nvSpPr>
        <p:spPr>
          <a:xfrm>
            <a:off x="1143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Angle clamp (firmware side)</a:t>
            </a:r>
          </a:p>
        </p:txBody>
      </p:sp>
      <p:sp>
        <p:nvSpPr>
          <p:cNvPr id="122" name="r122"/>
          <p:cNvSpPr/>
          <p:nvPr/>
        </p:nvSpPr>
        <p:spPr>
          <a:xfrm>
            <a:off x="6350000" y="20955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3" name="r123"/>
          <p:cNvSpPr/>
          <p:nvPr/>
        </p:nvSpPr>
        <p:spPr>
          <a:xfrm>
            <a:off x="6858000" y="20955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4" name="t124"/>
          <p:cNvSpPr txBox="1"/>
          <p:nvPr/>
        </p:nvSpPr>
        <p:spPr>
          <a:xfrm>
            <a:off x="6350000" y="20955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L6</a:t>
            </a:r>
          </a:p>
        </p:txBody>
      </p:sp>
      <p:sp>
        <p:nvSpPr>
          <p:cNvPr id="125" name="t125"/>
          <p:cNvSpPr txBox="1"/>
          <p:nvPr/>
        </p:nvSpPr>
        <p:spPr>
          <a:xfrm>
            <a:off x="6985000" y="20955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(Python side)</a:t>
            </a:r>
          </a:p>
        </p:txBody>
      </p:sp>
      <p:sp>
        <p:nvSpPr>
          <p:cNvPr id="126" name="r126"/>
          <p:cNvSpPr/>
          <p:nvPr/>
        </p:nvSpPr>
        <p:spPr>
          <a:xfrm>
            <a:off x="6350000" y="28321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27" name="r127"/>
          <p:cNvSpPr/>
          <p:nvPr/>
        </p:nvSpPr>
        <p:spPr>
          <a:xfrm>
            <a:off x="6858000" y="28321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28" name="t128"/>
          <p:cNvSpPr txBox="1"/>
          <p:nvPr/>
        </p:nvSpPr>
        <p:spPr>
          <a:xfrm>
            <a:off x="6350000" y="28321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L7</a:t>
            </a:r>
          </a:p>
        </p:txBody>
      </p:sp>
      <p:sp>
        <p:nvSpPr>
          <p:cNvPr id="129" name="t129"/>
          <p:cNvSpPr txBox="1"/>
          <p:nvPr/>
        </p:nvSpPr>
        <p:spPr>
          <a:xfrm>
            <a:off x="6985000" y="28321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RPM gate (firmware side)</a:t>
            </a:r>
          </a:p>
        </p:txBody>
      </p:sp>
      <p:sp>
        <p:nvSpPr>
          <p:cNvPr id="130" name="r130"/>
          <p:cNvSpPr/>
          <p:nvPr/>
        </p:nvSpPr>
        <p:spPr>
          <a:xfrm>
            <a:off x="6350000" y="35687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1" name="r131"/>
          <p:cNvSpPr/>
          <p:nvPr/>
        </p:nvSpPr>
        <p:spPr>
          <a:xfrm>
            <a:off x="6858000" y="35687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2" name="t132"/>
          <p:cNvSpPr txBox="1"/>
          <p:nvPr/>
        </p:nvSpPr>
        <p:spPr>
          <a:xfrm>
            <a:off x="6350000" y="35687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L8</a:t>
            </a:r>
          </a:p>
        </p:txBody>
      </p:sp>
      <p:sp>
        <p:nvSpPr>
          <p:cNvPr id="133" name="t133"/>
          <p:cNvSpPr txBox="1"/>
          <p:nvPr/>
        </p:nvSpPr>
        <p:spPr>
          <a:xfrm>
            <a:off x="6985000" y="35687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Arm state + typed confirmation</a:t>
            </a:r>
          </a:p>
        </p:txBody>
      </p:sp>
      <p:sp>
        <p:nvSpPr>
          <p:cNvPr id="134" name="r134"/>
          <p:cNvSpPr/>
          <p:nvPr/>
        </p:nvSpPr>
        <p:spPr>
          <a:xfrm>
            <a:off x="6350000" y="43053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5" name="r135"/>
          <p:cNvSpPr/>
          <p:nvPr/>
        </p:nvSpPr>
        <p:spPr>
          <a:xfrm>
            <a:off x="6858000" y="43053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36" name="t136"/>
          <p:cNvSpPr txBox="1"/>
          <p:nvPr/>
        </p:nvSpPr>
        <p:spPr>
          <a:xfrm>
            <a:off x="6350000" y="43053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L9</a:t>
            </a:r>
          </a:p>
        </p:txBody>
      </p:sp>
      <p:sp>
        <p:nvSpPr>
          <p:cNvPr id="137" name="t137"/>
          <p:cNvSpPr txBox="1"/>
          <p:nvPr/>
        </p:nvSpPr>
        <p:spPr>
          <a:xfrm>
            <a:off x="6985000" y="43053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Hardware E-STOP (NC) + link-loss watchdog</a:t>
            </a:r>
          </a:p>
        </p:txBody>
      </p:sp>
      <p:sp>
        <p:nvSpPr>
          <p:cNvPr id="138" name="r138"/>
          <p:cNvSpPr/>
          <p:nvPr/>
        </p:nvSpPr>
        <p:spPr>
          <a:xfrm>
            <a:off x="6350000" y="5041900"/>
            <a:ext cx="508000" cy="6604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39" name="r139"/>
          <p:cNvSpPr/>
          <p:nvPr/>
        </p:nvSpPr>
        <p:spPr>
          <a:xfrm>
            <a:off x="6858000" y="5041900"/>
            <a:ext cx="4826000" cy="660400"/>
          </a:xfrm>
          <a:prstGeom prst="rect">
            <a:avLst/>
          </a:prstGeom>
          <a:solidFill>
            <a:srgbClr val="F7F1EC"/>
          </a:solidFill>
          <a:ln w="15240">
            <a:solidFill>
              <a:srgbClr val="935739"/>
            </a:solidFill>
          </a:ln>
        </p:spPr>
        <p:txBody>
          <a:bodyPr wrap="square" lIns="76200" tIns="38100" rIns="76200" bIns="38100" anchor="ctr"/>
          <a:lstStyle/>
          <a:p>
            <a:endParaRPr lang="en-US"/>
          </a:p>
        </p:txBody>
      </p:sp>
      <p:sp>
        <p:nvSpPr>
          <p:cNvPr id="140" name="t140"/>
          <p:cNvSpPr txBox="1"/>
          <p:nvPr/>
        </p:nvSpPr>
        <p:spPr>
          <a:xfrm>
            <a:off x="6350000" y="5041900"/>
            <a:ext cx="508000" cy="660400"/>
          </a:xfrm>
          <a:prstGeom prst="rect">
            <a:avLst/>
          </a:prstGeom>
          <a:noFill/>
          <a:ln>
            <a:noFill/>
          </a:ln>
        </p:spPr>
        <p:txBody>
          <a:bodyPr wrap="square" lIns="76200" tIns="38100" rIns="76200" bIns="38100" anchor="ctr"/>
          <a:lstStyle/>
          <a:p>
            <a:pPr algn="ctr">
              <a:buNone/>
            </a:pPr>
            <a:r>
              <a:rPr lang="en-US" sz="1600" b="1" dirty="0">
                <a:solidFill>
                  <a:srgbClr val="FFFFFF"/>
                </a:solidFill>
                <a:latin typeface="Arial"/>
              </a:rPr>
              <a:t>L10</a:t>
            </a:r>
          </a:p>
        </p:txBody>
      </p:sp>
      <p:sp>
        <p:nvSpPr>
          <p:cNvPr id="141" name="t141"/>
          <p:cNvSpPr txBox="1"/>
          <p:nvPr/>
        </p:nvSpPr>
        <p:spPr>
          <a:xfrm>
            <a:off x="6985000" y="5041900"/>
            <a:ext cx="4572000" cy="6604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Python exception path — safe shutdown</a:t>
            </a:r>
          </a:p>
        </p:txBody>
      </p:sp>
      <p:sp>
        <p:nvSpPr>
          <p:cNvPr id="142" name="r142"/>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43" name="t143"/>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Key points: angle clamp and RPM gate each implemented TWICE (Python + firmware). NC E-STOP means broken wire = safe stop. Link-loss watchdog auto-safes on network drop.</a:t>
            </a:r>
          </a:p>
        </p:txBody>
      </p:sp>
      <p:sp>
        <p:nvSpPr>
          <p:cNvPr id="147" name="Rectangle 146"/>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8" name="Rectangle 147"/>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9" name="Rectangle 148"/>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rPr dirty="0"/>
              <a:t>[Hidden slide — unhide only if panel asks a relevant question]</a:t>
            </a:r>
          </a:p>
        </p:txBody>
      </p:sp>
      <p:sp>
        <p:nvSpPr>
          <p:cNvPr id="3" name="r100">
            <a:extLst>
              <a:ext uri="{FF2B5EF4-FFF2-40B4-BE49-F238E27FC236}">
                <a16:creationId xmlns:a16="http://schemas.microsoft.com/office/drawing/2014/main" id="{B3E265EE-9302-9C25-01CF-EE7318C6E940}"/>
              </a:ext>
            </a:extLst>
          </p:cNvPr>
          <p:cNvSpPr/>
          <p:nvPr/>
        </p:nvSpPr>
        <p:spPr>
          <a:xfrm>
            <a:off x="508000" y="1489710"/>
            <a:ext cx="4408805"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4069390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7"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6"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D7196EA-4C9F-8DE6-C2EA-FC25EFDDC416}"/>
              </a:ext>
            </a:extLst>
          </p:cNvPr>
          <p:cNvSpPr>
            <a:spLocks noGrp="1"/>
          </p:cNvSpPr>
          <p:nvPr>
            <p:ph type="title"/>
          </p:nvPr>
        </p:nvSpPr>
        <p:spPr>
          <a:xfrm>
            <a:off x="457200" y="901700"/>
            <a:ext cx="11176000" cy="711200"/>
          </a:xfrm>
        </p:spPr>
        <p:txBody>
          <a:bodyPr wrap="square" lIns="76200" tIns="38100" rIns="76200" bIns="38100" anchor="ctr"/>
          <a:lstStyle/>
          <a:p>
            <a:pPr algn="l">
              <a:buNone/>
            </a:pPr>
            <a:r>
              <a:rPr lang="en-US" sz="3200" b="1" dirty="0">
                <a:solidFill>
                  <a:srgbClr val="1F1F1F"/>
                </a:solidFill>
                <a:latin typeface="Calibri"/>
              </a:rPr>
              <a:t>A3 · End-to-End Latency Budget</a:t>
            </a:r>
          </a:p>
        </p:txBody>
      </p:sp>
      <p:sp>
        <p:nvSpPr>
          <p:cNvPr id="101" name="t101"/>
          <p:cNvSpPr txBox="1"/>
          <p:nvPr/>
        </p:nvSpPr>
        <p:spPr>
          <a:xfrm>
            <a:off x="457200" y="1585236"/>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Per-stage timings from the live run.</a:t>
            </a:r>
          </a:p>
        </p:txBody>
      </p:sp>
      <p:sp>
        <p:nvSpPr>
          <p:cNvPr id="102" name="r102"/>
          <p:cNvSpPr/>
          <p:nvPr/>
        </p:nvSpPr>
        <p:spPr>
          <a:xfrm>
            <a:off x="508000" y="2095500"/>
            <a:ext cx="11176000" cy="3810000"/>
          </a:xfrm>
          <a:prstGeom prst="rect">
            <a:avLst/>
          </a:prstGeom>
          <a:solidFill>
            <a:srgbClr val="F7F1EC"/>
          </a:solidFill>
          <a:ln w="15240">
            <a:solidFill>
              <a:srgbClr val="935739"/>
            </a:solidFill>
          </a:ln>
        </p:spPr>
        <p:txBody>
          <a:bodyPr wrap="square" anchor="ctr"/>
          <a:lstStyle/>
          <a:p>
            <a:endParaRPr lang="en-US"/>
          </a:p>
        </p:txBody>
      </p:sp>
      <p:sp>
        <p:nvSpPr>
          <p:cNvPr id="103" name="t103"/>
          <p:cNvSpPr txBox="1"/>
          <p:nvPr/>
        </p:nvSpPr>
        <p:spPr>
          <a:xfrm>
            <a:off x="635000" y="2222500"/>
            <a:ext cx="10922000" cy="3556000"/>
          </a:xfrm>
          <a:prstGeom prst="rect">
            <a:avLst/>
          </a:prstGeom>
          <a:noFill/>
          <a:ln>
            <a:noFill/>
          </a:ln>
        </p:spPr>
        <p:txBody>
          <a:bodyPr wrap="square" lIns="76200" tIns="38100" rIns="76200" bIns="38100" anchor="ctr"/>
          <a:lstStyle/>
          <a:p>
            <a:pPr algn="ctr">
              <a:buNone/>
            </a:pPr>
            <a:r>
              <a:rPr lang="en-US" sz="1400" i="1" dirty="0">
                <a:solidFill>
                  <a:srgbClr val="935739"/>
                </a:solidFill>
                <a:latin typeface="Arial"/>
              </a:rPr>
              <a:t>[PLACEHOLDER_TABLE_1: frame-by-frame latency table built from Parallel_working/output/perf_blm_20260417_134210.jsonl — columns: stage, mean ms, p95 ms]</a:t>
            </a:r>
          </a:p>
        </p:txBody>
      </p:sp>
      <p:sp>
        <p:nvSpPr>
          <p:cNvPr id="104" name="r104"/>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05" name="t105"/>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b="0" i="1" dirty="0">
                <a:solidFill>
                  <a:srgbClr val="FFFFFF"/>
                </a:solidFill>
                <a:latin typeface="Arial"/>
              </a:rPr>
              <a:t>Total perception: ~15 ms. Well under the 67 ms (15 FPS) budget with 52 ms headroom. Kalman 200-400 ms prediction window covers the mechanical settling time — this is why predictive tracking matters.</a:t>
            </a:r>
          </a:p>
        </p:txBody>
      </p:sp>
      <p:sp>
        <p:nvSpPr>
          <p:cNvPr id="109" name="Rectangle 108"/>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10" name="Rectangle 109"/>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11" name="Rectangle 110"/>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77B2BB00-275B-25A8-6896-9AB082B1BF25}"/>
              </a:ext>
            </a:extLst>
          </p:cNvPr>
          <p:cNvSpPr/>
          <p:nvPr/>
        </p:nvSpPr>
        <p:spPr>
          <a:xfrm>
            <a:off x="508001" y="1473942"/>
            <a:ext cx="5317490"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92859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47B634-81FA-4540-CC47-DAD39BDB980A}"/>
              </a:ext>
            </a:extLst>
          </p:cNvPr>
          <p:cNvSpPr>
            <a:spLocks noGrp="1"/>
          </p:cNvSpPr>
          <p:nvPr>
            <p:ph type="title"/>
          </p:nvPr>
        </p:nvSpPr>
        <p:spPr>
          <a:xfrm>
            <a:off x="508000" y="861060"/>
            <a:ext cx="11176000" cy="711200"/>
          </a:xfrm>
        </p:spPr>
        <p:txBody>
          <a:bodyPr wrap="square" lIns="76200" tIns="38100" rIns="76200" bIns="38100" anchor="ctr"/>
          <a:lstStyle/>
          <a:p>
            <a:pPr algn="l">
              <a:buNone/>
            </a:pPr>
            <a:r>
              <a:rPr lang="en-US" sz="3200" b="1" dirty="0">
                <a:solidFill>
                  <a:srgbClr val="1F1F1F"/>
                </a:solidFill>
                <a:latin typeface="Calibri"/>
              </a:rPr>
              <a:t>A4 · ECE Curriculum Mapping</a:t>
            </a:r>
          </a:p>
        </p:txBody>
      </p:sp>
      <p:sp>
        <p:nvSpPr>
          <p:cNvPr id="101" name="t101"/>
          <p:cNvSpPr txBox="1"/>
          <p:nvPr/>
        </p:nvSpPr>
        <p:spPr>
          <a:xfrm>
            <a:off x="457200" y="1623430"/>
            <a:ext cx="11176000" cy="457200"/>
          </a:xfrm>
          <a:prstGeom prst="rect">
            <a:avLst/>
          </a:prstGeom>
          <a:noFill/>
          <a:ln>
            <a:noFill/>
          </a:ln>
        </p:spPr>
        <p:txBody>
          <a:bodyPr wrap="square" lIns="76200" tIns="38100" rIns="76200" bIns="38100" anchor="ctr"/>
          <a:lstStyle/>
          <a:p>
            <a:pPr algn="l">
              <a:buNone/>
            </a:pPr>
            <a:r>
              <a:rPr lang="en-US" sz="2200" b="1" dirty="0">
                <a:solidFill>
                  <a:srgbClr val="2A231F"/>
                </a:solidFill>
                <a:latin typeface="Arial"/>
              </a:rPr>
              <a:t>Courses → concepts → evidence in the thesis.</a:t>
            </a:r>
          </a:p>
        </p:txBody>
      </p:sp>
      <p:sp>
        <p:nvSpPr>
          <p:cNvPr id="102" name="r102"/>
          <p:cNvSpPr/>
          <p:nvPr/>
        </p:nvSpPr>
        <p:spPr>
          <a:xfrm>
            <a:off x="508000" y="21590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Course</a:t>
            </a:r>
          </a:p>
        </p:txBody>
      </p:sp>
      <p:sp>
        <p:nvSpPr>
          <p:cNvPr id="104" name="r104"/>
          <p:cNvSpPr/>
          <p:nvPr/>
        </p:nvSpPr>
        <p:spPr>
          <a:xfrm>
            <a:off x="3048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3149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Concept used</a:t>
            </a:r>
          </a:p>
        </p:txBody>
      </p:sp>
      <p:sp>
        <p:nvSpPr>
          <p:cNvPr id="106" name="r106"/>
          <p:cNvSpPr/>
          <p:nvPr/>
        </p:nvSpPr>
        <p:spPr>
          <a:xfrm>
            <a:off x="7366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7467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Evidence in thesis</a:t>
            </a:r>
          </a:p>
        </p:txBody>
      </p:sp>
      <p:sp>
        <p:nvSpPr>
          <p:cNvPr id="108" name="r108"/>
          <p:cNvSpPr/>
          <p:nvPr/>
        </p:nvSpPr>
        <p:spPr>
          <a:xfrm>
            <a:off x="508000" y="26162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09600" y="26162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Signals &amp; Systems</a:t>
            </a:r>
          </a:p>
        </p:txBody>
      </p:sp>
      <p:sp>
        <p:nvSpPr>
          <p:cNvPr id="110" name="r110"/>
          <p:cNvSpPr/>
          <p:nvPr/>
        </p:nvSpPr>
        <p:spPr>
          <a:xfrm>
            <a:off x="3048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3149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Kalman filter, EMA, frequency domain</a:t>
            </a:r>
          </a:p>
        </p:txBody>
      </p:sp>
      <p:sp>
        <p:nvSpPr>
          <p:cNvPr id="112" name="r112"/>
          <p:cNvSpPr/>
          <p:nvPr/>
        </p:nvSpPr>
        <p:spPr>
          <a:xfrm>
            <a:off x="7366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7467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Per-joint CV Kalman; adaptive EMA tuning</a:t>
            </a:r>
          </a:p>
        </p:txBody>
      </p:sp>
      <p:sp>
        <p:nvSpPr>
          <p:cNvPr id="114" name="r114"/>
          <p:cNvSpPr/>
          <p:nvPr/>
        </p:nvSpPr>
        <p:spPr>
          <a:xfrm>
            <a:off x="508000" y="33274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3274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 Systems</a:t>
            </a:r>
          </a:p>
        </p:txBody>
      </p:sp>
      <p:sp>
        <p:nvSpPr>
          <p:cNvPr id="116" name="r116"/>
          <p:cNvSpPr/>
          <p:nvPr/>
        </p:nvSpPr>
        <p:spPr>
          <a:xfrm>
            <a:off x="3048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3149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Closed-loop feedback, stability</a:t>
            </a:r>
          </a:p>
        </p:txBody>
      </p:sp>
      <p:sp>
        <p:nvSpPr>
          <p:cNvPr id="118" name="r118"/>
          <p:cNvSpPr/>
          <p:nvPr/>
        </p:nvSpPr>
        <p:spPr>
          <a:xfrm>
            <a:off x="7366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7467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 → FSM → motor loop; stop paths</a:t>
            </a:r>
          </a:p>
        </p:txBody>
      </p:sp>
      <p:sp>
        <p:nvSpPr>
          <p:cNvPr id="120" name="r120"/>
          <p:cNvSpPr/>
          <p:nvPr/>
        </p:nvSpPr>
        <p:spPr>
          <a:xfrm>
            <a:off x="508000" y="40386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09600" y="40386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Embedded Systems</a:t>
            </a:r>
          </a:p>
        </p:txBody>
      </p:sp>
      <p:sp>
        <p:nvSpPr>
          <p:cNvPr id="122" name="r122"/>
          <p:cNvSpPr/>
          <p:nvPr/>
        </p:nvSpPr>
        <p:spPr>
          <a:xfrm>
            <a:off x="3048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3149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RTOS-like cooperative FSM, UART</a:t>
            </a:r>
          </a:p>
        </p:txBody>
      </p:sp>
      <p:sp>
        <p:nvSpPr>
          <p:cNvPr id="124" name="r124"/>
          <p:cNvSpPr/>
          <p:nvPr/>
        </p:nvSpPr>
        <p:spPr>
          <a:xfrm>
            <a:off x="7366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7467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at 921,600 baud</a:t>
            </a:r>
          </a:p>
        </p:txBody>
      </p:sp>
      <p:sp>
        <p:nvSpPr>
          <p:cNvPr id="126" name="r126"/>
          <p:cNvSpPr/>
          <p:nvPr/>
        </p:nvSpPr>
        <p:spPr>
          <a:xfrm>
            <a:off x="508000" y="47498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47498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Computer Networks</a:t>
            </a:r>
          </a:p>
        </p:txBody>
      </p:sp>
      <p:sp>
        <p:nvSpPr>
          <p:cNvPr id="128" name="r128"/>
          <p:cNvSpPr/>
          <p:nvPr/>
        </p:nvSpPr>
        <p:spPr>
          <a:xfrm>
            <a:off x="3048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3149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vs TCP, link-loss handling</a:t>
            </a:r>
          </a:p>
        </p:txBody>
      </p:sp>
      <p:sp>
        <p:nvSpPr>
          <p:cNvPr id="130" name="r130"/>
          <p:cNvSpPr/>
          <p:nvPr/>
        </p:nvSpPr>
        <p:spPr>
          <a:xfrm>
            <a:off x="7366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7467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target broadcast + watchdog timeout</a:t>
            </a:r>
          </a:p>
        </p:txBody>
      </p:sp>
      <p:sp>
        <p:nvSpPr>
          <p:cNvPr id="132" name="r132"/>
          <p:cNvSpPr/>
          <p:nvPr/>
        </p:nvSpPr>
        <p:spPr>
          <a:xfrm>
            <a:off x="508000" y="54610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54610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Engineering Ethics</a:t>
            </a:r>
          </a:p>
        </p:txBody>
      </p:sp>
      <p:sp>
        <p:nvSpPr>
          <p:cNvPr id="134" name="r134"/>
          <p:cNvSpPr/>
          <p:nvPr/>
        </p:nvSpPr>
        <p:spPr>
          <a:xfrm>
            <a:off x="3048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3149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Risk, safety, responsible deployment</a:t>
            </a:r>
          </a:p>
        </p:txBody>
      </p:sp>
      <p:sp>
        <p:nvSpPr>
          <p:cNvPr id="136" name="r136"/>
          <p:cNvSpPr/>
          <p:nvPr/>
        </p:nvSpPr>
        <p:spPr>
          <a:xfrm>
            <a:off x="7366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7467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ISO 12100 / 13849-1 / IEC 60204-1 alignment</a:t>
            </a:r>
          </a:p>
        </p:txBody>
      </p:sp>
      <p:sp>
        <p:nvSpPr>
          <p:cNvPr id="138" name="r13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9" name="t13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i="1" dirty="0">
                <a:solidFill>
                  <a:srgbClr val="2A231F"/>
                </a:solidFill>
                <a:latin typeface="Arial"/>
              </a:rPr>
              <a:t>Use only if asked which courses prepared you for this.</a:t>
            </a:r>
          </a:p>
        </p:txBody>
      </p:sp>
      <p:sp>
        <p:nvSpPr>
          <p:cNvPr id="143" name="Rectangle 14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4" name="Rectangle 143"/>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5" name="Rectangle 144"/>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870A77FA-55AB-2C84-A9B7-85EE9BCEEE0F}"/>
              </a:ext>
            </a:extLst>
          </p:cNvPr>
          <p:cNvSpPr/>
          <p:nvPr/>
        </p:nvSpPr>
        <p:spPr>
          <a:xfrm>
            <a:off x="508000" y="1480406"/>
            <a:ext cx="4976496" cy="74444"/>
          </a:xfrm>
          <a:prstGeom prst="rect">
            <a:avLst/>
          </a:prstGeom>
          <a:solidFill>
            <a:srgbClr val="935739"/>
          </a:solidFill>
          <a:ln>
            <a:noFill/>
          </a:ln>
        </p:spPr>
        <p:txBody>
          <a:bodyPr wrap="square" anchor="ctr"/>
          <a:lstStyle/>
          <a:p>
            <a:endParaRPr lang="en-US"/>
          </a:p>
        </p:txBody>
      </p:sp>
    </p:spTree>
    <p:extLst>
      <p:ext uri="{BB962C8B-B14F-4D97-AF65-F5344CB8AC3E}">
        <p14:creationId xmlns:p14="http://schemas.microsoft.com/office/powerpoint/2010/main" val="3125582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4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402" name="appendix_label"/>
          <p:cNvSpPr txBox="1"/>
          <p:nvPr/>
        </p:nvSpPr>
        <p:spPr>
          <a:xfrm>
            <a:off x="508000" y="500000"/>
            <a:ext cx="3000000" cy="380000"/>
          </a:xfrm>
          <a:prstGeom prst="rect">
            <a:avLst/>
          </a:prstGeom>
          <a:solidFill>
            <a:srgbClr val="935739"/>
          </a:solidFill>
          <a:ln>
            <a:noFill/>
          </a:ln>
        </p:spPr>
        <p:txBody>
          <a:bodyPr wrap="square" lIns="76200" tIns="38100" rIns="76200" bIns="38100" anchor="ctr"/>
          <a:lstStyle/>
          <a:p>
            <a:pPr algn="ctr">
              <a:buNone/>
            </a:pPr>
            <a:r>
              <a:rPr lang="en-US" sz="1400" b="1" dirty="0">
                <a:solidFill>
                  <a:srgbClr val="FFFFFF"/>
                </a:solidFill>
                <a:latin typeface="Calibri"/>
              </a:rPr>
              <a:t>APPENDIX · Q&amp;A BACKUP</a:t>
            </a:r>
          </a:p>
        </p:txBody>
      </p:sp>
      <p:sp>
        <p:nvSpPr>
          <p:cNvPr id="403" name="Title"/>
          <p:cNvSpPr>
            <a:spLocks noGrp="1"/>
          </p:cNvSpPr>
          <p:nvPr>
            <p:ph type="title"/>
          </p:nvPr>
        </p:nvSpPr>
        <p:spPr>
          <a:xfrm>
            <a:off x="508000" y="934720"/>
            <a:ext cx="11176000" cy="711200"/>
          </a:xfrm>
        </p:spPr>
        <p:txBody>
          <a:bodyPr wrap="square" lIns="76200" tIns="38100" rIns="76200" bIns="38100" anchor="ctr"/>
          <a:lstStyle/>
          <a:p>
            <a:pPr algn="l">
              <a:buNone/>
            </a:pPr>
            <a:r>
              <a:rPr lang="en-US" sz="2800" b="1" dirty="0">
                <a:solidFill>
                  <a:srgbClr val="1F1F1F"/>
                </a:solidFill>
                <a:latin typeface="Calibri"/>
              </a:rPr>
              <a:t>Q: Why not use Intel RealSense depth cameras?</a:t>
            </a:r>
          </a:p>
        </p:txBody>
      </p:sp>
      <p:sp>
        <p:nvSpPr>
          <p:cNvPr id="404" name="subtitle"/>
          <p:cNvSpPr txBox="1"/>
          <p:nvPr/>
        </p:nvSpPr>
        <p:spPr>
          <a:xfrm>
            <a:off x="508000" y="1395920"/>
            <a:ext cx="11176000" cy="340000"/>
          </a:xfrm>
          <a:prstGeom prst="rect">
            <a:avLst/>
          </a:prstGeom>
          <a:noFill/>
          <a:ln>
            <a:noFill/>
          </a:ln>
        </p:spPr>
        <p:txBody>
          <a:bodyPr wrap="square" lIns="76200" tIns="0" rIns="76200" bIns="0" anchor="ctr"/>
          <a:lstStyle/>
          <a:p>
            <a:pPr algn="l">
              <a:buNone/>
            </a:pPr>
            <a:r>
              <a:rPr lang="en-US" sz="1700" b="0" i="1" dirty="0">
                <a:solidFill>
                  <a:srgbClr val="935739"/>
                </a:solidFill>
                <a:latin typeface="Arial"/>
              </a:rPr>
              <a:t>Cost, redundancy architecture, and occlusion tolerance drive the 4x USB camera choice</a:t>
            </a:r>
          </a:p>
        </p:txBody>
      </p:sp>
      <p:sp>
        <p:nvSpPr>
          <p:cNvPr id="405" name="content"/>
          <p:cNvSpPr txBox="1"/>
          <p:nvPr/>
        </p:nvSpPr>
        <p:spPr>
          <a:xfrm>
            <a:off x="508000" y="1833880"/>
            <a:ext cx="11176000" cy="4050000"/>
          </a:xfrm>
          <a:prstGeom prst="rect">
            <a:avLst/>
          </a:prstGeom>
          <a:noFill/>
          <a:ln>
            <a:noFill/>
          </a:ln>
        </p:spPr>
        <p:txBody>
          <a:bodyPr wrap="square" lIns="76200" tIns="76200" rIns="76200" bIns="76200" anchor="t"/>
          <a:lstStyle/>
          <a:p>
            <a:pPr algn="l">
              <a:spcBef>
                <a:spcPts val="400"/>
              </a:spcBef>
              <a:buNone/>
            </a:pPr>
            <a:r>
              <a:rPr lang="en-US" sz="1900" b="1" dirty="0">
                <a:solidFill>
                  <a:srgbClr val="935739"/>
                </a:solidFill>
                <a:latin typeface="Arial"/>
              </a:rPr>
              <a:t> Cost comparison</a:t>
            </a:r>
          </a:p>
          <a:p>
            <a:pPr marL="228600" indent="-228600">
              <a:spcBef>
                <a:spcPts val="400"/>
              </a:spcBef>
              <a:buFont typeface="Arial"/>
              <a:buChar char="▸"/>
            </a:pPr>
            <a:r>
              <a:rPr lang="en-US" sz="1800" b="0" dirty="0">
                <a:solidFill>
                  <a:srgbClr val="2A231F"/>
                </a:solidFill>
                <a:latin typeface="Arial"/>
              </a:rPr>
              <a:t> 4x Hikvision DS-E12 USB cameras: ~$120 total ($30 each)</a:t>
            </a:r>
          </a:p>
          <a:p>
            <a:pPr marL="228600" indent="-228600">
              <a:spcBef>
                <a:spcPts val="400"/>
              </a:spcBef>
              <a:buFont typeface="Arial"/>
              <a:buChar char="▸"/>
            </a:pPr>
            <a:r>
              <a:rPr lang="en-US" sz="1800" b="0" dirty="0">
                <a:solidFill>
                  <a:srgbClr val="2A231F"/>
                </a:solidFill>
                <a:latin typeface="Arial"/>
              </a:rPr>
              <a:t> 4x Intel RealSense D435: ~$800+ total ($200+ each)</a:t>
            </a:r>
          </a:p>
          <a:p>
            <a:pPr marL="228600" indent="-228600">
              <a:spcBef>
                <a:spcPts val="400"/>
              </a:spcBef>
              <a:buFont typeface="Arial"/>
              <a:buChar char="▸"/>
            </a:pPr>
            <a:r>
              <a:rPr lang="en-US" sz="1800" b="0" dirty="0">
                <a:solidFill>
                  <a:srgbClr val="2A231F"/>
                </a:solidFill>
                <a:latin typeface="Arial"/>
              </a:rPr>
              <a:t> Recycled PC handles all inference — no depth-specific compute needed</a:t>
            </a:r>
          </a:p>
          <a:p>
            <a:pPr algn="l">
              <a:spcBef>
                <a:spcPts val="400"/>
              </a:spcBef>
              <a:buNone/>
            </a:pPr>
            <a:r>
              <a:rPr lang="en-US" sz="1900" b="1" dirty="0">
                <a:solidFill>
                  <a:srgbClr val="935739"/>
                </a:solidFill>
                <a:latin typeface="Arial"/>
              </a:rPr>
              <a:t> Redundancy architecture</a:t>
            </a:r>
          </a:p>
          <a:p>
            <a:pPr marL="228600" indent="-228600">
              <a:spcBef>
                <a:spcPts val="400"/>
              </a:spcBef>
              <a:buFont typeface="Arial"/>
              <a:buChar char="▸"/>
            </a:pPr>
            <a:r>
              <a:rPr lang="en-US" sz="1800" b="0" dirty="0">
                <a:solidFill>
                  <a:srgbClr val="2A231F"/>
                </a:solidFill>
                <a:latin typeface="Arial"/>
              </a:rPr>
              <a:t> 4 overlapping views: if one camera is occluded, 3 remain for triangulation</a:t>
            </a:r>
          </a:p>
          <a:p>
            <a:pPr marL="228600" indent="-228600">
              <a:spcBef>
                <a:spcPts val="400"/>
              </a:spcBef>
              <a:buFont typeface="Arial"/>
              <a:buChar char="▸"/>
            </a:pPr>
            <a:r>
              <a:rPr lang="en-US" sz="1800" b="0" dirty="0">
                <a:solidFill>
                  <a:srgbClr val="2A231F"/>
                </a:solidFill>
                <a:latin typeface="Arial"/>
              </a:rPr>
              <a:t> RealSense single unit = single point of failure; depth occlusion by ball or limb is common</a:t>
            </a:r>
          </a:p>
          <a:p>
            <a:pPr marL="228600" indent="-228600">
              <a:spcBef>
                <a:spcPts val="400"/>
              </a:spcBef>
              <a:buFont typeface="Arial"/>
              <a:buChar char="▸"/>
            </a:pPr>
            <a:r>
              <a:rPr lang="en-US" sz="1800" b="0" dirty="0">
                <a:solidFill>
                  <a:srgbClr val="2A231F"/>
                </a:solidFill>
                <a:latin typeface="Arial"/>
              </a:rPr>
              <a:t> DLT/SVD triangulation explicitly designed for variable camera-count inputs</a:t>
            </a:r>
          </a:p>
          <a:p>
            <a:pPr algn="l">
              <a:spcBef>
                <a:spcPts val="400"/>
              </a:spcBef>
              <a:buNone/>
            </a:pPr>
            <a:r>
              <a:rPr lang="en-US" sz="1900" b="1" dirty="0">
                <a:solidFill>
                  <a:srgbClr val="935739"/>
                </a:solidFill>
                <a:latin typeface="Arial"/>
              </a:rPr>
              <a:t> Accuracy argument</a:t>
            </a:r>
          </a:p>
          <a:p>
            <a:pPr marL="228600" indent="-228600">
              <a:spcBef>
                <a:spcPts val="400"/>
              </a:spcBef>
              <a:buFont typeface="Arial"/>
              <a:buChar char="▸"/>
            </a:pPr>
            <a:r>
              <a:rPr lang="en-US" sz="1800" b="0" dirty="0">
                <a:solidFill>
                  <a:srgbClr val="2A231F"/>
                </a:solidFill>
                <a:latin typeface="Arial"/>
              </a:rPr>
              <a:t> 95.17 mm corrected ball mean achieved with commodity RGB cameras</a:t>
            </a:r>
          </a:p>
          <a:p>
            <a:pPr marL="228600" indent="-228600">
              <a:spcBef>
                <a:spcPts val="400"/>
              </a:spcBef>
              <a:buFont typeface="Arial"/>
              <a:buChar char="▸"/>
            </a:pPr>
            <a:r>
              <a:rPr lang="en-US" sz="1800" b="0" dirty="0">
                <a:solidFill>
                  <a:srgbClr val="2A231F"/>
                </a:solidFill>
                <a:latin typeface="Arial"/>
              </a:rPr>
              <a:t> RealSense depth noise at 3-5 m range is 3-20 mm — marginal gain for 7x cost increase</a:t>
            </a:r>
          </a:p>
          <a:p>
            <a:pPr algn="l">
              <a:spcBef>
                <a:spcPts val="400"/>
              </a:spcBef>
              <a:buNone/>
            </a:pPr>
            <a:r>
              <a:rPr lang="en-US" sz="1900" b="1" dirty="0">
                <a:solidFill>
                  <a:srgbClr val="935739"/>
                </a:solidFill>
                <a:latin typeface="Arial"/>
              </a:rPr>
              <a:t> Scope</a:t>
            </a:r>
          </a:p>
          <a:p>
            <a:pPr marL="228600" indent="-228600">
              <a:spcBef>
                <a:spcPts val="400"/>
              </a:spcBef>
              <a:buFont typeface="Arial"/>
              <a:buChar char="▸"/>
            </a:pPr>
            <a:r>
              <a:rPr lang="en-US" sz="1800" b="0" dirty="0">
                <a:solidFill>
                  <a:srgbClr val="2A231F"/>
                </a:solidFill>
                <a:latin typeface="Arial"/>
              </a:rPr>
              <a:t> Controlled indoor arena only. Outdoor / variable lighting is acknowledged future work.</a:t>
            </a:r>
          </a:p>
        </p:txBody>
      </p:sp>
      <p:sp>
        <p:nvSpPr>
          <p:cNvPr id="406"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407"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500" b="0" i="1" dirty="0">
                <a:solidFill>
                  <a:srgbClr val="FFFFFF"/>
                </a:solidFill>
                <a:latin typeface="Arial"/>
              </a:rPr>
              <a:t>Answer: 4x USB cameras give occlusion redundancy, cost $120 vs. $800+ for RealSense, and already achieve 95.17 mm accuracy at indoor arena distances.</a:t>
            </a:r>
          </a:p>
        </p:txBody>
      </p:sp>
      <p:sp>
        <p:nvSpPr>
          <p:cNvPr id="408"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4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402" name="appendix_label"/>
          <p:cNvSpPr txBox="1"/>
          <p:nvPr/>
        </p:nvSpPr>
        <p:spPr>
          <a:xfrm>
            <a:off x="508000" y="500000"/>
            <a:ext cx="3000000" cy="380000"/>
          </a:xfrm>
          <a:prstGeom prst="rect">
            <a:avLst/>
          </a:prstGeom>
          <a:solidFill>
            <a:srgbClr val="935739"/>
          </a:solidFill>
          <a:ln>
            <a:noFill/>
          </a:ln>
        </p:spPr>
        <p:txBody>
          <a:bodyPr wrap="square" lIns="76200" tIns="38100" rIns="76200" bIns="38100" anchor="ctr"/>
          <a:lstStyle/>
          <a:p>
            <a:pPr algn="ctr">
              <a:buNone/>
            </a:pPr>
            <a:r>
              <a:rPr lang="en-US" sz="1400" b="1" dirty="0">
                <a:solidFill>
                  <a:srgbClr val="FFFFFF"/>
                </a:solidFill>
                <a:latin typeface="Calibri"/>
              </a:rPr>
              <a:t>APPENDIX · Q&amp;A BACKUP</a:t>
            </a:r>
          </a:p>
        </p:txBody>
      </p:sp>
      <p:sp>
        <p:nvSpPr>
          <p:cNvPr id="403" name="Title"/>
          <p:cNvSpPr>
            <a:spLocks noGrp="1"/>
          </p:cNvSpPr>
          <p:nvPr>
            <p:ph type="title"/>
          </p:nvPr>
        </p:nvSpPr>
        <p:spPr>
          <a:xfrm>
            <a:off x="508000" y="934720"/>
            <a:ext cx="11176000" cy="711200"/>
          </a:xfrm>
        </p:spPr>
        <p:txBody>
          <a:bodyPr wrap="square" lIns="76200" tIns="38100" rIns="76200" bIns="38100" anchor="ctr"/>
          <a:lstStyle/>
          <a:p>
            <a:pPr algn="l">
              <a:buNone/>
            </a:pPr>
            <a:r>
              <a:rPr lang="en-US" sz="2800" b="1" dirty="0">
                <a:solidFill>
                  <a:srgbClr val="1F1F1F"/>
                </a:solidFill>
                <a:latin typeface="Calibri"/>
              </a:rPr>
              <a:t>Q: How does the Kalman filter handle sudden position jumps?</a:t>
            </a:r>
          </a:p>
        </p:txBody>
      </p:sp>
      <p:sp>
        <p:nvSpPr>
          <p:cNvPr id="404" name="subtitle"/>
          <p:cNvSpPr txBox="1"/>
          <p:nvPr/>
        </p:nvSpPr>
        <p:spPr>
          <a:xfrm>
            <a:off x="508000" y="1465220"/>
            <a:ext cx="11176000" cy="340000"/>
          </a:xfrm>
          <a:prstGeom prst="rect">
            <a:avLst/>
          </a:prstGeom>
          <a:noFill/>
          <a:ln>
            <a:noFill/>
          </a:ln>
        </p:spPr>
        <p:txBody>
          <a:bodyPr wrap="square" lIns="76200" tIns="0" rIns="76200" bIns="0" anchor="ctr"/>
          <a:lstStyle/>
          <a:p>
            <a:pPr algn="l">
              <a:buNone/>
            </a:pPr>
            <a:r>
              <a:rPr lang="en-US" sz="1700" b="0" i="1" dirty="0">
                <a:solidFill>
                  <a:srgbClr val="935739"/>
                </a:solidFill>
                <a:latin typeface="Arial"/>
              </a:rPr>
              <a:t>Constant-velocity model with process noise — tested in Section 5.7, honest about limitations</a:t>
            </a:r>
          </a:p>
        </p:txBody>
      </p:sp>
      <p:sp>
        <p:nvSpPr>
          <p:cNvPr id="405" name="content"/>
          <p:cNvSpPr txBox="1"/>
          <p:nvPr/>
        </p:nvSpPr>
        <p:spPr>
          <a:xfrm>
            <a:off x="508000" y="1814720"/>
            <a:ext cx="11176000" cy="4050000"/>
          </a:xfrm>
          <a:prstGeom prst="rect">
            <a:avLst/>
          </a:prstGeom>
          <a:noFill/>
          <a:ln>
            <a:noFill/>
          </a:ln>
        </p:spPr>
        <p:txBody>
          <a:bodyPr wrap="square" lIns="76200" tIns="76200" rIns="76200" bIns="76200" anchor="t"/>
          <a:lstStyle/>
          <a:p>
            <a:pPr algn="l">
              <a:spcBef>
                <a:spcPts val="400"/>
              </a:spcBef>
              <a:buNone/>
            </a:pPr>
            <a:r>
              <a:rPr lang="en-US" sz="1900" b="1" dirty="0">
                <a:solidFill>
                  <a:srgbClr val="935739"/>
                </a:solidFill>
                <a:latin typeface="Arial"/>
              </a:rPr>
              <a:t> Kalman model used</a:t>
            </a:r>
          </a:p>
          <a:p>
            <a:pPr marL="228600" indent="-228600">
              <a:spcBef>
                <a:spcPts val="400"/>
              </a:spcBef>
              <a:buFont typeface="Arial"/>
              <a:buChar char="▸"/>
            </a:pPr>
            <a:r>
              <a:rPr lang="en-US" sz="1800" b="0" dirty="0">
                <a:solidFill>
                  <a:srgbClr val="2A231F"/>
                </a:solidFill>
                <a:latin typeface="Arial"/>
              </a:rPr>
              <a:t> Constant-velocity (CV) model: state = [x, y, z, vx, vy, vz]</a:t>
            </a:r>
          </a:p>
          <a:p>
            <a:pPr marL="228600" indent="-228600">
              <a:spcBef>
                <a:spcPts val="400"/>
              </a:spcBef>
              <a:buFont typeface="Arial"/>
              <a:buChar char="▸"/>
            </a:pPr>
            <a:r>
              <a:rPr lang="en-US" sz="1800" b="0" dirty="0">
                <a:solidFill>
                  <a:srgbClr val="2A231F"/>
                </a:solidFill>
                <a:latin typeface="Arial"/>
              </a:rPr>
              <a:t> Process noise Q tuned to allow fast re-acquisition after direction changes</a:t>
            </a:r>
          </a:p>
          <a:p>
            <a:pPr marL="228600" indent="-228600">
              <a:spcBef>
                <a:spcPts val="400"/>
              </a:spcBef>
              <a:buFont typeface="Arial"/>
              <a:buChar char="▸"/>
            </a:pPr>
            <a:r>
              <a:rPr lang="en-US" sz="1800" b="0" dirty="0">
                <a:solidFill>
                  <a:srgbClr val="2A231F"/>
                </a:solidFill>
                <a:latin typeface="Arial"/>
              </a:rPr>
              <a:t> Prediction window: 200-400 ms ahead to compensate mechanical settling time</a:t>
            </a:r>
          </a:p>
          <a:p>
            <a:pPr algn="l">
              <a:spcBef>
                <a:spcPts val="400"/>
              </a:spcBef>
              <a:buNone/>
            </a:pPr>
            <a:r>
              <a:rPr lang="en-US" sz="1900" b="1" dirty="0">
                <a:solidFill>
                  <a:srgbClr val="935739"/>
                </a:solidFill>
                <a:latin typeface="Arial"/>
              </a:rPr>
              <a:t> Jump sequence behaviour (Section 5.7)</a:t>
            </a:r>
          </a:p>
          <a:p>
            <a:pPr marL="228600" indent="-228600">
              <a:spcBef>
                <a:spcPts val="400"/>
              </a:spcBef>
              <a:buFont typeface="Arial"/>
              <a:buChar char="▸"/>
            </a:pPr>
            <a:r>
              <a:rPr lang="en-US" sz="1800" b="0" dirty="0">
                <a:solidFill>
                  <a:srgbClr val="2A231F"/>
                </a:solidFill>
                <a:latin typeface="Arial"/>
              </a:rPr>
              <a:t> On sudden position jumps, prediction error spikes then recovers within 2-3 frames (133-200 ms)</a:t>
            </a:r>
          </a:p>
          <a:p>
            <a:pPr marL="228600" indent="-228600">
              <a:spcBef>
                <a:spcPts val="400"/>
              </a:spcBef>
              <a:buFont typeface="Arial"/>
              <a:buChar char="▸"/>
            </a:pPr>
            <a:r>
              <a:rPr lang="en-US" sz="1800" b="0" dirty="0">
                <a:solidFill>
                  <a:srgbClr val="2A231F"/>
                </a:solidFill>
                <a:latin typeface="Arial"/>
              </a:rPr>
              <a:t> Ablation showed neutral-to-negative improvement on jump sequences vs. EMA alone</a:t>
            </a:r>
          </a:p>
          <a:p>
            <a:pPr marL="228600" indent="-228600">
              <a:spcBef>
                <a:spcPts val="400"/>
              </a:spcBef>
              <a:buFont typeface="Arial"/>
              <a:buChar char="▸"/>
            </a:pPr>
            <a:r>
              <a:rPr lang="en-US" sz="1800" b="0" dirty="0">
                <a:solidFill>
                  <a:srgbClr val="2A231F"/>
                </a:solidFill>
                <a:latin typeface="Arial"/>
              </a:rPr>
              <a:t> This is acknowledged honestly: Kalman helps smooth normal motion, not abrupt jumps</a:t>
            </a:r>
          </a:p>
          <a:p>
            <a:pPr algn="l">
              <a:spcBef>
                <a:spcPts val="400"/>
              </a:spcBef>
              <a:buNone/>
            </a:pPr>
            <a:r>
              <a:rPr lang="en-US" sz="1900" b="1" dirty="0">
                <a:solidFill>
                  <a:srgbClr val="935739"/>
                </a:solidFill>
                <a:latin typeface="Arial"/>
              </a:rPr>
              <a:t> Why it still matters</a:t>
            </a:r>
          </a:p>
          <a:p>
            <a:pPr marL="228600" indent="-228600">
              <a:spcBef>
                <a:spcPts val="400"/>
              </a:spcBef>
              <a:buFont typeface="Arial"/>
              <a:buChar char="▸"/>
            </a:pPr>
            <a:r>
              <a:rPr lang="en-US" sz="1800" b="0" dirty="0">
                <a:solidFill>
                  <a:srgbClr val="2A231F"/>
                </a:solidFill>
                <a:latin typeface="Arial"/>
              </a:rPr>
              <a:t> For steady-state walking/running, CV Kalman reduces targeting jitter significantly</a:t>
            </a:r>
          </a:p>
          <a:p>
            <a:pPr marL="228600" indent="-228600">
              <a:spcBef>
                <a:spcPts val="400"/>
              </a:spcBef>
              <a:buFont typeface="Arial"/>
              <a:buChar char="▸"/>
            </a:pPr>
            <a:r>
              <a:rPr lang="en-US" sz="1800" b="0" dirty="0">
                <a:solidFill>
                  <a:srgbClr val="2A231F"/>
                </a:solidFill>
                <a:latin typeface="Arial"/>
              </a:rPr>
              <a:t> The 200-400 ms prediction covers mechanical lag — without it, the shot always hits where the target WAS</a:t>
            </a:r>
          </a:p>
          <a:p>
            <a:pPr marL="228600" indent="-228600">
              <a:spcBef>
                <a:spcPts val="400"/>
              </a:spcBef>
              <a:buFont typeface="Arial"/>
              <a:buChar char="▸"/>
            </a:pPr>
            <a:r>
              <a:rPr lang="en-US" sz="1800" b="0" dirty="0">
                <a:solidFill>
                  <a:srgbClr val="2A231F"/>
                </a:solidFill>
                <a:latin typeface="Arial"/>
              </a:rPr>
              <a:t> Extended Kalman or IMM models are future work for jump-robust prediction</a:t>
            </a:r>
          </a:p>
        </p:txBody>
      </p:sp>
      <p:sp>
        <p:nvSpPr>
          <p:cNvPr id="406"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407"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500" b="0" i="1" dirty="0">
                <a:solidFill>
                  <a:srgbClr val="FFFFFF"/>
                </a:solidFill>
                <a:latin typeface="Arial"/>
              </a:rPr>
              <a:t>Answer: CV Kalman works well for smooth motion; jump sequences show neutral improvement vs. EMA alone (acknowledged in Section 5.7). The prediction window is essential to cover mechanical settling lag.</a:t>
            </a:r>
          </a:p>
        </p:txBody>
      </p:sp>
      <p:sp>
        <p:nvSpPr>
          <p:cNvPr id="408"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BottomBar"/>
          <p:cNvSpPr/>
          <p:nvPr/>
        </p:nvSpPr>
        <p:spPr>
          <a:xfrm>
            <a:off x="0" y="6537960"/>
            <a:ext cx="12192000" cy="320040"/>
          </a:xfrm>
          <a:prstGeom prst="rect">
            <a:avLst/>
          </a:prstGeom>
          <a:solidFill>
            <a:srgbClr val="F5F2ED"/>
          </a:solidFill>
          <a:ln>
            <a:noFill/>
          </a:ln>
        </p:spPr>
        <p:txBody>
          <a:bodyPr rtlCol="0" anchor="ctr"/>
          <a:lstStyle/>
          <a:p>
            <a:pPr algn="ctr"/>
            <a:endParaRPr/>
          </a:p>
        </p:txBody>
      </p:sp>
      <p:pic>
        <p:nvPicPr>
          <p:cNvPr id="401" name="NUThemeBackground" descr="nu_theme-2.png"/>
          <p:cNvPicPr>
            <a:picLocks noChangeAspect="1"/>
          </p:cNvPicPr>
          <p:nvPr/>
        </p:nvPicPr>
        <p:blipFill>
          <a:blip r:embed="rId2"/>
          <a:stretch>
            <a:fillRect/>
          </a:stretch>
        </p:blipFill>
        <p:spPr>
          <a:xfrm>
            <a:off x="0" y="0"/>
            <a:ext cx="12192000" cy="6858000"/>
          </a:xfrm>
          <a:prstGeom prst="rect">
            <a:avLst/>
          </a:prstGeom>
        </p:spPr>
      </p:pic>
      <p:sp>
        <p:nvSpPr>
          <p:cNvPr id="402" name="appendix_label"/>
          <p:cNvSpPr txBox="1"/>
          <p:nvPr/>
        </p:nvSpPr>
        <p:spPr>
          <a:xfrm>
            <a:off x="508000" y="500000"/>
            <a:ext cx="3000000" cy="380000"/>
          </a:xfrm>
          <a:prstGeom prst="rect">
            <a:avLst/>
          </a:prstGeom>
          <a:solidFill>
            <a:srgbClr val="935739"/>
          </a:solidFill>
          <a:ln>
            <a:noFill/>
          </a:ln>
        </p:spPr>
        <p:txBody>
          <a:bodyPr wrap="square" lIns="76200" tIns="38100" rIns="76200" bIns="38100" anchor="ctr"/>
          <a:lstStyle/>
          <a:p>
            <a:pPr algn="ctr">
              <a:buNone/>
            </a:pPr>
            <a:r>
              <a:rPr lang="en-US" sz="1400" b="1" dirty="0">
                <a:solidFill>
                  <a:srgbClr val="FFFFFF"/>
                </a:solidFill>
                <a:latin typeface="Calibri"/>
              </a:rPr>
              <a:t>APPENDIX · Q&amp;A BACKUP</a:t>
            </a:r>
          </a:p>
        </p:txBody>
      </p:sp>
      <p:sp>
        <p:nvSpPr>
          <p:cNvPr id="403" name="Title"/>
          <p:cNvSpPr>
            <a:spLocks noGrp="1"/>
          </p:cNvSpPr>
          <p:nvPr>
            <p:ph type="title"/>
          </p:nvPr>
        </p:nvSpPr>
        <p:spPr>
          <a:xfrm>
            <a:off x="508000" y="934720"/>
            <a:ext cx="11176000" cy="711200"/>
          </a:xfrm>
        </p:spPr>
        <p:txBody>
          <a:bodyPr wrap="square" lIns="76200" tIns="38100" rIns="76200" bIns="38100" anchor="ctr"/>
          <a:lstStyle/>
          <a:p>
            <a:pPr algn="l">
              <a:buNone/>
            </a:pPr>
            <a:r>
              <a:rPr lang="en-US" sz="2800" b="1" dirty="0">
                <a:solidFill>
                  <a:srgbClr val="1F1F1F"/>
                </a:solidFill>
                <a:latin typeface="Calibri"/>
              </a:rPr>
              <a:t>Q: When and how will RPM-to-velocity calibration be completed?</a:t>
            </a:r>
          </a:p>
        </p:txBody>
      </p:sp>
      <p:sp>
        <p:nvSpPr>
          <p:cNvPr id="404" name="subtitle"/>
          <p:cNvSpPr txBox="1"/>
          <p:nvPr/>
        </p:nvSpPr>
        <p:spPr>
          <a:xfrm>
            <a:off x="508000" y="1530640"/>
            <a:ext cx="11176000" cy="340000"/>
          </a:xfrm>
          <a:prstGeom prst="rect">
            <a:avLst/>
          </a:prstGeom>
          <a:noFill/>
          <a:ln>
            <a:noFill/>
          </a:ln>
        </p:spPr>
        <p:txBody>
          <a:bodyPr wrap="square" lIns="76200" tIns="0" rIns="76200" bIns="0" anchor="ctr"/>
          <a:lstStyle/>
          <a:p>
            <a:pPr algn="l">
              <a:buNone/>
            </a:pPr>
            <a:r>
              <a:rPr lang="en-US" sz="1700" b="0" i="1" dirty="0">
                <a:solidFill>
                  <a:srgbClr val="935739"/>
                </a:solidFill>
                <a:latin typeface="Arial"/>
              </a:rPr>
              <a:t>Protocol designed (Section 6.4.3) — Doppler radar or high-speed camera approach</a:t>
            </a:r>
          </a:p>
        </p:txBody>
      </p:sp>
      <p:sp>
        <p:nvSpPr>
          <p:cNvPr id="405" name="content"/>
          <p:cNvSpPr txBox="1"/>
          <p:nvPr/>
        </p:nvSpPr>
        <p:spPr>
          <a:xfrm>
            <a:off x="508000" y="1887960"/>
            <a:ext cx="11176000" cy="4050000"/>
          </a:xfrm>
          <a:prstGeom prst="rect">
            <a:avLst/>
          </a:prstGeom>
          <a:noFill/>
          <a:ln>
            <a:noFill/>
          </a:ln>
        </p:spPr>
        <p:txBody>
          <a:bodyPr wrap="square" lIns="76200" tIns="76200" rIns="76200" bIns="76200" anchor="t"/>
          <a:lstStyle/>
          <a:p>
            <a:pPr algn="l">
              <a:spcBef>
                <a:spcPts val="400"/>
              </a:spcBef>
              <a:buNone/>
            </a:pPr>
            <a:r>
              <a:rPr lang="en-US" sz="1900" b="1" dirty="0">
                <a:solidFill>
                  <a:srgbClr val="935739"/>
                </a:solidFill>
                <a:latin typeface="Arial"/>
              </a:rPr>
              <a:t> Current state</a:t>
            </a:r>
          </a:p>
          <a:p>
            <a:pPr marL="228600" indent="-228600">
              <a:spcBef>
                <a:spcPts val="400"/>
              </a:spcBef>
              <a:buFont typeface="Arial"/>
              <a:buChar char="▸"/>
            </a:pPr>
            <a:r>
              <a:rPr lang="en-US" sz="1800" b="0" dirty="0">
                <a:solidFill>
                  <a:srgbClr val="2A231F"/>
                </a:solidFill>
                <a:latin typeface="Arial"/>
              </a:rPr>
              <a:t> Ballistic solver currently uses an analytic RPM-to-velocity model (theoretical relationship)</a:t>
            </a:r>
          </a:p>
          <a:p>
            <a:pPr marL="228600" indent="-228600">
              <a:spcBef>
                <a:spcPts val="400"/>
              </a:spcBef>
              <a:buFont typeface="Arial"/>
              <a:buChar char="▸"/>
            </a:pPr>
            <a:r>
              <a:rPr lang="en-US" sz="1800" b="0" dirty="0">
                <a:solidFill>
                  <a:srgbClr val="2A231F"/>
                </a:solidFill>
                <a:latin typeface="Arial"/>
              </a:rPr>
              <a:t> No empirical ground-truth mapping yet: RPM commanded vs. actual ball exit speed</a:t>
            </a:r>
          </a:p>
          <a:p>
            <a:pPr marL="228600" indent="-228600">
              <a:spcBef>
                <a:spcPts val="400"/>
              </a:spcBef>
              <a:buFont typeface="Arial"/>
              <a:buChar char="▸"/>
            </a:pPr>
            <a:r>
              <a:rPr lang="en-US" sz="1800" b="0" dirty="0">
                <a:solidFill>
                  <a:srgbClr val="2A231F"/>
                </a:solidFill>
                <a:latin typeface="Arial"/>
              </a:rPr>
              <a:t> This is listed as the #2 future work item after closed-loop moving-target firing</a:t>
            </a:r>
          </a:p>
          <a:p>
            <a:pPr algn="l">
              <a:spcBef>
                <a:spcPts val="400"/>
              </a:spcBef>
              <a:buNone/>
            </a:pPr>
            <a:r>
              <a:rPr lang="en-US" sz="1900" b="1" dirty="0">
                <a:solidFill>
                  <a:srgbClr val="935739"/>
                </a:solidFill>
                <a:latin typeface="Arial"/>
              </a:rPr>
              <a:t> Planned calibration protocol (Section 6.4.3)</a:t>
            </a:r>
          </a:p>
          <a:p>
            <a:pPr marL="228600" indent="-228600">
              <a:spcBef>
                <a:spcPts val="400"/>
              </a:spcBef>
              <a:buFont typeface="Arial"/>
              <a:buChar char="▸"/>
            </a:pPr>
            <a:r>
              <a:rPr lang="en-US" sz="1800" b="0" dirty="0">
                <a:solidFill>
                  <a:srgbClr val="2A231F"/>
                </a:solidFill>
                <a:latin typeface="Arial"/>
              </a:rPr>
              <a:t> Option A: Doppler radar gun — direct ball exit speed measurement per RPM setting</a:t>
            </a:r>
          </a:p>
          <a:p>
            <a:pPr marL="228600" indent="-228600">
              <a:spcBef>
                <a:spcPts val="400"/>
              </a:spcBef>
              <a:buFont typeface="Arial"/>
              <a:buChar char="▸"/>
            </a:pPr>
            <a:r>
              <a:rPr lang="en-US" sz="1800" b="0" dirty="0">
                <a:solidFill>
                  <a:srgbClr val="2A231F"/>
                </a:solidFill>
                <a:latin typeface="Arial"/>
              </a:rPr>
              <a:t> Option B: High-speed camera (240+ fps) — pixel-tracking ball over known distance</a:t>
            </a:r>
          </a:p>
          <a:p>
            <a:pPr marL="228600" indent="-228600">
              <a:spcBef>
                <a:spcPts val="400"/>
              </a:spcBef>
              <a:buFont typeface="Arial"/>
              <a:buChar char="▸"/>
            </a:pPr>
            <a:r>
              <a:rPr lang="en-US" sz="1800" b="0" dirty="0">
                <a:solidFill>
                  <a:srgbClr val="2A231F"/>
                </a:solidFill>
                <a:latin typeface="Arial"/>
              </a:rPr>
              <a:t> 50-100 shots across RPM range (0, 500, 1000, 1500, 2000 RPM per motor)</a:t>
            </a:r>
          </a:p>
          <a:p>
            <a:pPr marL="228600" indent="-228600">
              <a:spcBef>
                <a:spcPts val="400"/>
              </a:spcBef>
              <a:buFont typeface="Arial"/>
              <a:buChar char="▸"/>
            </a:pPr>
            <a:r>
              <a:rPr lang="en-US" sz="1800" b="0" dirty="0">
                <a:solidFill>
                  <a:srgbClr val="2A231F"/>
                </a:solidFill>
                <a:latin typeface="Arial"/>
              </a:rPr>
              <a:t> Fit polynomial or lookup table: commanded RPM → measured exit speed (m/s)</a:t>
            </a:r>
          </a:p>
          <a:p>
            <a:pPr algn="l">
              <a:spcBef>
                <a:spcPts val="400"/>
              </a:spcBef>
              <a:buNone/>
            </a:pPr>
            <a:r>
              <a:rPr lang="en-US" sz="1900" b="1" dirty="0">
                <a:solidFill>
                  <a:srgbClr val="935739"/>
                </a:solidFill>
                <a:latin typeface="Arial"/>
              </a:rPr>
              <a:t> Impact on current results</a:t>
            </a:r>
          </a:p>
          <a:p>
            <a:pPr marL="228600" indent="-228600">
              <a:spcBef>
                <a:spcPts val="400"/>
              </a:spcBef>
              <a:buFont typeface="Arial"/>
              <a:buChar char="▸"/>
            </a:pPr>
            <a:r>
              <a:rPr lang="en-US" sz="1800" b="0" dirty="0">
                <a:solidFill>
                  <a:srgbClr val="2A231F"/>
                </a:solidFill>
                <a:latin typeface="Arial"/>
              </a:rPr>
              <a:t> Current ball accuracy (95.17 mm) is achieved WITHOUT empirical calibration</a:t>
            </a:r>
          </a:p>
          <a:p>
            <a:pPr marL="228600" indent="-228600">
              <a:spcBef>
                <a:spcPts val="400"/>
              </a:spcBef>
              <a:buFont typeface="Arial"/>
              <a:buChar char="▸"/>
            </a:pPr>
            <a:r>
              <a:rPr lang="en-US" sz="1800" b="0" dirty="0">
                <a:solidFill>
                  <a:srgbClr val="2A231F"/>
                </a:solidFill>
                <a:latin typeface="Arial"/>
              </a:rPr>
              <a:t> Empirical calibration expected to reduce ballistic error further — accuracy will improve</a:t>
            </a:r>
          </a:p>
          <a:p>
            <a:pPr marL="228600" indent="-228600">
              <a:spcBef>
                <a:spcPts val="400"/>
              </a:spcBef>
              <a:buFont typeface="Arial"/>
              <a:buChar char="▸"/>
            </a:pPr>
            <a:r>
              <a:rPr lang="en-US" sz="1800" b="0" dirty="0">
                <a:solidFill>
                  <a:srgbClr val="2A231F"/>
                </a:solidFill>
                <a:latin typeface="Arial"/>
              </a:rPr>
              <a:t> Safety clamps on RPM (firmware + Python) remain regardless of calibration state</a:t>
            </a:r>
          </a:p>
        </p:txBody>
      </p:sp>
      <p:sp>
        <p:nvSpPr>
          <p:cNvPr id="406" name="takeaway_bar"/>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407" name="takeaway_text"/>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500" b="0" i="1" dirty="0">
                <a:solidFill>
                  <a:srgbClr val="FFFFFF"/>
                </a:solidFill>
                <a:latin typeface="Arial"/>
              </a:rPr>
              <a:t>Answer: protocol designed (Section 6.4.3), not yet executed. Doppler radar or high-speed camera approach. Current 95.17 mm accuracy is achieved without it — empirical calibration will improve results further.</a:t>
            </a:r>
          </a:p>
        </p:txBody>
      </p:sp>
      <p:sp>
        <p:nvSpPr>
          <p:cNvPr id="408" name="seds_label"/>
          <p:cNvSpPr/>
          <p:nvPr/>
        </p:nvSpPr>
        <p:spPr>
          <a:xfrm>
            <a:off x="10363200" y="137160"/>
            <a:ext cx="1645920" cy="320040"/>
          </a:xfrm>
          <a:prstGeom prst="rect">
            <a:avLst/>
          </a:prstGeom>
          <a:noFill/>
          <a:ln>
            <a:noFill/>
          </a:ln>
        </p:spPr>
        <p:txBody>
          <a:bodyPr wrap="none" rtlCol="0" anchor="ctr"/>
          <a:lstStyle/>
          <a:p>
            <a:pPr algn="r">
              <a:defRPr sz="1000" b="1">
                <a:solidFill>
                  <a:srgbClr val="8A8A8A"/>
                </a:solidFill>
                <a:latin typeface="Calibri"/>
              </a:defRPr>
            </a:pPr>
            <a:r>
              <a:rPr dirty="0"/>
              <a:t>SEDS · 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141" name="BottomBar"/>
          <p:cNvSpPr/>
          <p:nvPr/>
        </p:nvSpPr>
        <p:spPr>
          <a:xfrm>
            <a:off x="0" y="6537960"/>
            <a:ext cx="12192000" cy="320040"/>
          </a:xfrm>
          <a:prstGeom prst="rect">
            <a:avLst/>
          </a:prstGeom>
          <a:solidFill>
            <a:srgbClr val="F5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0" name="NUThemeBackground" descr="nu_theme-2.png"/>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47B634-81FA-4540-CC47-DAD39BDB980A}"/>
              </a:ext>
            </a:extLst>
          </p:cNvPr>
          <p:cNvSpPr>
            <a:spLocks noGrp="1"/>
          </p:cNvSpPr>
          <p:nvPr>
            <p:ph type="title"/>
          </p:nvPr>
        </p:nvSpPr>
        <p:spPr>
          <a:xfrm>
            <a:off x="508000" y="861060"/>
            <a:ext cx="11176000" cy="711200"/>
          </a:xfrm>
        </p:spPr>
        <p:txBody>
          <a:bodyPr wrap="square" lIns="76200" tIns="38100" rIns="76200" bIns="38100" anchor="ctr"/>
          <a:lstStyle/>
          <a:p>
            <a:pPr algn="l">
              <a:buNone/>
            </a:pPr>
            <a:r>
              <a:rPr sz="3200" b="1">
                <a:solidFill>
                  <a:srgbClr val="1F1F1F"/>
                </a:solidFill>
                <a:latin typeface="Calibri"/>
              </a:rPr>
              <a:t>A5 · Firmware command excerpt</a:t>
            </a:r>
          </a:p>
        </p:txBody>
      </p:sp>
      <p:sp>
        <p:nvSpPr>
          <p:cNvPr id="101" name="t101"/>
          <p:cNvSpPr txBox="1"/>
          <p:nvPr/>
        </p:nvSpPr>
        <p:spPr>
          <a:xfrm>
            <a:off x="457200" y="1623430"/>
            <a:ext cx="11176000" cy="457200"/>
          </a:xfrm>
          <a:prstGeom prst="rect">
            <a:avLst/>
          </a:prstGeom>
          <a:noFill/>
          <a:ln>
            <a:noFill/>
          </a:ln>
        </p:spPr>
        <p:txBody>
          <a:bodyPr wrap="square" lIns="76200" tIns="38100" rIns="76200" bIns="38100" anchor="ctr"/>
          <a:lstStyle/>
          <a:p>
            <a:pPr algn="l">
              <a:buNone/>
            </a:pPr>
            <a:r>
              <a:rPr sz="2200" b="1">
                <a:solidFill>
                  <a:srgbClr val="2A231F"/>
                </a:solidFill>
                <a:latin typeface="Arial"/>
              </a:rPr>
              <a:t>// control_12_full.ino</a:t>
            </a:r>
          </a:p>
          <a:p>
            <a:r>
              <a:rPr sz="2200" b="1">
                <a:solidFill>
                  <a:srgbClr val="2A231F"/>
                </a:solidFill>
                <a:latin typeface="Arial"/>
              </a:rPr>
              <a:t>void handle_set(){</a:t>
            </a:r>
          </a:p>
          <a:p>
            <a:r>
              <a:rPr sz="2200" b="1">
                <a:solidFill>
                  <a:srgbClr val="2A231F"/>
                </a:solidFill>
                <a:latin typeface="Arial"/>
              </a:rPr>
              <a:t>  // set &lt;v&gt; &lt;h&gt; &lt;wl&gt; &lt;wr&gt;</a:t>
            </a:r>
          </a:p>
          <a:p>
            <a:r>
              <a:rPr sz="2200" b="1">
                <a:solidFill>
                  <a:srgbClr val="2A231F"/>
                </a:solidFill>
                <a:latin typeface="Arial"/>
              </a:rPr>
              <a:t>  float v  = Serial.parseFloat();</a:t>
            </a:r>
          </a:p>
          <a:p>
            <a:r>
              <a:rPr sz="2200" b="1">
                <a:solidFill>
                  <a:srgbClr val="2A231F"/>
                </a:solidFill>
                <a:latin typeface="Arial"/>
              </a:rPr>
              <a:t>  float h  = Serial.parseFloat();</a:t>
            </a:r>
          </a:p>
          <a:p>
            <a:r>
              <a:rPr sz="2200" b="1">
                <a:solidFill>
                  <a:srgbClr val="2A231F"/>
                </a:solidFill>
                <a:latin typeface="Arial"/>
              </a:rPr>
              <a:t>  int   wl = Serial.parseInt();</a:t>
            </a:r>
          </a:p>
          <a:p>
            <a:r>
              <a:rPr sz="2200" b="1">
                <a:solidFill>
                  <a:srgbClr val="2A231F"/>
                </a:solidFill>
                <a:latin typeface="Arial"/>
              </a:rPr>
              <a:t>  int   wr = Serial.parseInt();</a:t>
            </a:r>
          </a:p>
          <a:p>
            <a:r>
              <a:rPr sz="2200" b="1">
                <a:solidFill>
                  <a:srgbClr val="2A231F"/>
                </a:solidFill>
                <a:latin typeface="Arial"/>
              </a:rPr>
              <a:t>  if(!armed) return;</a:t>
            </a:r>
          </a:p>
          <a:p>
            <a:r>
              <a:rPr sz="2200" b="1">
                <a:solidFill>
                  <a:srgbClr val="2A231F"/>
                </a:solidFill>
                <a:latin typeface="Arial"/>
              </a:rPr>
              <a:t>  clampAngle(v, h);</a:t>
            </a:r>
          </a:p>
          <a:p>
            <a:r>
              <a:rPr sz="2200" b="1">
                <a:solidFill>
                  <a:srgbClr val="2A231F"/>
                </a:solidFill>
                <a:latin typeface="Arial"/>
              </a:rPr>
              <a:t>  gateRPM(wl, wr);</a:t>
            </a:r>
          </a:p>
          <a:p>
            <a:r>
              <a:rPr sz="2200" b="1">
                <a:solidFill>
                  <a:srgbClr val="2A231F"/>
                </a:solidFill>
                <a:latin typeface="Arial"/>
              </a:rPr>
              <a:t>  target_v = v; target_h = h;</a:t>
            </a:r>
          </a:p>
          <a:p>
            <a:r>
              <a:rPr sz="2200" b="1">
                <a:solidFill>
                  <a:srgbClr val="2A231F"/>
                </a:solidFill>
                <a:latin typeface="Arial"/>
              </a:rPr>
              <a:t>}</a:t>
            </a:r>
          </a:p>
        </p:txBody>
      </p:sp>
      <p:sp>
        <p:nvSpPr>
          <p:cNvPr id="102" name="r102"/>
          <p:cNvSpPr/>
          <p:nvPr/>
        </p:nvSpPr>
        <p:spPr>
          <a:xfrm>
            <a:off x="508000" y="2159000"/>
            <a:ext cx="2540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3" name="t103"/>
          <p:cNvSpPr txBox="1"/>
          <p:nvPr/>
        </p:nvSpPr>
        <p:spPr>
          <a:xfrm>
            <a:off x="609600" y="2159000"/>
            <a:ext cx="2336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Course</a:t>
            </a:r>
          </a:p>
        </p:txBody>
      </p:sp>
      <p:sp>
        <p:nvSpPr>
          <p:cNvPr id="104" name="r104"/>
          <p:cNvSpPr/>
          <p:nvPr/>
        </p:nvSpPr>
        <p:spPr>
          <a:xfrm>
            <a:off x="3048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5" name="t105"/>
          <p:cNvSpPr txBox="1"/>
          <p:nvPr/>
        </p:nvSpPr>
        <p:spPr>
          <a:xfrm>
            <a:off x="3149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Concept used</a:t>
            </a:r>
          </a:p>
        </p:txBody>
      </p:sp>
      <p:sp>
        <p:nvSpPr>
          <p:cNvPr id="106" name="r106"/>
          <p:cNvSpPr/>
          <p:nvPr/>
        </p:nvSpPr>
        <p:spPr>
          <a:xfrm>
            <a:off x="7366000" y="2159000"/>
            <a:ext cx="4318000" cy="457200"/>
          </a:xfrm>
          <a:prstGeom prst="rect">
            <a:avLst/>
          </a:prstGeom>
          <a:solidFill>
            <a:srgbClr val="935739"/>
          </a:solidFill>
          <a:ln w="10160">
            <a:solidFill>
              <a:srgbClr val="935739"/>
            </a:solidFill>
          </a:ln>
        </p:spPr>
        <p:txBody>
          <a:bodyPr wrap="square" lIns="76200" tIns="38100" rIns="76200" bIns="38100" anchor="ctr"/>
          <a:lstStyle/>
          <a:p>
            <a:pPr algn="ctr"/>
            <a:endParaRPr lang="en-US"/>
          </a:p>
        </p:txBody>
      </p:sp>
      <p:sp>
        <p:nvSpPr>
          <p:cNvPr id="107" name="t107"/>
          <p:cNvSpPr txBox="1"/>
          <p:nvPr/>
        </p:nvSpPr>
        <p:spPr>
          <a:xfrm>
            <a:off x="7467600" y="2159000"/>
            <a:ext cx="4114800" cy="457200"/>
          </a:xfrm>
          <a:prstGeom prst="rect">
            <a:avLst/>
          </a:prstGeom>
          <a:noFill/>
          <a:ln>
            <a:noFill/>
          </a:ln>
        </p:spPr>
        <p:txBody>
          <a:bodyPr wrap="square" lIns="76200" tIns="38100" rIns="76200" bIns="38100" anchor="ctr"/>
          <a:lstStyle/>
          <a:p>
            <a:pPr algn="l">
              <a:buNone/>
            </a:pPr>
            <a:r>
              <a:rPr lang="en-US" sz="1500" b="1" dirty="0">
                <a:solidFill>
                  <a:srgbClr val="2A231F"/>
                </a:solidFill>
                <a:latin typeface="Arial"/>
              </a:rPr>
              <a:t>Evidence in thesis</a:t>
            </a:r>
          </a:p>
        </p:txBody>
      </p:sp>
      <p:sp>
        <p:nvSpPr>
          <p:cNvPr id="108" name="r108"/>
          <p:cNvSpPr/>
          <p:nvPr/>
        </p:nvSpPr>
        <p:spPr>
          <a:xfrm>
            <a:off x="508000" y="26162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09" name="t109"/>
          <p:cNvSpPr txBox="1"/>
          <p:nvPr/>
        </p:nvSpPr>
        <p:spPr>
          <a:xfrm>
            <a:off x="609600" y="26162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Signals &amp; Systems</a:t>
            </a:r>
          </a:p>
        </p:txBody>
      </p:sp>
      <p:sp>
        <p:nvSpPr>
          <p:cNvPr id="110" name="r110"/>
          <p:cNvSpPr/>
          <p:nvPr/>
        </p:nvSpPr>
        <p:spPr>
          <a:xfrm>
            <a:off x="3048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1" name="t111"/>
          <p:cNvSpPr txBox="1"/>
          <p:nvPr/>
        </p:nvSpPr>
        <p:spPr>
          <a:xfrm>
            <a:off x="3149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Kalman filter, EMA, frequency domain</a:t>
            </a:r>
          </a:p>
        </p:txBody>
      </p:sp>
      <p:sp>
        <p:nvSpPr>
          <p:cNvPr id="112" name="r112"/>
          <p:cNvSpPr/>
          <p:nvPr/>
        </p:nvSpPr>
        <p:spPr>
          <a:xfrm>
            <a:off x="7366000" y="26162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13" name="t113"/>
          <p:cNvSpPr txBox="1"/>
          <p:nvPr/>
        </p:nvSpPr>
        <p:spPr>
          <a:xfrm>
            <a:off x="7467600" y="26162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Per-joint CV Kalman; adaptive EMA tuning</a:t>
            </a:r>
          </a:p>
        </p:txBody>
      </p:sp>
      <p:sp>
        <p:nvSpPr>
          <p:cNvPr id="114" name="r114"/>
          <p:cNvSpPr/>
          <p:nvPr/>
        </p:nvSpPr>
        <p:spPr>
          <a:xfrm>
            <a:off x="508000" y="33274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5" name="t115"/>
          <p:cNvSpPr txBox="1"/>
          <p:nvPr/>
        </p:nvSpPr>
        <p:spPr>
          <a:xfrm>
            <a:off x="609600" y="33274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 Systems</a:t>
            </a:r>
          </a:p>
        </p:txBody>
      </p:sp>
      <p:sp>
        <p:nvSpPr>
          <p:cNvPr id="116" name="r116"/>
          <p:cNvSpPr/>
          <p:nvPr/>
        </p:nvSpPr>
        <p:spPr>
          <a:xfrm>
            <a:off x="3048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7" name="t117"/>
          <p:cNvSpPr txBox="1"/>
          <p:nvPr/>
        </p:nvSpPr>
        <p:spPr>
          <a:xfrm>
            <a:off x="3149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Closed-loop feedback, stability</a:t>
            </a:r>
          </a:p>
        </p:txBody>
      </p:sp>
      <p:sp>
        <p:nvSpPr>
          <p:cNvPr id="118" name="r118"/>
          <p:cNvSpPr/>
          <p:nvPr/>
        </p:nvSpPr>
        <p:spPr>
          <a:xfrm>
            <a:off x="7366000" y="33274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19" name="t119"/>
          <p:cNvSpPr txBox="1"/>
          <p:nvPr/>
        </p:nvSpPr>
        <p:spPr>
          <a:xfrm>
            <a:off x="7467600" y="33274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Supervisor → FSM → motor loop; stop paths</a:t>
            </a:r>
          </a:p>
        </p:txBody>
      </p:sp>
      <p:sp>
        <p:nvSpPr>
          <p:cNvPr id="120" name="r120"/>
          <p:cNvSpPr/>
          <p:nvPr/>
        </p:nvSpPr>
        <p:spPr>
          <a:xfrm>
            <a:off x="508000" y="40386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1" name="t121"/>
          <p:cNvSpPr txBox="1"/>
          <p:nvPr/>
        </p:nvSpPr>
        <p:spPr>
          <a:xfrm>
            <a:off x="609600" y="40386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Embedded Systems</a:t>
            </a:r>
          </a:p>
        </p:txBody>
      </p:sp>
      <p:sp>
        <p:nvSpPr>
          <p:cNvPr id="122" name="r122"/>
          <p:cNvSpPr/>
          <p:nvPr/>
        </p:nvSpPr>
        <p:spPr>
          <a:xfrm>
            <a:off x="3048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3" name="t123"/>
          <p:cNvSpPr txBox="1"/>
          <p:nvPr/>
        </p:nvSpPr>
        <p:spPr>
          <a:xfrm>
            <a:off x="3149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RTOS-like cooperative FSM, UART</a:t>
            </a:r>
          </a:p>
        </p:txBody>
      </p:sp>
      <p:sp>
        <p:nvSpPr>
          <p:cNvPr id="124" name="r124"/>
          <p:cNvSpPr/>
          <p:nvPr/>
        </p:nvSpPr>
        <p:spPr>
          <a:xfrm>
            <a:off x="7366000" y="40386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25" name="t125"/>
          <p:cNvSpPr txBox="1"/>
          <p:nvPr/>
        </p:nvSpPr>
        <p:spPr>
          <a:xfrm>
            <a:off x="7467600" y="40386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control_12_full.ino at 921,600 baud</a:t>
            </a:r>
          </a:p>
        </p:txBody>
      </p:sp>
      <p:sp>
        <p:nvSpPr>
          <p:cNvPr id="126" name="r126"/>
          <p:cNvSpPr/>
          <p:nvPr/>
        </p:nvSpPr>
        <p:spPr>
          <a:xfrm>
            <a:off x="508000" y="4749800"/>
            <a:ext cx="2540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7" name="t127"/>
          <p:cNvSpPr txBox="1"/>
          <p:nvPr/>
        </p:nvSpPr>
        <p:spPr>
          <a:xfrm>
            <a:off x="609600" y="47498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Computer Networks</a:t>
            </a:r>
          </a:p>
        </p:txBody>
      </p:sp>
      <p:sp>
        <p:nvSpPr>
          <p:cNvPr id="128" name="r128"/>
          <p:cNvSpPr/>
          <p:nvPr/>
        </p:nvSpPr>
        <p:spPr>
          <a:xfrm>
            <a:off x="3048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29" name="t129"/>
          <p:cNvSpPr txBox="1"/>
          <p:nvPr/>
        </p:nvSpPr>
        <p:spPr>
          <a:xfrm>
            <a:off x="3149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vs TCP, link-loss handling</a:t>
            </a:r>
          </a:p>
        </p:txBody>
      </p:sp>
      <p:sp>
        <p:nvSpPr>
          <p:cNvPr id="130" name="r130"/>
          <p:cNvSpPr/>
          <p:nvPr/>
        </p:nvSpPr>
        <p:spPr>
          <a:xfrm>
            <a:off x="7366000" y="4749800"/>
            <a:ext cx="4318000" cy="711200"/>
          </a:xfrm>
          <a:prstGeom prst="rect">
            <a:avLst/>
          </a:prstGeom>
          <a:solidFill>
            <a:srgbClr val="FBF8F5"/>
          </a:solidFill>
          <a:ln w="10160">
            <a:solidFill>
              <a:srgbClr val="935739"/>
            </a:solidFill>
          </a:ln>
        </p:spPr>
        <p:txBody>
          <a:bodyPr wrap="square" lIns="76200" tIns="38100" rIns="76200" bIns="38100" anchor="ctr"/>
          <a:lstStyle/>
          <a:p>
            <a:endParaRPr lang="en-US"/>
          </a:p>
        </p:txBody>
      </p:sp>
      <p:sp>
        <p:nvSpPr>
          <p:cNvPr id="131" name="t131"/>
          <p:cNvSpPr txBox="1"/>
          <p:nvPr/>
        </p:nvSpPr>
        <p:spPr>
          <a:xfrm>
            <a:off x="7467600" y="47498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UDP target broadcast + watchdog timeout</a:t>
            </a:r>
          </a:p>
        </p:txBody>
      </p:sp>
      <p:sp>
        <p:nvSpPr>
          <p:cNvPr id="132" name="r132"/>
          <p:cNvSpPr/>
          <p:nvPr/>
        </p:nvSpPr>
        <p:spPr>
          <a:xfrm>
            <a:off x="508000" y="5461000"/>
            <a:ext cx="2540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3" name="t133"/>
          <p:cNvSpPr txBox="1"/>
          <p:nvPr/>
        </p:nvSpPr>
        <p:spPr>
          <a:xfrm>
            <a:off x="609600" y="5461000"/>
            <a:ext cx="2336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Engineering Ethics</a:t>
            </a:r>
          </a:p>
        </p:txBody>
      </p:sp>
      <p:sp>
        <p:nvSpPr>
          <p:cNvPr id="134" name="r134"/>
          <p:cNvSpPr/>
          <p:nvPr/>
        </p:nvSpPr>
        <p:spPr>
          <a:xfrm>
            <a:off x="3048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5" name="t135"/>
          <p:cNvSpPr txBox="1"/>
          <p:nvPr/>
        </p:nvSpPr>
        <p:spPr>
          <a:xfrm>
            <a:off x="3149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Risk, safety, responsible deployment</a:t>
            </a:r>
          </a:p>
        </p:txBody>
      </p:sp>
      <p:sp>
        <p:nvSpPr>
          <p:cNvPr id="136" name="r136"/>
          <p:cNvSpPr/>
          <p:nvPr/>
        </p:nvSpPr>
        <p:spPr>
          <a:xfrm>
            <a:off x="7366000" y="5461000"/>
            <a:ext cx="4318000" cy="711200"/>
          </a:xfrm>
          <a:prstGeom prst="rect">
            <a:avLst/>
          </a:prstGeom>
          <a:solidFill>
            <a:srgbClr val="FFFFFF"/>
          </a:solidFill>
          <a:ln w="10160">
            <a:solidFill>
              <a:srgbClr val="935739"/>
            </a:solidFill>
          </a:ln>
        </p:spPr>
        <p:txBody>
          <a:bodyPr wrap="square" lIns="76200" tIns="38100" rIns="76200" bIns="38100" anchor="ctr"/>
          <a:lstStyle/>
          <a:p>
            <a:endParaRPr lang="en-US"/>
          </a:p>
        </p:txBody>
      </p:sp>
      <p:sp>
        <p:nvSpPr>
          <p:cNvPr id="137" name="t137"/>
          <p:cNvSpPr txBox="1"/>
          <p:nvPr/>
        </p:nvSpPr>
        <p:spPr>
          <a:xfrm>
            <a:off x="7467600" y="5461000"/>
            <a:ext cx="4114800" cy="711200"/>
          </a:xfrm>
          <a:prstGeom prst="rect">
            <a:avLst/>
          </a:prstGeom>
          <a:noFill/>
          <a:ln>
            <a:noFill/>
          </a:ln>
        </p:spPr>
        <p:txBody>
          <a:bodyPr wrap="square" lIns="76200" tIns="38100" rIns="76200" bIns="38100" anchor="ctr"/>
          <a:lstStyle/>
          <a:p>
            <a:pPr algn="l">
              <a:buNone/>
            </a:pPr>
            <a:r>
              <a:rPr lang="en-US" sz="1400" dirty="0">
                <a:solidFill>
                  <a:srgbClr val="2A231F"/>
                </a:solidFill>
                <a:latin typeface="Arial"/>
              </a:rPr>
              <a:t>ISO 12100 / 13849-1 / IEC 60204-1 alignment</a:t>
            </a:r>
          </a:p>
        </p:txBody>
      </p:sp>
      <p:sp>
        <p:nvSpPr>
          <p:cNvPr id="138" name="r138"/>
          <p:cNvSpPr/>
          <p:nvPr/>
        </p:nvSpPr>
        <p:spPr>
          <a:xfrm>
            <a:off x="0" y="6350000"/>
            <a:ext cx="12192000" cy="508000"/>
          </a:xfrm>
          <a:prstGeom prst="rect">
            <a:avLst/>
          </a:prstGeom>
          <a:solidFill>
            <a:srgbClr val="935739"/>
          </a:solidFill>
          <a:ln w="6350">
            <a:solidFill>
              <a:srgbClr val="935739"/>
            </a:solidFill>
          </a:ln>
        </p:spPr>
        <p:txBody>
          <a:bodyPr wrap="square" anchor="ctr"/>
          <a:lstStyle/>
          <a:p>
            <a:endParaRPr lang="en-US"/>
          </a:p>
        </p:txBody>
      </p:sp>
      <p:sp>
        <p:nvSpPr>
          <p:cNvPr id="139" name="t139"/>
          <p:cNvSpPr txBox="1"/>
          <p:nvPr/>
        </p:nvSpPr>
        <p:spPr>
          <a:xfrm>
            <a:off x="508000" y="6350000"/>
            <a:ext cx="11176000" cy="508000"/>
          </a:xfrm>
          <a:prstGeom prst="rect">
            <a:avLst/>
          </a:prstGeom>
          <a:noFill/>
          <a:ln>
            <a:noFill/>
          </a:ln>
        </p:spPr>
        <p:txBody>
          <a:bodyPr wrap="square" lIns="76200" tIns="38100" rIns="76200" bIns="38100" anchor="ctr"/>
          <a:lstStyle/>
          <a:p>
            <a:pPr algn="l">
              <a:buNone/>
            </a:pPr>
            <a:r>
              <a:rPr lang="en-US" sz="1600" i="1" dirty="0">
                <a:solidFill>
                  <a:srgbClr val="2A231F"/>
                </a:solidFill>
                <a:latin typeface="Arial"/>
              </a:rPr>
              <a:t>Use only if asked which courses prepared you for this.</a:t>
            </a:r>
          </a:p>
        </p:txBody>
      </p:sp>
      <p:sp>
        <p:nvSpPr>
          <p:cNvPr id="143" name="Rectangle 142"/>
          <p:cNvSpPr/>
          <p:nvPr/>
        </p:nvSpPr>
        <p:spPr>
          <a:xfrm>
            <a:off x="10363200" y="137160"/>
            <a:ext cx="164592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r">
              <a:defRPr sz="1000" b="1">
                <a:solidFill>
                  <a:srgbClr val="8A8A8A"/>
                </a:solidFill>
                <a:latin typeface="Calibri"/>
              </a:defRPr>
            </a:pPr>
            <a:r>
              <a:t>SEDS · NU</a:t>
            </a:r>
          </a:p>
        </p:txBody>
      </p:sp>
      <p:sp>
        <p:nvSpPr>
          <p:cNvPr id="144" name="Rectangle 143"/>
          <p:cNvSpPr/>
          <p:nvPr/>
        </p:nvSpPr>
        <p:spPr>
          <a:xfrm>
            <a:off x="10363200" y="457200"/>
            <a:ext cx="1371600" cy="365760"/>
          </a:xfrm>
          <a:prstGeom prst="rect">
            <a:avLst/>
          </a:prstGeom>
          <a:solidFill>
            <a:srgbClr val="E88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APPENDIX</a:t>
            </a:r>
          </a:p>
        </p:txBody>
      </p:sp>
      <p:sp>
        <p:nvSpPr>
          <p:cNvPr id="145" name="Rectangle 144"/>
          <p:cNvSpPr/>
          <p:nvPr/>
        </p:nvSpPr>
        <p:spPr>
          <a:xfrm>
            <a:off x="457200" y="6126480"/>
            <a:ext cx="10972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i="1">
                <a:solidFill>
                  <a:srgbClr val="8A8A8A"/>
                </a:solidFill>
                <a:latin typeface="Calibri"/>
              </a:defRPr>
            </a:pPr>
            <a:r>
              <a:t>[Hidden slide — unhide only if panel asks a relevant question]</a:t>
            </a:r>
          </a:p>
        </p:txBody>
      </p:sp>
      <p:sp>
        <p:nvSpPr>
          <p:cNvPr id="3" name="r100">
            <a:extLst>
              <a:ext uri="{FF2B5EF4-FFF2-40B4-BE49-F238E27FC236}">
                <a16:creationId xmlns:a16="http://schemas.microsoft.com/office/drawing/2014/main" id="{870A77FA-55AB-2C84-A9B7-85EE9BCEEE0F}"/>
              </a:ext>
            </a:extLst>
          </p:cNvPr>
          <p:cNvSpPr/>
          <p:nvPr/>
        </p:nvSpPr>
        <p:spPr>
          <a:xfrm>
            <a:off x="508000" y="1480406"/>
            <a:ext cx="4976496" cy="74444"/>
          </a:xfrm>
          <a:prstGeom prst="rect">
            <a:avLst/>
          </a:prstGeom>
          <a:solidFill>
            <a:srgbClr val="935739"/>
          </a:solidFill>
          <a:ln>
            <a:noFill/>
          </a:ln>
        </p:spPr>
        <p:txBody>
          <a:bodyPr wrap="square" anchor="ctr"/>
          <a:lstStyle/>
          <a:p>
            <a:endParaRPr lang="en-US"/>
          </a:p>
        </p:txBody>
      </p:sp>
    </p:spTree>
  </p:cSld>
  <p:clrMapOvr>
    <a:masterClrMapping/>
  </p:clrMapOvr>
</p:sld>
</file>

<file path=ppt/theme/theme1.xml><?xml version="1.0" encoding="utf-8"?>
<a:theme xmlns:a="http://schemas.openxmlformats.org/drawingml/2006/main" name="Office Theme [1776860679598]">
  <a:themeElements>
    <a:clrScheme name="Office">
      <a:dk1>
        <a:srgbClr val="1F1F1F"/>
      </a:dk1>
      <a:lt1>
        <a:srgbClr val="FFFFFF"/>
      </a:lt1>
      <a:dk2>
        <a:srgbClr val="1F1F1F"/>
      </a:dk2>
      <a:lt2>
        <a:srgbClr val="F5F2ED"/>
      </a:lt2>
      <a:accent1>
        <a:srgbClr val="E88B40"/>
      </a:accent1>
      <a:accent2>
        <a:srgbClr val="8A8A8A"/>
      </a:accent2>
      <a:accent3>
        <a:srgbClr val="F5F2ED"/>
      </a:accent3>
      <a:accent4>
        <a:srgbClr val="E88B40"/>
      </a:accent4>
      <a:accent5>
        <a:srgbClr val="8A8A8A"/>
      </a:accent5>
      <a:accent6>
        <a:srgbClr val="1F1F1F"/>
      </a:accent6>
      <a:hlink>
        <a:srgbClr val="467886"/>
      </a:hlink>
      <a:folHlink>
        <a:srgbClr val="96607D"/>
      </a:folHlink>
    </a:clrScheme>
    <a:fontScheme name="Office">
      <a:majorFont>
        <a:latin typeface="Inter"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4FA760-3D64-4F25-90A9-3FE5D1EC8637}">
  <we:reference id="WA200010001" version="1.0.0.1" store="Omex" storeType="OMEX"/>
  <we:alternateReferences>
    <we:reference id="WA200010001" version="1.0.0.1" store="WA200010001" storeType="OMEX"/>
  </we:alternateReferences>
  <we:properties>
    <we:property name="claude.fileId" value="&quot;5920ec40-e389-470f-84dd-2198c41ad1f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674</TotalTime>
  <Words>4763</Words>
  <Application>Microsoft Office PowerPoint</Application>
  <PresentationFormat>Widescreen</PresentationFormat>
  <Paragraphs>460</Paragraphs>
  <Slides>22</Slides>
  <Notes>18</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Calibri</vt:lpstr>
      <vt:lpstr>Consolas</vt:lpstr>
      <vt:lpstr>Inter</vt:lpstr>
      <vt:lpstr>Office Theme [1776860679598]</vt:lpstr>
      <vt:lpstr>Pose-Guided Predictive Ballistics with Multi-Camera 3D Tracking</vt:lpstr>
      <vt:lpstr>Motivation</vt:lpstr>
      <vt:lpstr>Problem Statement &amp; Objectives</vt:lpstr>
      <vt:lpstr>Background &amp; Research Gap</vt:lpstr>
      <vt:lpstr>Key Technical Components</vt:lpstr>
      <vt:lpstr>Proposed System — Pose-to-Aim Integration</vt:lpstr>
      <vt:lpstr>Architecture &amp; Pipeline</vt:lpstr>
      <vt:lpstr>Hardware Implementation</vt:lpstr>
      <vt:lpstr>Software Implementation</vt:lpstr>
      <vt:lpstr>Calibration &amp; Geometry</vt:lpstr>
      <vt:lpstr>Methodology &amp; Experiments</vt:lpstr>
      <vt:lpstr>Key Results — Accuracy, Safety, Runtime</vt:lpstr>
      <vt:lpstr>Limitations &amp; Challenges</vt:lpstr>
      <vt:lpstr>Conclusions &amp; Contributions</vt:lpstr>
      <vt:lpstr>Future Work + Ethics &amp; Standards</vt:lpstr>
      <vt:lpstr>A1 · Live Demo</vt:lpstr>
      <vt:lpstr>A2 · 10-Layer Safety Stack</vt:lpstr>
      <vt:lpstr>A3 · End-to-End Latency Budget</vt:lpstr>
      <vt:lpstr>A4 · ECE Curriculum Mapping</vt:lpstr>
      <vt:lpstr>Q: Why not use Intel RealSense depth cameras?</vt:lpstr>
      <vt:lpstr>Q: How does the Kalman filter handle sudden position jumps?</vt:lpstr>
      <vt:lpstr>Q: When and how will RPM-to-velocity calibration be completed?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Dana Askar</dc:creator>
  <cp:lastModifiedBy>Dana Askar</cp:lastModifiedBy>
  <cp:revision>18</cp:revision>
  <dcterms:created xsi:type="dcterms:W3CDTF">2026-04-22T12:20:04Z</dcterms:created>
  <dcterms:modified xsi:type="dcterms:W3CDTF">2026-04-27T07:13:03Z</dcterms:modified>
</cp:coreProperties>
</file>