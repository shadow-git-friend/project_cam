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301" r:id="rId2"/>
    <p:sldId id="262" r:id="rId3"/>
    <p:sldId id="280" r:id="rId4"/>
    <p:sldId id="281" r:id="rId5"/>
    <p:sldId id="311" r:id="rId6"/>
    <p:sldId id="302" r:id="rId7"/>
    <p:sldId id="303" r:id="rId8"/>
    <p:sldId id="304" r:id="rId9"/>
    <p:sldId id="285" r:id="rId10"/>
    <p:sldId id="305" r:id="rId11"/>
    <p:sldId id="306" r:id="rId12"/>
    <p:sldId id="288" r:id="rId13"/>
    <p:sldId id="307" r:id="rId14"/>
    <p:sldId id="309" r:id="rId15"/>
    <p:sldId id="310" r:id="rId16"/>
    <p:sldId id="297" r:id="rId17"/>
    <p:sldId id="298" r:id="rId18"/>
    <p:sldId id="299" r:id="rId19"/>
    <p:sldId id="300" r:id="rId20"/>
    <p:sldId id="314" r:id="rId21"/>
    <p:sldId id="315" r:id="rId22"/>
    <p:sldId id="316"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57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36" autoAdjust="0"/>
  </p:normalViewPr>
  <p:slideViewPr>
    <p:cSldViewPr snapToGrid="0">
      <p:cViewPr>
        <p:scale>
          <a:sx n="75" d="100"/>
          <a:sy n="75" d="100"/>
        </p:scale>
        <p:origin x="946" y="-110"/>
      </p:cViewPr>
      <p:guideLst/>
    </p:cSldViewPr>
  </p:slideViewPr>
  <p:notesTextViewPr>
    <p:cViewPr>
      <p:scale>
        <a:sx n="1" d="1"/>
        <a:sy n="1" d="1"/>
      </p:scale>
      <p:origin x="0" y="-379"/>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1F381-1BEC-44C9-802F-F6C32D6F5B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2AF866-105B-4B75-9911-C1BE08BB98DD}">
      <dgm:prSet/>
      <dgm:spPr/>
      <dgm:t>
        <a:bodyPr/>
        <a:lstStyle/>
        <a:p>
          <a:r>
            <a:rPr lang="en-US" dirty="0"/>
            <a:t>Inherited platform:</a:t>
          </a:r>
          <a:br>
            <a:rPr lang="en-US" dirty="0"/>
          </a:br>
          <a:r>
            <a:rPr lang="en-US" dirty="0"/>
            <a:t>2-DOF BLM, flywheels, ESP32, pan/tilt</a:t>
          </a:r>
        </a:p>
      </dgm:t>
    </dgm:pt>
    <dgm:pt modelId="{38D5F7EB-B92B-46B7-ADF1-F65AF42C1C9B}" type="parTrans" cxnId="{E4EABCD0-4A25-490B-9B3A-83408AEA6A3E}">
      <dgm:prSet/>
      <dgm:spPr/>
      <dgm:t>
        <a:bodyPr/>
        <a:lstStyle/>
        <a:p>
          <a:endParaRPr lang="en-US"/>
        </a:p>
      </dgm:t>
    </dgm:pt>
    <dgm:pt modelId="{4652E74C-D138-466A-9827-3FE24D6C7D3F}" type="sibTrans" cxnId="{E4EABCD0-4A25-490B-9B3A-83408AEA6A3E}">
      <dgm:prSet/>
      <dgm:spPr/>
      <dgm:t>
        <a:bodyPr/>
        <a:lstStyle/>
        <a:p>
          <a:endParaRPr lang="en-US"/>
        </a:p>
      </dgm:t>
    </dgm:pt>
    <dgm:pt modelId="{18E5211F-4F3C-4607-A999-D8FC9B3CF931}">
      <dgm:prSet/>
      <dgm:spPr/>
      <dgm:t>
        <a:bodyPr/>
        <a:lstStyle/>
        <a:p>
          <a:r>
            <a:rPr lang="en-US" b="1" dirty="0"/>
            <a:t>Thesis contribution:</a:t>
          </a:r>
          <a:br>
            <a:rPr lang="en-US" dirty="0"/>
          </a:br>
          <a:r>
            <a:rPr lang="en-US" dirty="0"/>
            <a:t>4-camera perception, 3D triangulation, targeting</a:t>
          </a:r>
        </a:p>
      </dgm:t>
    </dgm:pt>
    <dgm:pt modelId="{E395C71F-22A0-4FC6-AB57-D946FD4BC4F6}" type="parTrans" cxnId="{BB7C11C4-997F-47B6-A3D8-5D02A6FE8330}">
      <dgm:prSet/>
      <dgm:spPr/>
      <dgm:t>
        <a:bodyPr/>
        <a:lstStyle/>
        <a:p>
          <a:endParaRPr lang="en-US"/>
        </a:p>
      </dgm:t>
    </dgm:pt>
    <dgm:pt modelId="{13244B90-8CA4-48DF-A961-F2E0C4826FF6}" type="sibTrans" cxnId="{BB7C11C4-997F-47B6-A3D8-5D02A6FE8330}">
      <dgm:prSet/>
      <dgm:spPr/>
      <dgm:t>
        <a:bodyPr/>
        <a:lstStyle/>
        <a:p>
          <a:endParaRPr lang="en-US"/>
        </a:p>
      </dgm:t>
    </dgm:pt>
    <dgm:pt modelId="{41ABF383-7B8A-4C90-BF4D-13BB3F1E37F9}">
      <dgm:prSet/>
      <dgm:spPr/>
      <dgm:t>
        <a:bodyPr/>
        <a:lstStyle/>
        <a:p>
          <a:r>
            <a:rPr lang="en-US" b="1" dirty="0"/>
            <a:t>Core integration:</a:t>
          </a:r>
          <a:br>
            <a:rPr lang="en-US" dirty="0"/>
          </a:br>
          <a:r>
            <a:rPr lang="en-US" dirty="0"/>
            <a:t>pose → prediction → ballistics → safety gate</a:t>
          </a:r>
        </a:p>
      </dgm:t>
    </dgm:pt>
    <dgm:pt modelId="{7BF876C3-37CA-46E8-815A-AFDCE936083D}" type="parTrans" cxnId="{C1014430-0EFB-468D-B1A5-7D812A09D6A2}">
      <dgm:prSet/>
      <dgm:spPr/>
      <dgm:t>
        <a:bodyPr/>
        <a:lstStyle/>
        <a:p>
          <a:endParaRPr lang="en-US"/>
        </a:p>
      </dgm:t>
    </dgm:pt>
    <dgm:pt modelId="{EC188E65-E45B-46EC-8D90-043242EDA0F2}" type="sibTrans" cxnId="{C1014430-0EFB-468D-B1A5-7D812A09D6A2}">
      <dgm:prSet/>
      <dgm:spPr/>
      <dgm:t>
        <a:bodyPr/>
        <a:lstStyle/>
        <a:p>
          <a:endParaRPr lang="en-US"/>
        </a:p>
      </dgm:t>
    </dgm:pt>
    <dgm:pt modelId="{B4B54CDD-9E17-4306-A3E0-2600939F7CF0}">
      <dgm:prSet/>
      <dgm:spPr/>
      <dgm:t>
        <a:bodyPr/>
        <a:lstStyle/>
        <a:p>
          <a:r>
            <a:rPr lang="en-US" b="1" dirty="0"/>
            <a:t>Validated scope:</a:t>
          </a:r>
          <a:br>
            <a:rPr lang="en-US" dirty="0"/>
          </a:br>
          <a:r>
            <a:rPr lang="en-US" dirty="0"/>
            <a:t>static/live-aim tests; moving-target firing pending</a:t>
          </a:r>
        </a:p>
      </dgm:t>
    </dgm:pt>
    <dgm:pt modelId="{E1F8BD44-6C22-4D2B-8609-FCF586D53A2C}" type="parTrans" cxnId="{1F9C15D2-9F55-437B-B30B-B2949A6BC448}">
      <dgm:prSet/>
      <dgm:spPr/>
      <dgm:t>
        <a:bodyPr/>
        <a:lstStyle/>
        <a:p>
          <a:endParaRPr lang="en-US"/>
        </a:p>
      </dgm:t>
    </dgm:pt>
    <dgm:pt modelId="{FC2EDE68-AF01-4DE4-A21B-F4DBD48A302E}" type="sibTrans" cxnId="{1F9C15D2-9F55-437B-B30B-B2949A6BC448}">
      <dgm:prSet/>
      <dgm:spPr/>
      <dgm:t>
        <a:bodyPr/>
        <a:lstStyle/>
        <a:p>
          <a:endParaRPr lang="en-US"/>
        </a:p>
      </dgm:t>
    </dgm:pt>
    <dgm:pt modelId="{D0F39B36-0C14-4207-93FB-25657E71FE2F}" type="pres">
      <dgm:prSet presAssocID="{2891F381-1BEC-44C9-802F-F6C32D6F5BE5}" presName="linear" presStyleCnt="0">
        <dgm:presLayoutVars>
          <dgm:animLvl val="lvl"/>
          <dgm:resizeHandles val="exact"/>
        </dgm:presLayoutVars>
      </dgm:prSet>
      <dgm:spPr/>
    </dgm:pt>
    <dgm:pt modelId="{8D941246-42E7-42B0-9DAA-9738ED811F41}" type="pres">
      <dgm:prSet presAssocID="{A82AF866-105B-4B75-9911-C1BE08BB98DD}" presName="parentText" presStyleLbl="node1" presStyleIdx="0" presStyleCnt="4">
        <dgm:presLayoutVars>
          <dgm:chMax val="0"/>
          <dgm:bulletEnabled val="1"/>
        </dgm:presLayoutVars>
      </dgm:prSet>
      <dgm:spPr/>
    </dgm:pt>
    <dgm:pt modelId="{717DE9C0-0175-47D2-9946-A528B0454896}" type="pres">
      <dgm:prSet presAssocID="{4652E74C-D138-466A-9827-3FE24D6C7D3F}" presName="spacer" presStyleCnt="0"/>
      <dgm:spPr/>
    </dgm:pt>
    <dgm:pt modelId="{B27E5A58-80C2-43D1-B216-DD7F5BB89C0A}" type="pres">
      <dgm:prSet presAssocID="{18E5211F-4F3C-4607-A999-D8FC9B3CF931}" presName="parentText" presStyleLbl="node1" presStyleIdx="1" presStyleCnt="4">
        <dgm:presLayoutVars>
          <dgm:chMax val="0"/>
          <dgm:bulletEnabled val="1"/>
        </dgm:presLayoutVars>
      </dgm:prSet>
      <dgm:spPr/>
    </dgm:pt>
    <dgm:pt modelId="{A0661ACC-877A-481A-AF54-11E52B11F5FE}" type="pres">
      <dgm:prSet presAssocID="{13244B90-8CA4-48DF-A961-F2E0C4826FF6}" presName="spacer" presStyleCnt="0"/>
      <dgm:spPr/>
    </dgm:pt>
    <dgm:pt modelId="{1DBC4697-0941-4BB3-A420-A71A18693C76}" type="pres">
      <dgm:prSet presAssocID="{41ABF383-7B8A-4C90-BF4D-13BB3F1E37F9}" presName="parentText" presStyleLbl="node1" presStyleIdx="2" presStyleCnt="4">
        <dgm:presLayoutVars>
          <dgm:chMax val="0"/>
          <dgm:bulletEnabled val="1"/>
        </dgm:presLayoutVars>
      </dgm:prSet>
      <dgm:spPr/>
    </dgm:pt>
    <dgm:pt modelId="{91AB3EE0-C4EC-4317-9CD7-AC10BE1729E6}" type="pres">
      <dgm:prSet presAssocID="{EC188E65-E45B-46EC-8D90-043242EDA0F2}" presName="spacer" presStyleCnt="0"/>
      <dgm:spPr/>
    </dgm:pt>
    <dgm:pt modelId="{02B9E093-835E-4DB9-80F2-17392336FE53}" type="pres">
      <dgm:prSet presAssocID="{B4B54CDD-9E17-4306-A3E0-2600939F7CF0}" presName="parentText" presStyleLbl="node1" presStyleIdx="3" presStyleCnt="4">
        <dgm:presLayoutVars>
          <dgm:chMax val="0"/>
          <dgm:bulletEnabled val="1"/>
        </dgm:presLayoutVars>
      </dgm:prSet>
      <dgm:spPr/>
    </dgm:pt>
  </dgm:ptLst>
  <dgm:cxnLst>
    <dgm:cxn modelId="{C1014430-0EFB-468D-B1A5-7D812A09D6A2}" srcId="{2891F381-1BEC-44C9-802F-F6C32D6F5BE5}" destId="{41ABF383-7B8A-4C90-BF4D-13BB3F1E37F9}" srcOrd="2" destOrd="0" parTransId="{7BF876C3-37CA-46E8-815A-AFDCE936083D}" sibTransId="{EC188E65-E45B-46EC-8D90-043242EDA0F2}"/>
    <dgm:cxn modelId="{D62CFB5B-6E55-4F40-B7EA-A49CA06EF105}" type="presOf" srcId="{41ABF383-7B8A-4C90-BF4D-13BB3F1E37F9}" destId="{1DBC4697-0941-4BB3-A420-A71A18693C76}" srcOrd="0" destOrd="0" presId="urn:microsoft.com/office/officeart/2005/8/layout/vList2"/>
    <dgm:cxn modelId="{BB7C11C4-997F-47B6-A3D8-5D02A6FE8330}" srcId="{2891F381-1BEC-44C9-802F-F6C32D6F5BE5}" destId="{18E5211F-4F3C-4607-A999-D8FC9B3CF931}" srcOrd="1" destOrd="0" parTransId="{E395C71F-22A0-4FC6-AB57-D946FD4BC4F6}" sibTransId="{13244B90-8CA4-48DF-A961-F2E0C4826FF6}"/>
    <dgm:cxn modelId="{DF82C1C6-8D18-4027-A6C8-15B17A194CF3}" type="presOf" srcId="{B4B54CDD-9E17-4306-A3E0-2600939F7CF0}" destId="{02B9E093-835E-4DB9-80F2-17392336FE53}" srcOrd="0" destOrd="0" presId="urn:microsoft.com/office/officeart/2005/8/layout/vList2"/>
    <dgm:cxn modelId="{E4EABCD0-4A25-490B-9B3A-83408AEA6A3E}" srcId="{2891F381-1BEC-44C9-802F-F6C32D6F5BE5}" destId="{A82AF866-105B-4B75-9911-C1BE08BB98DD}" srcOrd="0" destOrd="0" parTransId="{38D5F7EB-B92B-46B7-ADF1-F65AF42C1C9B}" sibTransId="{4652E74C-D138-466A-9827-3FE24D6C7D3F}"/>
    <dgm:cxn modelId="{1F9C15D2-9F55-437B-B30B-B2949A6BC448}" srcId="{2891F381-1BEC-44C9-802F-F6C32D6F5BE5}" destId="{B4B54CDD-9E17-4306-A3E0-2600939F7CF0}" srcOrd="3" destOrd="0" parTransId="{E1F8BD44-6C22-4D2B-8609-FCF586D53A2C}" sibTransId="{FC2EDE68-AF01-4DE4-A21B-F4DBD48A302E}"/>
    <dgm:cxn modelId="{0F6408D6-8CC0-4CA6-8F15-6A3F3D48E77D}" type="presOf" srcId="{18E5211F-4F3C-4607-A999-D8FC9B3CF931}" destId="{B27E5A58-80C2-43D1-B216-DD7F5BB89C0A}" srcOrd="0" destOrd="0" presId="urn:microsoft.com/office/officeart/2005/8/layout/vList2"/>
    <dgm:cxn modelId="{0BD754DB-5247-4278-8328-A0B8CD17DE28}" type="presOf" srcId="{A82AF866-105B-4B75-9911-C1BE08BB98DD}" destId="{8D941246-42E7-42B0-9DAA-9738ED811F41}" srcOrd="0" destOrd="0" presId="urn:microsoft.com/office/officeart/2005/8/layout/vList2"/>
    <dgm:cxn modelId="{7E7C6AF2-96CB-4FAD-8FE9-D3A49D735907}" type="presOf" srcId="{2891F381-1BEC-44C9-802F-F6C32D6F5BE5}" destId="{D0F39B36-0C14-4207-93FB-25657E71FE2F}" srcOrd="0" destOrd="0" presId="urn:microsoft.com/office/officeart/2005/8/layout/vList2"/>
    <dgm:cxn modelId="{CA54E62C-75CA-4D53-A5AD-4A328A46872E}" type="presParOf" srcId="{D0F39B36-0C14-4207-93FB-25657E71FE2F}" destId="{8D941246-42E7-42B0-9DAA-9738ED811F41}" srcOrd="0" destOrd="0" presId="urn:microsoft.com/office/officeart/2005/8/layout/vList2"/>
    <dgm:cxn modelId="{92A57E30-EFCD-4E87-B17F-3A2E3E1A1F36}" type="presParOf" srcId="{D0F39B36-0C14-4207-93FB-25657E71FE2F}" destId="{717DE9C0-0175-47D2-9946-A528B0454896}" srcOrd="1" destOrd="0" presId="urn:microsoft.com/office/officeart/2005/8/layout/vList2"/>
    <dgm:cxn modelId="{95C39960-BE9C-4260-873B-1BACEC580DAF}" type="presParOf" srcId="{D0F39B36-0C14-4207-93FB-25657E71FE2F}" destId="{B27E5A58-80C2-43D1-B216-DD7F5BB89C0A}" srcOrd="2" destOrd="0" presId="urn:microsoft.com/office/officeart/2005/8/layout/vList2"/>
    <dgm:cxn modelId="{91A83F51-0C63-4D0D-B33F-D3D8193C2856}" type="presParOf" srcId="{D0F39B36-0C14-4207-93FB-25657E71FE2F}" destId="{A0661ACC-877A-481A-AF54-11E52B11F5FE}" srcOrd="3" destOrd="0" presId="urn:microsoft.com/office/officeart/2005/8/layout/vList2"/>
    <dgm:cxn modelId="{16F42718-4036-405A-9F0C-544C99F67654}" type="presParOf" srcId="{D0F39B36-0C14-4207-93FB-25657E71FE2F}" destId="{1DBC4697-0941-4BB3-A420-A71A18693C76}" srcOrd="4" destOrd="0" presId="urn:microsoft.com/office/officeart/2005/8/layout/vList2"/>
    <dgm:cxn modelId="{DA7F8F1D-0A18-4E18-97A3-DBC48585681F}" type="presParOf" srcId="{D0F39B36-0C14-4207-93FB-25657E71FE2F}" destId="{91AB3EE0-C4EC-4317-9CD7-AC10BE1729E6}" srcOrd="5" destOrd="0" presId="urn:microsoft.com/office/officeart/2005/8/layout/vList2"/>
    <dgm:cxn modelId="{82416FE8-0617-4D54-870B-FE4228C056CA}" type="presParOf" srcId="{D0F39B36-0C14-4207-93FB-25657E71FE2F}" destId="{02B9E093-835E-4DB9-80F2-17392336FE53}"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F43525-F0F0-4CC0-9849-5264E3E87185}"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ru-RU"/>
        </a:p>
      </dgm:t>
    </dgm:pt>
    <dgm:pt modelId="{A30721DC-B14C-4271-9EF0-AACEA625FFAF}">
      <dgm:prSet custT="1"/>
      <dgm:spPr/>
      <dgm:t>
        <a:bodyPr/>
        <a:lstStyle/>
        <a:p>
          <a:r>
            <a:rPr lang="en-US" sz="1050" b="1" dirty="0"/>
            <a:t>Synchronized 4-view capture at 1280×720.</a:t>
          </a:r>
          <a:endParaRPr lang="ru-RU" sz="1050" b="1" dirty="0"/>
        </a:p>
      </dgm:t>
    </dgm:pt>
    <dgm:pt modelId="{9C75D6C3-AF45-42BF-A399-04879CEB605E}" type="parTrans" cxnId="{1A0A76E5-F132-43B8-80E8-DA1228564C3B}">
      <dgm:prSet/>
      <dgm:spPr/>
      <dgm:t>
        <a:bodyPr/>
        <a:lstStyle/>
        <a:p>
          <a:endParaRPr lang="ru-RU"/>
        </a:p>
      </dgm:t>
    </dgm:pt>
    <dgm:pt modelId="{96ADACF2-9536-4943-910E-161B27B55D10}" type="sibTrans" cxnId="{1A0A76E5-F132-43B8-80E8-DA1228564C3B}">
      <dgm:prSet/>
      <dgm:spPr/>
      <dgm:t>
        <a:bodyPr/>
        <a:lstStyle/>
        <a:p>
          <a:endParaRPr lang="ru-RU"/>
        </a:p>
      </dgm:t>
    </dgm:pt>
    <dgm:pt modelId="{83C1DC67-ECD3-4A24-85F6-42310D8187C7}">
      <dgm:prSet custT="1"/>
      <dgm:spPr/>
      <dgm:t>
        <a:bodyPr/>
        <a:lstStyle/>
        <a:p>
          <a:r>
            <a:rPr lang="en-US" sz="1050" b="1" dirty="0"/>
            <a:t>DLT/SVD triangulation with robust outlier rejection.</a:t>
          </a:r>
          <a:endParaRPr lang="ru-RU" sz="1050" b="1" dirty="0"/>
        </a:p>
      </dgm:t>
    </dgm:pt>
    <dgm:pt modelId="{AF1A53DD-A540-4748-8DFD-D5305FC9E480}" type="parTrans" cxnId="{8D7A1F3D-70D3-425E-98AE-49C6DD3DE478}">
      <dgm:prSet/>
      <dgm:spPr/>
      <dgm:t>
        <a:bodyPr/>
        <a:lstStyle/>
        <a:p>
          <a:endParaRPr lang="ru-RU"/>
        </a:p>
      </dgm:t>
    </dgm:pt>
    <dgm:pt modelId="{1D38BCE1-DF5A-42F2-9382-F360C1E5715D}" type="sibTrans" cxnId="{8D7A1F3D-70D3-425E-98AE-49C6DD3DE478}">
      <dgm:prSet/>
      <dgm:spPr/>
      <dgm:t>
        <a:bodyPr/>
        <a:lstStyle/>
        <a:p>
          <a:endParaRPr lang="ru-RU"/>
        </a:p>
      </dgm:t>
    </dgm:pt>
    <dgm:pt modelId="{BA3E1FEB-CAC1-4957-8327-872E4916C25F}">
      <dgm:prSet custT="1"/>
      <dgm:spPr/>
      <dgm:t>
        <a:bodyPr/>
        <a:lstStyle/>
        <a:p>
          <a:r>
            <a:rPr lang="en-US" sz="1050" b="1" dirty="0"/>
            <a:t>Adaptive EMA + constant-velocity Kalman for predictive lead-time compensation.</a:t>
          </a:r>
          <a:endParaRPr lang="ru-RU" sz="1050" b="1" dirty="0"/>
        </a:p>
      </dgm:t>
    </dgm:pt>
    <dgm:pt modelId="{C870AAD3-DB34-4837-826F-6AC67F45AAD6}" type="parTrans" cxnId="{16F0C8D7-EE68-4E9E-B765-449297B91983}">
      <dgm:prSet/>
      <dgm:spPr/>
      <dgm:t>
        <a:bodyPr/>
        <a:lstStyle/>
        <a:p>
          <a:endParaRPr lang="ru-RU"/>
        </a:p>
      </dgm:t>
    </dgm:pt>
    <dgm:pt modelId="{7F66EB83-674A-418D-A721-2A83F43DC971}" type="sibTrans" cxnId="{16F0C8D7-EE68-4E9E-B765-449297B91983}">
      <dgm:prSet/>
      <dgm:spPr/>
      <dgm:t>
        <a:bodyPr/>
        <a:lstStyle/>
        <a:p>
          <a:endParaRPr lang="ru-RU"/>
        </a:p>
      </dgm:t>
    </dgm:pt>
    <dgm:pt modelId="{511E5FC4-7286-455A-A657-1CE47DCD40E4}">
      <dgm:prSet custT="1"/>
      <dgm:spPr/>
      <dgm:t>
        <a:bodyPr/>
        <a:lstStyle/>
        <a:p>
          <a:r>
            <a:rPr lang="en-US" sz="1050" b="1" dirty="0"/>
            <a:t>921,600-baud serial link to ESP32 cooperative FSM.</a:t>
          </a:r>
          <a:endParaRPr lang="ru-RU" sz="1050" b="1" dirty="0"/>
        </a:p>
      </dgm:t>
    </dgm:pt>
    <dgm:pt modelId="{FB178812-67AC-4717-BE9C-C11105CDE87B}" type="parTrans" cxnId="{496E7513-6201-479E-BE57-C8E8BC45C54C}">
      <dgm:prSet/>
      <dgm:spPr/>
      <dgm:t>
        <a:bodyPr/>
        <a:lstStyle/>
        <a:p>
          <a:endParaRPr lang="ru-RU"/>
        </a:p>
      </dgm:t>
    </dgm:pt>
    <dgm:pt modelId="{A7B49001-3EC9-4F10-B4BB-0774F87C0247}" type="sibTrans" cxnId="{496E7513-6201-479E-BE57-C8E8BC45C54C}">
      <dgm:prSet/>
      <dgm:spPr/>
      <dgm:t>
        <a:bodyPr/>
        <a:lstStyle/>
        <a:p>
          <a:endParaRPr lang="ru-RU"/>
        </a:p>
      </dgm:t>
    </dgm:pt>
    <dgm:pt modelId="{60BADF24-58F7-447C-AD13-730B4DA376FC}" type="pres">
      <dgm:prSet presAssocID="{B8F43525-F0F0-4CC0-9849-5264E3E87185}" presName="Name0" presStyleCnt="0">
        <dgm:presLayoutVars>
          <dgm:dir/>
          <dgm:resizeHandles val="exact"/>
        </dgm:presLayoutVars>
      </dgm:prSet>
      <dgm:spPr/>
    </dgm:pt>
    <dgm:pt modelId="{D401D9C4-A2F6-4786-958C-661317504254}" type="pres">
      <dgm:prSet presAssocID="{B8F43525-F0F0-4CC0-9849-5264E3E87185}" presName="arrow" presStyleLbl="bgShp" presStyleIdx="0" presStyleCnt="1"/>
      <dgm:spPr/>
    </dgm:pt>
    <dgm:pt modelId="{DABB3F34-D587-49BB-BA26-5582242FFAAD}" type="pres">
      <dgm:prSet presAssocID="{B8F43525-F0F0-4CC0-9849-5264E3E87185}" presName="points" presStyleCnt="0"/>
      <dgm:spPr/>
    </dgm:pt>
    <dgm:pt modelId="{DD48BE50-EC80-42E0-9E72-BF9136F365B6}" type="pres">
      <dgm:prSet presAssocID="{A30721DC-B14C-4271-9EF0-AACEA625FFAF}" presName="compositeA" presStyleCnt="0"/>
      <dgm:spPr/>
    </dgm:pt>
    <dgm:pt modelId="{EAD08757-8152-4299-A276-FBF5B37ABB26}" type="pres">
      <dgm:prSet presAssocID="{A30721DC-B14C-4271-9EF0-AACEA625FFAF}" presName="textA" presStyleLbl="revTx" presStyleIdx="0" presStyleCnt="4">
        <dgm:presLayoutVars>
          <dgm:bulletEnabled val="1"/>
        </dgm:presLayoutVars>
      </dgm:prSet>
      <dgm:spPr/>
    </dgm:pt>
    <dgm:pt modelId="{7D6490B3-1E55-4465-B03C-EB7AFE3A27EA}" type="pres">
      <dgm:prSet presAssocID="{A30721DC-B14C-4271-9EF0-AACEA625FFAF}" presName="circleA" presStyleLbl="node1" presStyleIdx="0" presStyleCnt="4"/>
      <dgm:spPr/>
    </dgm:pt>
    <dgm:pt modelId="{ED16F188-4EDE-41F5-8F76-8CE49BEB3BF7}" type="pres">
      <dgm:prSet presAssocID="{A30721DC-B14C-4271-9EF0-AACEA625FFAF}" presName="spaceA" presStyleCnt="0"/>
      <dgm:spPr/>
    </dgm:pt>
    <dgm:pt modelId="{7BAA5F02-E9CC-462C-92CC-D7F1DEDC3443}" type="pres">
      <dgm:prSet presAssocID="{96ADACF2-9536-4943-910E-161B27B55D10}" presName="space" presStyleCnt="0"/>
      <dgm:spPr/>
    </dgm:pt>
    <dgm:pt modelId="{93F8C015-628B-46AE-AF75-DD88AFD94C63}" type="pres">
      <dgm:prSet presAssocID="{83C1DC67-ECD3-4A24-85F6-42310D8187C7}" presName="compositeB" presStyleCnt="0"/>
      <dgm:spPr/>
    </dgm:pt>
    <dgm:pt modelId="{21542E7C-C2C7-4573-A937-4D83A70DDAFC}" type="pres">
      <dgm:prSet presAssocID="{83C1DC67-ECD3-4A24-85F6-42310D8187C7}" presName="textB" presStyleLbl="revTx" presStyleIdx="1" presStyleCnt="4">
        <dgm:presLayoutVars>
          <dgm:bulletEnabled val="1"/>
        </dgm:presLayoutVars>
      </dgm:prSet>
      <dgm:spPr/>
    </dgm:pt>
    <dgm:pt modelId="{1646903D-DFAA-472B-9B73-53ED89CA8391}" type="pres">
      <dgm:prSet presAssocID="{83C1DC67-ECD3-4A24-85F6-42310D8187C7}" presName="circleB" presStyleLbl="node1" presStyleIdx="1" presStyleCnt="4"/>
      <dgm:spPr/>
    </dgm:pt>
    <dgm:pt modelId="{25D453D2-A7F2-4CD7-AD1A-1D9DEAF0AA4D}" type="pres">
      <dgm:prSet presAssocID="{83C1DC67-ECD3-4A24-85F6-42310D8187C7}" presName="spaceB" presStyleCnt="0"/>
      <dgm:spPr/>
    </dgm:pt>
    <dgm:pt modelId="{13491604-7BF6-4A01-AE21-B9559158DCE1}" type="pres">
      <dgm:prSet presAssocID="{1D38BCE1-DF5A-42F2-9382-F360C1E5715D}" presName="space" presStyleCnt="0"/>
      <dgm:spPr/>
    </dgm:pt>
    <dgm:pt modelId="{01AF760F-12A1-448A-8E14-4FA184D62884}" type="pres">
      <dgm:prSet presAssocID="{BA3E1FEB-CAC1-4957-8327-872E4916C25F}" presName="compositeA" presStyleCnt="0"/>
      <dgm:spPr/>
    </dgm:pt>
    <dgm:pt modelId="{D6770158-BE5F-4924-A3F0-8753C082ABAC}" type="pres">
      <dgm:prSet presAssocID="{BA3E1FEB-CAC1-4957-8327-872E4916C25F}" presName="textA" presStyleLbl="revTx" presStyleIdx="2" presStyleCnt="4">
        <dgm:presLayoutVars>
          <dgm:bulletEnabled val="1"/>
        </dgm:presLayoutVars>
      </dgm:prSet>
      <dgm:spPr/>
    </dgm:pt>
    <dgm:pt modelId="{115C05C3-BC68-40A6-8B44-2670B0C49640}" type="pres">
      <dgm:prSet presAssocID="{BA3E1FEB-CAC1-4957-8327-872E4916C25F}" presName="circleA" presStyleLbl="node1" presStyleIdx="2" presStyleCnt="4"/>
      <dgm:spPr/>
    </dgm:pt>
    <dgm:pt modelId="{D8833A3E-6EB4-41DC-ACBF-9E3BDF17C0D9}" type="pres">
      <dgm:prSet presAssocID="{BA3E1FEB-CAC1-4957-8327-872E4916C25F}" presName="spaceA" presStyleCnt="0"/>
      <dgm:spPr/>
    </dgm:pt>
    <dgm:pt modelId="{6C93AC18-780F-4530-A5C0-4D39F3EB4E3C}" type="pres">
      <dgm:prSet presAssocID="{7F66EB83-674A-418D-A721-2A83F43DC971}" presName="space" presStyleCnt="0"/>
      <dgm:spPr/>
    </dgm:pt>
    <dgm:pt modelId="{C249425D-60F5-4ED6-9DCF-6F89B18C2EAA}" type="pres">
      <dgm:prSet presAssocID="{511E5FC4-7286-455A-A657-1CE47DCD40E4}" presName="compositeB" presStyleCnt="0"/>
      <dgm:spPr/>
    </dgm:pt>
    <dgm:pt modelId="{E5B47425-981B-4E54-A46E-88113407D89A}" type="pres">
      <dgm:prSet presAssocID="{511E5FC4-7286-455A-A657-1CE47DCD40E4}" presName="textB" presStyleLbl="revTx" presStyleIdx="3" presStyleCnt="4">
        <dgm:presLayoutVars>
          <dgm:bulletEnabled val="1"/>
        </dgm:presLayoutVars>
      </dgm:prSet>
      <dgm:spPr/>
    </dgm:pt>
    <dgm:pt modelId="{BB585EAF-FF22-4D4F-B7C4-155FDEB819EA}" type="pres">
      <dgm:prSet presAssocID="{511E5FC4-7286-455A-A657-1CE47DCD40E4}" presName="circleB" presStyleLbl="node1" presStyleIdx="3" presStyleCnt="4"/>
      <dgm:spPr/>
    </dgm:pt>
    <dgm:pt modelId="{CCED1D99-B26F-4CE7-8AD8-E7CFEFD0AF6B}" type="pres">
      <dgm:prSet presAssocID="{511E5FC4-7286-455A-A657-1CE47DCD40E4}" presName="spaceB" presStyleCnt="0"/>
      <dgm:spPr/>
    </dgm:pt>
  </dgm:ptLst>
  <dgm:cxnLst>
    <dgm:cxn modelId="{E6287E03-6E88-4423-A8E6-7A2F9D4BDAFA}" type="presOf" srcId="{83C1DC67-ECD3-4A24-85F6-42310D8187C7}" destId="{21542E7C-C2C7-4573-A937-4D83A70DDAFC}" srcOrd="0" destOrd="0" presId="urn:microsoft.com/office/officeart/2005/8/layout/hProcess11"/>
    <dgm:cxn modelId="{496E7513-6201-479E-BE57-C8E8BC45C54C}" srcId="{B8F43525-F0F0-4CC0-9849-5264E3E87185}" destId="{511E5FC4-7286-455A-A657-1CE47DCD40E4}" srcOrd="3" destOrd="0" parTransId="{FB178812-67AC-4717-BE9C-C11105CDE87B}" sibTransId="{A7B49001-3EC9-4F10-B4BB-0774F87C0247}"/>
    <dgm:cxn modelId="{C3FBF02F-DBDF-41B9-9E53-F34527C003F8}" type="presOf" srcId="{511E5FC4-7286-455A-A657-1CE47DCD40E4}" destId="{E5B47425-981B-4E54-A46E-88113407D89A}" srcOrd="0" destOrd="0" presId="urn:microsoft.com/office/officeart/2005/8/layout/hProcess11"/>
    <dgm:cxn modelId="{8D7A1F3D-70D3-425E-98AE-49C6DD3DE478}" srcId="{B8F43525-F0F0-4CC0-9849-5264E3E87185}" destId="{83C1DC67-ECD3-4A24-85F6-42310D8187C7}" srcOrd="1" destOrd="0" parTransId="{AF1A53DD-A540-4748-8DFD-D5305FC9E480}" sibTransId="{1D38BCE1-DF5A-42F2-9382-F360C1E5715D}"/>
    <dgm:cxn modelId="{8CE79196-487C-4729-9B9A-0C055878CA73}" type="presOf" srcId="{B8F43525-F0F0-4CC0-9849-5264E3E87185}" destId="{60BADF24-58F7-447C-AD13-730B4DA376FC}" srcOrd="0" destOrd="0" presId="urn:microsoft.com/office/officeart/2005/8/layout/hProcess11"/>
    <dgm:cxn modelId="{B7C57BC9-99A6-44CD-A0B9-7D24C6DBD6D2}" type="presOf" srcId="{BA3E1FEB-CAC1-4957-8327-872E4916C25F}" destId="{D6770158-BE5F-4924-A3F0-8753C082ABAC}" srcOrd="0" destOrd="0" presId="urn:microsoft.com/office/officeart/2005/8/layout/hProcess11"/>
    <dgm:cxn modelId="{16F0C8D7-EE68-4E9E-B765-449297B91983}" srcId="{B8F43525-F0F0-4CC0-9849-5264E3E87185}" destId="{BA3E1FEB-CAC1-4957-8327-872E4916C25F}" srcOrd="2" destOrd="0" parTransId="{C870AAD3-DB34-4837-826F-6AC67F45AAD6}" sibTransId="{7F66EB83-674A-418D-A721-2A83F43DC971}"/>
    <dgm:cxn modelId="{C721DADC-206E-496E-B229-02C1DF65E65F}" type="presOf" srcId="{A30721DC-B14C-4271-9EF0-AACEA625FFAF}" destId="{EAD08757-8152-4299-A276-FBF5B37ABB26}" srcOrd="0" destOrd="0" presId="urn:microsoft.com/office/officeart/2005/8/layout/hProcess11"/>
    <dgm:cxn modelId="{1A0A76E5-F132-43B8-80E8-DA1228564C3B}" srcId="{B8F43525-F0F0-4CC0-9849-5264E3E87185}" destId="{A30721DC-B14C-4271-9EF0-AACEA625FFAF}" srcOrd="0" destOrd="0" parTransId="{9C75D6C3-AF45-42BF-A399-04879CEB605E}" sibTransId="{96ADACF2-9536-4943-910E-161B27B55D10}"/>
    <dgm:cxn modelId="{FD3C9D53-0F7A-4517-9F11-9BC66ABE8321}" type="presParOf" srcId="{60BADF24-58F7-447C-AD13-730B4DA376FC}" destId="{D401D9C4-A2F6-4786-958C-661317504254}" srcOrd="0" destOrd="0" presId="urn:microsoft.com/office/officeart/2005/8/layout/hProcess11"/>
    <dgm:cxn modelId="{74C75AE3-148B-4025-B2C7-DD864D500127}" type="presParOf" srcId="{60BADF24-58F7-447C-AD13-730B4DA376FC}" destId="{DABB3F34-D587-49BB-BA26-5582242FFAAD}" srcOrd="1" destOrd="0" presId="urn:microsoft.com/office/officeart/2005/8/layout/hProcess11"/>
    <dgm:cxn modelId="{EC8352C7-7A9B-4F0E-B698-1722AF505C78}" type="presParOf" srcId="{DABB3F34-D587-49BB-BA26-5582242FFAAD}" destId="{DD48BE50-EC80-42E0-9E72-BF9136F365B6}" srcOrd="0" destOrd="0" presId="urn:microsoft.com/office/officeart/2005/8/layout/hProcess11"/>
    <dgm:cxn modelId="{4CDC17D2-44BF-4CCB-9E56-E4D2A0A65480}" type="presParOf" srcId="{DD48BE50-EC80-42E0-9E72-BF9136F365B6}" destId="{EAD08757-8152-4299-A276-FBF5B37ABB26}" srcOrd="0" destOrd="0" presId="urn:microsoft.com/office/officeart/2005/8/layout/hProcess11"/>
    <dgm:cxn modelId="{2F4BEEAB-CDCE-469D-955D-05CE28700DF1}" type="presParOf" srcId="{DD48BE50-EC80-42E0-9E72-BF9136F365B6}" destId="{7D6490B3-1E55-4465-B03C-EB7AFE3A27EA}" srcOrd="1" destOrd="0" presId="urn:microsoft.com/office/officeart/2005/8/layout/hProcess11"/>
    <dgm:cxn modelId="{2F82CF9E-A9D6-434B-AE7A-CFE2BAF76B65}" type="presParOf" srcId="{DD48BE50-EC80-42E0-9E72-BF9136F365B6}" destId="{ED16F188-4EDE-41F5-8F76-8CE49BEB3BF7}" srcOrd="2" destOrd="0" presId="urn:microsoft.com/office/officeart/2005/8/layout/hProcess11"/>
    <dgm:cxn modelId="{29EFB8CD-7959-4378-BEBC-5EB74F0008C8}" type="presParOf" srcId="{DABB3F34-D587-49BB-BA26-5582242FFAAD}" destId="{7BAA5F02-E9CC-462C-92CC-D7F1DEDC3443}" srcOrd="1" destOrd="0" presId="urn:microsoft.com/office/officeart/2005/8/layout/hProcess11"/>
    <dgm:cxn modelId="{FF69BC28-0F54-48E4-84B3-062C101AA430}" type="presParOf" srcId="{DABB3F34-D587-49BB-BA26-5582242FFAAD}" destId="{93F8C015-628B-46AE-AF75-DD88AFD94C63}" srcOrd="2" destOrd="0" presId="urn:microsoft.com/office/officeart/2005/8/layout/hProcess11"/>
    <dgm:cxn modelId="{E72B6CDB-0C80-478D-A7E5-C99F8C9E5090}" type="presParOf" srcId="{93F8C015-628B-46AE-AF75-DD88AFD94C63}" destId="{21542E7C-C2C7-4573-A937-4D83A70DDAFC}" srcOrd="0" destOrd="0" presId="urn:microsoft.com/office/officeart/2005/8/layout/hProcess11"/>
    <dgm:cxn modelId="{4F149371-982A-45C3-968C-9BF4674FFE12}" type="presParOf" srcId="{93F8C015-628B-46AE-AF75-DD88AFD94C63}" destId="{1646903D-DFAA-472B-9B73-53ED89CA8391}" srcOrd="1" destOrd="0" presId="urn:microsoft.com/office/officeart/2005/8/layout/hProcess11"/>
    <dgm:cxn modelId="{10265A43-9121-496D-BED6-7BF7DD6B6AA0}" type="presParOf" srcId="{93F8C015-628B-46AE-AF75-DD88AFD94C63}" destId="{25D453D2-A7F2-4CD7-AD1A-1D9DEAF0AA4D}" srcOrd="2" destOrd="0" presId="urn:microsoft.com/office/officeart/2005/8/layout/hProcess11"/>
    <dgm:cxn modelId="{02E6185D-9E43-4BB6-8E65-8058293CB14D}" type="presParOf" srcId="{DABB3F34-D587-49BB-BA26-5582242FFAAD}" destId="{13491604-7BF6-4A01-AE21-B9559158DCE1}" srcOrd="3" destOrd="0" presId="urn:microsoft.com/office/officeart/2005/8/layout/hProcess11"/>
    <dgm:cxn modelId="{4DCFA69A-BD67-42BB-9ECC-E55DCCDFA29D}" type="presParOf" srcId="{DABB3F34-D587-49BB-BA26-5582242FFAAD}" destId="{01AF760F-12A1-448A-8E14-4FA184D62884}" srcOrd="4" destOrd="0" presId="urn:microsoft.com/office/officeart/2005/8/layout/hProcess11"/>
    <dgm:cxn modelId="{539EE320-2254-4847-B3DE-CB48093206F3}" type="presParOf" srcId="{01AF760F-12A1-448A-8E14-4FA184D62884}" destId="{D6770158-BE5F-4924-A3F0-8753C082ABAC}" srcOrd="0" destOrd="0" presId="urn:microsoft.com/office/officeart/2005/8/layout/hProcess11"/>
    <dgm:cxn modelId="{0BF99042-2BB3-48A9-AC42-0641594C4296}" type="presParOf" srcId="{01AF760F-12A1-448A-8E14-4FA184D62884}" destId="{115C05C3-BC68-40A6-8B44-2670B0C49640}" srcOrd="1" destOrd="0" presId="urn:microsoft.com/office/officeart/2005/8/layout/hProcess11"/>
    <dgm:cxn modelId="{087842B7-6DD5-4C00-8013-1BEFEB9C3081}" type="presParOf" srcId="{01AF760F-12A1-448A-8E14-4FA184D62884}" destId="{D8833A3E-6EB4-41DC-ACBF-9E3BDF17C0D9}" srcOrd="2" destOrd="0" presId="urn:microsoft.com/office/officeart/2005/8/layout/hProcess11"/>
    <dgm:cxn modelId="{B99B7457-C73F-41D5-8A6D-ECC326BE760B}" type="presParOf" srcId="{DABB3F34-D587-49BB-BA26-5582242FFAAD}" destId="{6C93AC18-780F-4530-A5C0-4D39F3EB4E3C}" srcOrd="5" destOrd="0" presId="urn:microsoft.com/office/officeart/2005/8/layout/hProcess11"/>
    <dgm:cxn modelId="{E4855F6E-72AF-4D21-9F32-251800ABE3C2}" type="presParOf" srcId="{DABB3F34-D587-49BB-BA26-5582242FFAAD}" destId="{C249425D-60F5-4ED6-9DCF-6F89B18C2EAA}" srcOrd="6" destOrd="0" presId="urn:microsoft.com/office/officeart/2005/8/layout/hProcess11"/>
    <dgm:cxn modelId="{587061A5-5E75-404F-B32A-7900CE0B68D2}" type="presParOf" srcId="{C249425D-60F5-4ED6-9DCF-6F89B18C2EAA}" destId="{E5B47425-981B-4E54-A46E-88113407D89A}" srcOrd="0" destOrd="0" presId="urn:microsoft.com/office/officeart/2005/8/layout/hProcess11"/>
    <dgm:cxn modelId="{005889F0-518A-467D-B6C7-533FC5952B37}" type="presParOf" srcId="{C249425D-60F5-4ED6-9DCF-6F89B18C2EAA}" destId="{BB585EAF-FF22-4D4F-B7C4-155FDEB819EA}" srcOrd="1" destOrd="0" presId="urn:microsoft.com/office/officeart/2005/8/layout/hProcess11"/>
    <dgm:cxn modelId="{9F5DA02F-B219-426B-BB55-9BAEBAA7E0F2}" type="presParOf" srcId="{C249425D-60F5-4ED6-9DCF-6F89B18C2EAA}" destId="{CCED1D99-B26F-4CE7-8AD8-E7CFEFD0AF6B}"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18EECF-E132-4C5D-99F9-7A89A40F574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E5B3E46-D947-44D5-935F-59893FFA817C}">
      <dgm:prSet/>
      <dgm:spPr/>
      <dgm:t>
        <a:bodyPr/>
        <a:lstStyle/>
        <a:p>
          <a:pPr>
            <a:lnSpc>
              <a:spcPct val="100000"/>
            </a:lnSpc>
          </a:pPr>
          <a:r>
            <a:rPr lang="en-US" b="1" dirty="0"/>
            <a:t>Boundary</a:t>
          </a:r>
        </a:p>
        <a:p>
          <a:pPr>
            <a:lnSpc>
              <a:spcPct val="100000"/>
            </a:lnSpc>
          </a:pPr>
          <a:r>
            <a:rPr lang="en-US" dirty="0"/>
            <a:t>Moving-target closed-loop firing pending</a:t>
          </a:r>
        </a:p>
      </dgm:t>
    </dgm:pt>
    <dgm:pt modelId="{B6B22E0F-BBBA-49C9-82B5-5115F0C9C677}" type="parTrans" cxnId="{341D9E1C-343B-45D2-AD5E-DC55FCBAFD8E}">
      <dgm:prSet/>
      <dgm:spPr/>
      <dgm:t>
        <a:bodyPr/>
        <a:lstStyle/>
        <a:p>
          <a:endParaRPr lang="en-US"/>
        </a:p>
      </dgm:t>
    </dgm:pt>
    <dgm:pt modelId="{3F5DEA99-6804-4AE8-A313-FD15522E9642}" type="sibTrans" cxnId="{341D9E1C-343B-45D2-AD5E-DC55FCBAFD8E}">
      <dgm:prSet/>
      <dgm:spPr/>
      <dgm:t>
        <a:bodyPr/>
        <a:lstStyle/>
        <a:p>
          <a:endParaRPr lang="en-US"/>
        </a:p>
      </dgm:t>
    </dgm:pt>
    <dgm:pt modelId="{EF3B1EB9-93D3-4525-8B83-7CD5EB49E03F}">
      <dgm:prSet/>
      <dgm:spPr/>
      <dgm:t>
        <a:bodyPr/>
        <a:lstStyle/>
        <a:p>
          <a:pPr>
            <a:lnSpc>
              <a:spcPct val="100000"/>
            </a:lnSpc>
          </a:pPr>
          <a:r>
            <a:rPr lang="en-US" b="1" dirty="0" err="1"/>
            <a:t>Generalisation</a:t>
          </a:r>
          <a:br>
            <a:rPr lang="en-US" dirty="0"/>
          </a:br>
          <a:r>
            <a:rPr lang="en-US" dirty="0"/>
            <a:t>Single subject, one arena, indoor lighting</a:t>
          </a:r>
        </a:p>
      </dgm:t>
    </dgm:pt>
    <dgm:pt modelId="{767FDF0E-1DD9-48BD-868E-734ABE2C1F41}" type="parTrans" cxnId="{2D50D7E7-9E14-47CD-A943-99F28AF1ABFF}">
      <dgm:prSet/>
      <dgm:spPr/>
      <dgm:t>
        <a:bodyPr/>
        <a:lstStyle/>
        <a:p>
          <a:endParaRPr lang="en-US"/>
        </a:p>
      </dgm:t>
    </dgm:pt>
    <dgm:pt modelId="{E0AE2B38-3A4F-4EF3-811E-9053A99094F2}" type="sibTrans" cxnId="{2D50D7E7-9E14-47CD-A943-99F28AF1ABFF}">
      <dgm:prSet/>
      <dgm:spPr/>
      <dgm:t>
        <a:bodyPr/>
        <a:lstStyle/>
        <a:p>
          <a:endParaRPr lang="en-US"/>
        </a:p>
      </dgm:t>
    </dgm:pt>
    <dgm:pt modelId="{4CDAB935-826E-49C9-A806-8129A14B3195}">
      <dgm:prSet/>
      <dgm:spPr/>
      <dgm:t>
        <a:bodyPr/>
        <a:lstStyle/>
        <a:p>
          <a:pPr>
            <a:lnSpc>
              <a:spcPct val="100000"/>
            </a:lnSpc>
          </a:pPr>
          <a:r>
            <a:rPr lang="en-US" b="1" dirty="0"/>
            <a:t>Visibility</a:t>
          </a:r>
          <a:br>
            <a:rPr lang="en-US" dirty="0"/>
          </a:br>
          <a:r>
            <a:rPr lang="en-US" dirty="0"/>
            <a:t>19 / 81 joint trials invalid from occlusion</a:t>
          </a:r>
        </a:p>
      </dgm:t>
    </dgm:pt>
    <dgm:pt modelId="{9C2855DE-C80F-434F-9F61-463C6086BA9C}" type="parTrans" cxnId="{65C47871-09DD-4873-A2F2-2AC7778DEEB3}">
      <dgm:prSet/>
      <dgm:spPr/>
      <dgm:t>
        <a:bodyPr/>
        <a:lstStyle/>
        <a:p>
          <a:endParaRPr lang="en-US"/>
        </a:p>
      </dgm:t>
    </dgm:pt>
    <dgm:pt modelId="{012DE6CB-57C5-4E68-AFB8-0BFBB77E5B7D}" type="sibTrans" cxnId="{65C47871-09DD-4873-A2F2-2AC7778DEEB3}">
      <dgm:prSet/>
      <dgm:spPr/>
      <dgm:t>
        <a:bodyPr/>
        <a:lstStyle/>
        <a:p>
          <a:endParaRPr lang="en-US"/>
        </a:p>
      </dgm:t>
    </dgm:pt>
    <dgm:pt modelId="{766C13A4-B6DD-414C-A82A-E7BEBD264E8C}">
      <dgm:prSet/>
      <dgm:spPr/>
      <dgm:t>
        <a:bodyPr/>
        <a:lstStyle/>
        <a:p>
          <a:pPr>
            <a:lnSpc>
              <a:spcPct val="100000"/>
            </a:lnSpc>
          </a:pPr>
          <a:r>
            <a:rPr lang="en-US" b="1" dirty="0"/>
            <a:t>Ballistics</a:t>
          </a:r>
          <a:br>
            <a:rPr lang="en-US" dirty="0"/>
          </a:br>
          <a:r>
            <a:rPr lang="en-US" dirty="0"/>
            <a:t>RPM → velocity calibration missing</a:t>
          </a:r>
        </a:p>
      </dgm:t>
    </dgm:pt>
    <dgm:pt modelId="{BBA02122-8265-49A8-8989-3BC91835C34B}" type="parTrans" cxnId="{51FBF895-AC47-45BF-A1D1-315844C1623F}">
      <dgm:prSet/>
      <dgm:spPr/>
      <dgm:t>
        <a:bodyPr/>
        <a:lstStyle/>
        <a:p>
          <a:endParaRPr lang="en-US"/>
        </a:p>
      </dgm:t>
    </dgm:pt>
    <dgm:pt modelId="{4357ECD6-6B2B-4045-BCFE-0C088C25C0DA}" type="sibTrans" cxnId="{51FBF895-AC47-45BF-A1D1-315844C1623F}">
      <dgm:prSet/>
      <dgm:spPr/>
      <dgm:t>
        <a:bodyPr/>
        <a:lstStyle/>
        <a:p>
          <a:endParaRPr lang="en-US"/>
        </a:p>
      </dgm:t>
    </dgm:pt>
    <dgm:pt modelId="{2C177D34-6CE9-4BE8-96CE-D3C3ED0AF093}">
      <dgm:prSet/>
      <dgm:spPr/>
      <dgm:t>
        <a:bodyPr/>
        <a:lstStyle/>
        <a:p>
          <a:pPr>
            <a:lnSpc>
              <a:spcPct val="100000"/>
            </a:lnSpc>
          </a:pPr>
          <a:r>
            <a:rPr lang="en-US" b="1" dirty="0"/>
            <a:t>Hardware drift</a:t>
          </a:r>
          <a:br>
            <a:rPr lang="en-US" dirty="0"/>
          </a:br>
          <a:r>
            <a:rPr lang="en-US" dirty="0"/>
            <a:t>Pan/tilt homing needs more validation</a:t>
          </a:r>
        </a:p>
      </dgm:t>
    </dgm:pt>
    <dgm:pt modelId="{8CE71C5D-2ED9-40D2-9BFC-3A513950A3D8}" type="parTrans" cxnId="{02444AF7-1FF8-422D-9990-BD2E0EA027FD}">
      <dgm:prSet/>
      <dgm:spPr/>
      <dgm:t>
        <a:bodyPr/>
        <a:lstStyle/>
        <a:p>
          <a:endParaRPr lang="en-US"/>
        </a:p>
      </dgm:t>
    </dgm:pt>
    <dgm:pt modelId="{7F40A63B-FC4D-4D0A-B583-6E0CA70971EB}" type="sibTrans" cxnId="{02444AF7-1FF8-422D-9990-BD2E0EA027FD}">
      <dgm:prSet/>
      <dgm:spPr/>
      <dgm:t>
        <a:bodyPr/>
        <a:lstStyle/>
        <a:p>
          <a:endParaRPr lang="en-US"/>
        </a:p>
      </dgm:t>
    </dgm:pt>
    <dgm:pt modelId="{EDF7F2BF-8270-4403-9C56-CD429086B03D}" type="pres">
      <dgm:prSet presAssocID="{0818EECF-E132-4C5D-99F9-7A89A40F5745}" presName="root" presStyleCnt="0">
        <dgm:presLayoutVars>
          <dgm:dir/>
          <dgm:resizeHandles val="exact"/>
        </dgm:presLayoutVars>
      </dgm:prSet>
      <dgm:spPr/>
    </dgm:pt>
    <dgm:pt modelId="{89EB2F37-2B22-494C-9294-D9F6588E172F}" type="pres">
      <dgm:prSet presAssocID="{7E5B3E46-D947-44D5-935F-59893FFA817C}" presName="compNode" presStyleCnt="0"/>
      <dgm:spPr/>
    </dgm:pt>
    <dgm:pt modelId="{7EFABA1C-BE9E-4BE3-93F2-9AFEA165AE84}" type="pres">
      <dgm:prSet presAssocID="{7E5B3E46-D947-44D5-935F-59893FFA817C}" presName="bgRect" presStyleLbl="bgShp" presStyleIdx="0" presStyleCnt="5"/>
      <dgm:spPr/>
    </dgm:pt>
    <dgm:pt modelId="{7A1646E0-8309-4C84-A1AF-92EE1D5A09C5}" type="pres">
      <dgm:prSet presAssocID="{7E5B3E46-D947-44D5-935F-59893FFA817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isconnected"/>
        </a:ext>
      </dgm:extLst>
    </dgm:pt>
    <dgm:pt modelId="{764ECE60-5F26-4BCF-8ECA-CEAFF71E4E9F}" type="pres">
      <dgm:prSet presAssocID="{7E5B3E46-D947-44D5-935F-59893FFA817C}" presName="spaceRect" presStyleCnt="0"/>
      <dgm:spPr/>
    </dgm:pt>
    <dgm:pt modelId="{EB712A30-E0FF-476B-9C1B-6AFFDE65CD45}" type="pres">
      <dgm:prSet presAssocID="{7E5B3E46-D947-44D5-935F-59893FFA817C}" presName="parTx" presStyleLbl="revTx" presStyleIdx="0" presStyleCnt="5">
        <dgm:presLayoutVars>
          <dgm:chMax val="0"/>
          <dgm:chPref val="0"/>
        </dgm:presLayoutVars>
      </dgm:prSet>
      <dgm:spPr/>
    </dgm:pt>
    <dgm:pt modelId="{3F9106C9-606F-490D-90F6-7F06422312B6}" type="pres">
      <dgm:prSet presAssocID="{3F5DEA99-6804-4AE8-A313-FD15522E9642}" presName="sibTrans" presStyleCnt="0"/>
      <dgm:spPr/>
    </dgm:pt>
    <dgm:pt modelId="{0D3F7836-AF56-48E5-9A53-D903C65E85C9}" type="pres">
      <dgm:prSet presAssocID="{EF3B1EB9-93D3-4525-8B83-7CD5EB49E03F}" presName="compNode" presStyleCnt="0"/>
      <dgm:spPr/>
    </dgm:pt>
    <dgm:pt modelId="{8367CE92-AECD-411A-B35F-4A3FFDAF8A65}" type="pres">
      <dgm:prSet presAssocID="{EF3B1EB9-93D3-4525-8B83-7CD5EB49E03F}" presName="bgRect" presStyleLbl="bgShp" presStyleIdx="1" presStyleCnt="5"/>
      <dgm:spPr/>
    </dgm:pt>
    <dgm:pt modelId="{D76E11CF-4963-437E-86B8-2FA030CAEE9B}" type="pres">
      <dgm:prSet presAssocID="{EF3B1EB9-93D3-4525-8B83-7CD5EB49E03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jector"/>
        </a:ext>
      </dgm:extLst>
    </dgm:pt>
    <dgm:pt modelId="{0AFFA430-4B83-4BDF-81D9-89475081A35F}" type="pres">
      <dgm:prSet presAssocID="{EF3B1EB9-93D3-4525-8B83-7CD5EB49E03F}" presName="spaceRect" presStyleCnt="0"/>
      <dgm:spPr/>
    </dgm:pt>
    <dgm:pt modelId="{B21BA8A1-A050-4476-85E7-D9A46566BE45}" type="pres">
      <dgm:prSet presAssocID="{EF3B1EB9-93D3-4525-8B83-7CD5EB49E03F}" presName="parTx" presStyleLbl="revTx" presStyleIdx="1" presStyleCnt="5">
        <dgm:presLayoutVars>
          <dgm:chMax val="0"/>
          <dgm:chPref val="0"/>
        </dgm:presLayoutVars>
      </dgm:prSet>
      <dgm:spPr/>
    </dgm:pt>
    <dgm:pt modelId="{16F237D5-A8A3-4692-A2BE-C1BD98FAE978}" type="pres">
      <dgm:prSet presAssocID="{E0AE2B38-3A4F-4EF3-811E-9053A99094F2}" presName="sibTrans" presStyleCnt="0"/>
      <dgm:spPr/>
    </dgm:pt>
    <dgm:pt modelId="{51C8FD4F-C800-48E9-B971-DE29A5F1382F}" type="pres">
      <dgm:prSet presAssocID="{4CDAB935-826E-49C9-A806-8129A14B3195}" presName="compNode" presStyleCnt="0"/>
      <dgm:spPr/>
    </dgm:pt>
    <dgm:pt modelId="{7AFEEFC5-7D33-45E7-B737-BC6E1DE5CE37}" type="pres">
      <dgm:prSet presAssocID="{4CDAB935-826E-49C9-A806-8129A14B3195}" presName="bgRect" presStyleLbl="bgShp" presStyleIdx="2" presStyleCnt="5"/>
      <dgm:spPr/>
    </dgm:pt>
    <dgm:pt modelId="{41157971-A7B1-4945-A200-8226D8260E7C}" type="pres">
      <dgm:prSet presAssocID="{4CDAB935-826E-49C9-A806-8129A14B319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Judge"/>
        </a:ext>
      </dgm:extLst>
    </dgm:pt>
    <dgm:pt modelId="{29E55D04-88EE-4B64-9C1B-48EFA82F8D62}" type="pres">
      <dgm:prSet presAssocID="{4CDAB935-826E-49C9-A806-8129A14B3195}" presName="spaceRect" presStyleCnt="0"/>
      <dgm:spPr/>
    </dgm:pt>
    <dgm:pt modelId="{81EE1ED8-87F3-4DB5-9206-8C20B6B37752}" type="pres">
      <dgm:prSet presAssocID="{4CDAB935-826E-49C9-A806-8129A14B3195}" presName="parTx" presStyleLbl="revTx" presStyleIdx="2" presStyleCnt="5">
        <dgm:presLayoutVars>
          <dgm:chMax val="0"/>
          <dgm:chPref val="0"/>
        </dgm:presLayoutVars>
      </dgm:prSet>
      <dgm:spPr/>
    </dgm:pt>
    <dgm:pt modelId="{D55A2EBF-E46E-457A-AC3B-A021FE354FD5}" type="pres">
      <dgm:prSet presAssocID="{012DE6CB-57C5-4E68-AFB8-0BFBB77E5B7D}" presName="sibTrans" presStyleCnt="0"/>
      <dgm:spPr/>
    </dgm:pt>
    <dgm:pt modelId="{642A9BC7-E493-451D-ADB4-49B5E27994A1}" type="pres">
      <dgm:prSet presAssocID="{766C13A4-B6DD-414C-A82A-E7BEBD264E8C}" presName="compNode" presStyleCnt="0"/>
      <dgm:spPr/>
    </dgm:pt>
    <dgm:pt modelId="{0CC7D97A-14EE-4D04-A1B1-3237EAF5FA39}" type="pres">
      <dgm:prSet presAssocID="{766C13A4-B6DD-414C-A82A-E7BEBD264E8C}" presName="bgRect" presStyleLbl="bgShp" presStyleIdx="3" presStyleCnt="5"/>
      <dgm:spPr/>
    </dgm:pt>
    <dgm:pt modelId="{96023334-FB2E-4EB2-944C-1935C23AE746}" type="pres">
      <dgm:prSet presAssocID="{766C13A4-B6DD-414C-A82A-E7BEBD264E8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et"/>
        </a:ext>
      </dgm:extLst>
    </dgm:pt>
    <dgm:pt modelId="{D2AB6829-D432-4802-B8DD-B06F30E8AD15}" type="pres">
      <dgm:prSet presAssocID="{766C13A4-B6DD-414C-A82A-E7BEBD264E8C}" presName="spaceRect" presStyleCnt="0"/>
      <dgm:spPr/>
    </dgm:pt>
    <dgm:pt modelId="{B226DAFC-4BF6-4C79-BB51-53256DAA071A}" type="pres">
      <dgm:prSet presAssocID="{766C13A4-B6DD-414C-A82A-E7BEBD264E8C}" presName="parTx" presStyleLbl="revTx" presStyleIdx="3" presStyleCnt="5">
        <dgm:presLayoutVars>
          <dgm:chMax val="0"/>
          <dgm:chPref val="0"/>
        </dgm:presLayoutVars>
      </dgm:prSet>
      <dgm:spPr/>
    </dgm:pt>
    <dgm:pt modelId="{74CA0B82-A59F-403A-8712-C20A15023F20}" type="pres">
      <dgm:prSet presAssocID="{4357ECD6-6B2B-4045-BCFE-0C088C25C0DA}" presName="sibTrans" presStyleCnt="0"/>
      <dgm:spPr/>
    </dgm:pt>
    <dgm:pt modelId="{51074A52-E8A1-43D7-B257-946A7C92B7D7}" type="pres">
      <dgm:prSet presAssocID="{2C177D34-6CE9-4BE8-96CE-D3C3ED0AF093}" presName="compNode" presStyleCnt="0"/>
      <dgm:spPr/>
    </dgm:pt>
    <dgm:pt modelId="{B956D9B2-0249-4DA6-A87E-9085F8EB0C75}" type="pres">
      <dgm:prSet presAssocID="{2C177D34-6CE9-4BE8-96CE-D3C3ED0AF093}" presName="bgRect" presStyleLbl="bgShp" presStyleIdx="4" presStyleCnt="5"/>
      <dgm:spPr/>
    </dgm:pt>
    <dgm:pt modelId="{CCB61FF3-5CAC-4948-8E93-1319E76E9F65}" type="pres">
      <dgm:prSet presAssocID="{2C177D34-6CE9-4BE8-96CE-D3C3ED0AF09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Ear"/>
        </a:ext>
      </dgm:extLst>
    </dgm:pt>
    <dgm:pt modelId="{635740D7-64B9-4F6F-A9F5-4B656ADA2EB7}" type="pres">
      <dgm:prSet presAssocID="{2C177D34-6CE9-4BE8-96CE-D3C3ED0AF093}" presName="spaceRect" presStyleCnt="0"/>
      <dgm:spPr/>
    </dgm:pt>
    <dgm:pt modelId="{3AB74534-AEB7-4A8A-A991-8C35E333CAF4}" type="pres">
      <dgm:prSet presAssocID="{2C177D34-6CE9-4BE8-96CE-D3C3ED0AF093}" presName="parTx" presStyleLbl="revTx" presStyleIdx="4" presStyleCnt="5">
        <dgm:presLayoutVars>
          <dgm:chMax val="0"/>
          <dgm:chPref val="0"/>
        </dgm:presLayoutVars>
      </dgm:prSet>
      <dgm:spPr/>
    </dgm:pt>
  </dgm:ptLst>
  <dgm:cxnLst>
    <dgm:cxn modelId="{341D9E1C-343B-45D2-AD5E-DC55FCBAFD8E}" srcId="{0818EECF-E132-4C5D-99F9-7A89A40F5745}" destId="{7E5B3E46-D947-44D5-935F-59893FFA817C}" srcOrd="0" destOrd="0" parTransId="{B6B22E0F-BBBA-49C9-82B5-5115F0C9C677}" sibTransId="{3F5DEA99-6804-4AE8-A313-FD15522E9642}"/>
    <dgm:cxn modelId="{A8BA1D22-FA44-42EB-84B8-40FA9DBCD23A}" type="presOf" srcId="{EF3B1EB9-93D3-4525-8B83-7CD5EB49E03F}" destId="{B21BA8A1-A050-4476-85E7-D9A46566BE45}" srcOrd="0" destOrd="0" presId="urn:microsoft.com/office/officeart/2018/2/layout/IconVerticalSolidList"/>
    <dgm:cxn modelId="{4B84322C-A277-438C-B931-CF2D4184AE97}" type="presOf" srcId="{0818EECF-E132-4C5D-99F9-7A89A40F5745}" destId="{EDF7F2BF-8270-4403-9C56-CD429086B03D}" srcOrd="0" destOrd="0" presId="urn:microsoft.com/office/officeart/2018/2/layout/IconVerticalSolidList"/>
    <dgm:cxn modelId="{5661B833-E51C-4A01-A8B8-6D50CC7E295C}" type="presOf" srcId="{4CDAB935-826E-49C9-A806-8129A14B3195}" destId="{81EE1ED8-87F3-4DB5-9206-8C20B6B37752}" srcOrd="0" destOrd="0" presId="urn:microsoft.com/office/officeart/2018/2/layout/IconVerticalSolidList"/>
    <dgm:cxn modelId="{2348F16B-4FFA-4C11-94E1-5E0E41ECFC63}" type="presOf" srcId="{2C177D34-6CE9-4BE8-96CE-D3C3ED0AF093}" destId="{3AB74534-AEB7-4A8A-A991-8C35E333CAF4}" srcOrd="0" destOrd="0" presId="urn:microsoft.com/office/officeart/2018/2/layout/IconVerticalSolidList"/>
    <dgm:cxn modelId="{65C47871-09DD-4873-A2F2-2AC7778DEEB3}" srcId="{0818EECF-E132-4C5D-99F9-7A89A40F5745}" destId="{4CDAB935-826E-49C9-A806-8129A14B3195}" srcOrd="2" destOrd="0" parTransId="{9C2855DE-C80F-434F-9F61-463C6086BA9C}" sibTransId="{012DE6CB-57C5-4E68-AFB8-0BFBB77E5B7D}"/>
    <dgm:cxn modelId="{27FAA082-332A-4413-AF26-E9CD5EB346D7}" type="presOf" srcId="{766C13A4-B6DD-414C-A82A-E7BEBD264E8C}" destId="{B226DAFC-4BF6-4C79-BB51-53256DAA071A}" srcOrd="0" destOrd="0" presId="urn:microsoft.com/office/officeart/2018/2/layout/IconVerticalSolidList"/>
    <dgm:cxn modelId="{51FBF895-AC47-45BF-A1D1-315844C1623F}" srcId="{0818EECF-E132-4C5D-99F9-7A89A40F5745}" destId="{766C13A4-B6DD-414C-A82A-E7BEBD264E8C}" srcOrd="3" destOrd="0" parTransId="{BBA02122-8265-49A8-8989-3BC91835C34B}" sibTransId="{4357ECD6-6B2B-4045-BCFE-0C088C25C0DA}"/>
    <dgm:cxn modelId="{474189D3-4722-48D7-8757-AB12E3F4E1BD}" type="presOf" srcId="{7E5B3E46-D947-44D5-935F-59893FFA817C}" destId="{EB712A30-E0FF-476B-9C1B-6AFFDE65CD45}" srcOrd="0" destOrd="0" presId="urn:microsoft.com/office/officeart/2018/2/layout/IconVerticalSolidList"/>
    <dgm:cxn modelId="{2D50D7E7-9E14-47CD-A943-99F28AF1ABFF}" srcId="{0818EECF-E132-4C5D-99F9-7A89A40F5745}" destId="{EF3B1EB9-93D3-4525-8B83-7CD5EB49E03F}" srcOrd="1" destOrd="0" parTransId="{767FDF0E-1DD9-48BD-868E-734ABE2C1F41}" sibTransId="{E0AE2B38-3A4F-4EF3-811E-9053A99094F2}"/>
    <dgm:cxn modelId="{02444AF7-1FF8-422D-9990-BD2E0EA027FD}" srcId="{0818EECF-E132-4C5D-99F9-7A89A40F5745}" destId="{2C177D34-6CE9-4BE8-96CE-D3C3ED0AF093}" srcOrd="4" destOrd="0" parTransId="{8CE71C5D-2ED9-40D2-9BFC-3A513950A3D8}" sibTransId="{7F40A63B-FC4D-4D0A-B583-6E0CA70971EB}"/>
    <dgm:cxn modelId="{3CA95F2A-BEDE-4802-9C6A-59651847B337}" type="presParOf" srcId="{EDF7F2BF-8270-4403-9C56-CD429086B03D}" destId="{89EB2F37-2B22-494C-9294-D9F6588E172F}" srcOrd="0" destOrd="0" presId="urn:microsoft.com/office/officeart/2018/2/layout/IconVerticalSolidList"/>
    <dgm:cxn modelId="{6343A823-2340-48EB-8725-38422D34F01D}" type="presParOf" srcId="{89EB2F37-2B22-494C-9294-D9F6588E172F}" destId="{7EFABA1C-BE9E-4BE3-93F2-9AFEA165AE84}" srcOrd="0" destOrd="0" presId="urn:microsoft.com/office/officeart/2018/2/layout/IconVerticalSolidList"/>
    <dgm:cxn modelId="{F394F5F1-C29F-4579-BC54-0892CC9C646E}" type="presParOf" srcId="{89EB2F37-2B22-494C-9294-D9F6588E172F}" destId="{7A1646E0-8309-4C84-A1AF-92EE1D5A09C5}" srcOrd="1" destOrd="0" presId="urn:microsoft.com/office/officeart/2018/2/layout/IconVerticalSolidList"/>
    <dgm:cxn modelId="{D547A679-026E-472F-91D9-18C257CE55EB}" type="presParOf" srcId="{89EB2F37-2B22-494C-9294-D9F6588E172F}" destId="{764ECE60-5F26-4BCF-8ECA-CEAFF71E4E9F}" srcOrd="2" destOrd="0" presId="urn:microsoft.com/office/officeart/2018/2/layout/IconVerticalSolidList"/>
    <dgm:cxn modelId="{6C86F866-73F4-42F6-888C-20BAD9EBA590}" type="presParOf" srcId="{89EB2F37-2B22-494C-9294-D9F6588E172F}" destId="{EB712A30-E0FF-476B-9C1B-6AFFDE65CD45}" srcOrd="3" destOrd="0" presId="urn:microsoft.com/office/officeart/2018/2/layout/IconVerticalSolidList"/>
    <dgm:cxn modelId="{826200E2-9F75-4AA3-BF10-D16DE2DA9AD1}" type="presParOf" srcId="{EDF7F2BF-8270-4403-9C56-CD429086B03D}" destId="{3F9106C9-606F-490D-90F6-7F06422312B6}" srcOrd="1" destOrd="0" presId="urn:microsoft.com/office/officeart/2018/2/layout/IconVerticalSolidList"/>
    <dgm:cxn modelId="{7170CE97-FB2A-4EFB-B1DD-3209CA463ECA}" type="presParOf" srcId="{EDF7F2BF-8270-4403-9C56-CD429086B03D}" destId="{0D3F7836-AF56-48E5-9A53-D903C65E85C9}" srcOrd="2" destOrd="0" presId="urn:microsoft.com/office/officeart/2018/2/layout/IconVerticalSolidList"/>
    <dgm:cxn modelId="{B200CBD1-74FC-4FF6-B3E9-140CF0F6805A}" type="presParOf" srcId="{0D3F7836-AF56-48E5-9A53-D903C65E85C9}" destId="{8367CE92-AECD-411A-B35F-4A3FFDAF8A65}" srcOrd="0" destOrd="0" presId="urn:microsoft.com/office/officeart/2018/2/layout/IconVerticalSolidList"/>
    <dgm:cxn modelId="{6550C277-F835-4689-A119-03E21F8C0EC1}" type="presParOf" srcId="{0D3F7836-AF56-48E5-9A53-D903C65E85C9}" destId="{D76E11CF-4963-437E-86B8-2FA030CAEE9B}" srcOrd="1" destOrd="0" presId="urn:microsoft.com/office/officeart/2018/2/layout/IconVerticalSolidList"/>
    <dgm:cxn modelId="{F4608761-EABA-4647-B708-1263E5722D71}" type="presParOf" srcId="{0D3F7836-AF56-48E5-9A53-D903C65E85C9}" destId="{0AFFA430-4B83-4BDF-81D9-89475081A35F}" srcOrd="2" destOrd="0" presId="urn:microsoft.com/office/officeart/2018/2/layout/IconVerticalSolidList"/>
    <dgm:cxn modelId="{C61261C0-CE55-4E7F-814A-3EB02D438197}" type="presParOf" srcId="{0D3F7836-AF56-48E5-9A53-D903C65E85C9}" destId="{B21BA8A1-A050-4476-85E7-D9A46566BE45}" srcOrd="3" destOrd="0" presId="urn:microsoft.com/office/officeart/2018/2/layout/IconVerticalSolidList"/>
    <dgm:cxn modelId="{27787615-1214-4434-A6CC-98440FE3606B}" type="presParOf" srcId="{EDF7F2BF-8270-4403-9C56-CD429086B03D}" destId="{16F237D5-A8A3-4692-A2BE-C1BD98FAE978}" srcOrd="3" destOrd="0" presId="urn:microsoft.com/office/officeart/2018/2/layout/IconVerticalSolidList"/>
    <dgm:cxn modelId="{CBC5C4A5-397F-49C5-9730-2B341DE1C847}" type="presParOf" srcId="{EDF7F2BF-8270-4403-9C56-CD429086B03D}" destId="{51C8FD4F-C800-48E9-B971-DE29A5F1382F}" srcOrd="4" destOrd="0" presId="urn:microsoft.com/office/officeart/2018/2/layout/IconVerticalSolidList"/>
    <dgm:cxn modelId="{1F3A2AA8-A3C1-4AF9-9F3C-78D762DD0A04}" type="presParOf" srcId="{51C8FD4F-C800-48E9-B971-DE29A5F1382F}" destId="{7AFEEFC5-7D33-45E7-B737-BC6E1DE5CE37}" srcOrd="0" destOrd="0" presId="urn:microsoft.com/office/officeart/2018/2/layout/IconVerticalSolidList"/>
    <dgm:cxn modelId="{88A46C78-DAAD-4A31-B579-D29192579A8D}" type="presParOf" srcId="{51C8FD4F-C800-48E9-B971-DE29A5F1382F}" destId="{41157971-A7B1-4945-A200-8226D8260E7C}" srcOrd="1" destOrd="0" presId="urn:microsoft.com/office/officeart/2018/2/layout/IconVerticalSolidList"/>
    <dgm:cxn modelId="{7CB8E8E8-EDB7-441A-9CB5-736A9F480592}" type="presParOf" srcId="{51C8FD4F-C800-48E9-B971-DE29A5F1382F}" destId="{29E55D04-88EE-4B64-9C1B-48EFA82F8D62}" srcOrd="2" destOrd="0" presId="urn:microsoft.com/office/officeart/2018/2/layout/IconVerticalSolidList"/>
    <dgm:cxn modelId="{5238A4D2-F3C3-4279-90F1-F3AFAE68B99A}" type="presParOf" srcId="{51C8FD4F-C800-48E9-B971-DE29A5F1382F}" destId="{81EE1ED8-87F3-4DB5-9206-8C20B6B37752}" srcOrd="3" destOrd="0" presId="urn:microsoft.com/office/officeart/2018/2/layout/IconVerticalSolidList"/>
    <dgm:cxn modelId="{DB2C46CC-1185-4E35-8853-F18856E2996F}" type="presParOf" srcId="{EDF7F2BF-8270-4403-9C56-CD429086B03D}" destId="{D55A2EBF-E46E-457A-AC3B-A021FE354FD5}" srcOrd="5" destOrd="0" presId="urn:microsoft.com/office/officeart/2018/2/layout/IconVerticalSolidList"/>
    <dgm:cxn modelId="{F4D73106-FFD0-414C-B5B2-C2462B1809DF}" type="presParOf" srcId="{EDF7F2BF-8270-4403-9C56-CD429086B03D}" destId="{642A9BC7-E493-451D-ADB4-49B5E27994A1}" srcOrd="6" destOrd="0" presId="urn:microsoft.com/office/officeart/2018/2/layout/IconVerticalSolidList"/>
    <dgm:cxn modelId="{4BA36E5D-E38D-4735-BDD7-720B17221620}" type="presParOf" srcId="{642A9BC7-E493-451D-ADB4-49B5E27994A1}" destId="{0CC7D97A-14EE-4D04-A1B1-3237EAF5FA39}" srcOrd="0" destOrd="0" presId="urn:microsoft.com/office/officeart/2018/2/layout/IconVerticalSolidList"/>
    <dgm:cxn modelId="{90646082-F95F-4856-B00D-652BBFEADECB}" type="presParOf" srcId="{642A9BC7-E493-451D-ADB4-49B5E27994A1}" destId="{96023334-FB2E-4EB2-944C-1935C23AE746}" srcOrd="1" destOrd="0" presId="urn:microsoft.com/office/officeart/2018/2/layout/IconVerticalSolidList"/>
    <dgm:cxn modelId="{EFD40664-79BF-4571-A1FD-ED3A0477FB63}" type="presParOf" srcId="{642A9BC7-E493-451D-ADB4-49B5E27994A1}" destId="{D2AB6829-D432-4802-B8DD-B06F30E8AD15}" srcOrd="2" destOrd="0" presId="urn:microsoft.com/office/officeart/2018/2/layout/IconVerticalSolidList"/>
    <dgm:cxn modelId="{737E4D9D-1493-4CC4-A2B8-A3DDDC474A02}" type="presParOf" srcId="{642A9BC7-E493-451D-ADB4-49B5E27994A1}" destId="{B226DAFC-4BF6-4C79-BB51-53256DAA071A}" srcOrd="3" destOrd="0" presId="urn:microsoft.com/office/officeart/2018/2/layout/IconVerticalSolidList"/>
    <dgm:cxn modelId="{FAD73850-96CD-411E-9FE4-858628769330}" type="presParOf" srcId="{EDF7F2BF-8270-4403-9C56-CD429086B03D}" destId="{74CA0B82-A59F-403A-8712-C20A15023F20}" srcOrd="7" destOrd="0" presId="urn:microsoft.com/office/officeart/2018/2/layout/IconVerticalSolidList"/>
    <dgm:cxn modelId="{9E080B29-6586-44B3-90DA-7C509DC7F9D1}" type="presParOf" srcId="{EDF7F2BF-8270-4403-9C56-CD429086B03D}" destId="{51074A52-E8A1-43D7-B257-946A7C92B7D7}" srcOrd="8" destOrd="0" presId="urn:microsoft.com/office/officeart/2018/2/layout/IconVerticalSolidList"/>
    <dgm:cxn modelId="{CE803853-8F20-4611-8CAE-3BC8196C57CD}" type="presParOf" srcId="{51074A52-E8A1-43D7-B257-946A7C92B7D7}" destId="{B956D9B2-0249-4DA6-A87E-9085F8EB0C75}" srcOrd="0" destOrd="0" presId="urn:microsoft.com/office/officeart/2018/2/layout/IconVerticalSolidList"/>
    <dgm:cxn modelId="{316D8B9F-C72D-42F3-8E48-245A4B08B0EB}" type="presParOf" srcId="{51074A52-E8A1-43D7-B257-946A7C92B7D7}" destId="{CCB61FF3-5CAC-4948-8E93-1319E76E9F65}" srcOrd="1" destOrd="0" presId="urn:microsoft.com/office/officeart/2018/2/layout/IconVerticalSolidList"/>
    <dgm:cxn modelId="{5B3C4A97-AB2E-43B8-9EAE-352937649DE0}" type="presParOf" srcId="{51074A52-E8A1-43D7-B257-946A7C92B7D7}" destId="{635740D7-64B9-4F6F-A9F5-4B656ADA2EB7}" srcOrd="2" destOrd="0" presId="urn:microsoft.com/office/officeart/2018/2/layout/IconVerticalSolidList"/>
    <dgm:cxn modelId="{10A292BF-830F-4402-8B55-480BE1DEF71D}" type="presParOf" srcId="{51074A52-E8A1-43D7-B257-946A7C92B7D7}" destId="{3AB74534-AEB7-4A8A-A991-8C35E333CAF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79F436-0D8E-4FEA-9FC1-66955547836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1680E6FD-CCC5-4D58-8CE7-4F1355053733}">
      <dgm:prSet/>
      <dgm:spPr/>
      <dgm:t>
        <a:bodyPr/>
        <a:lstStyle/>
        <a:p>
          <a:r>
            <a:rPr lang="en-US" dirty="0"/>
            <a:t>Moving-target closed-loop firing </a:t>
          </a:r>
        </a:p>
      </dgm:t>
    </dgm:pt>
    <dgm:pt modelId="{D5E5737B-03D9-442B-9165-87CD942A1AEF}" type="parTrans" cxnId="{1CE65003-97B5-4FCD-802A-5BB96399C8BF}">
      <dgm:prSet/>
      <dgm:spPr/>
      <dgm:t>
        <a:bodyPr/>
        <a:lstStyle/>
        <a:p>
          <a:endParaRPr lang="en-US"/>
        </a:p>
      </dgm:t>
    </dgm:pt>
    <dgm:pt modelId="{FA84A449-EA22-4127-9A66-3F76254CE8E0}" type="sibTrans" cxnId="{1CE65003-97B5-4FCD-802A-5BB96399C8BF}">
      <dgm:prSet/>
      <dgm:spPr/>
      <dgm:t>
        <a:bodyPr/>
        <a:lstStyle/>
        <a:p>
          <a:endParaRPr lang="en-US"/>
        </a:p>
      </dgm:t>
    </dgm:pt>
    <dgm:pt modelId="{570E5EBA-F731-485C-8F01-5F20FBBDB9EB}">
      <dgm:prSet/>
      <dgm:spPr/>
      <dgm:t>
        <a:bodyPr/>
        <a:lstStyle/>
        <a:p>
          <a:r>
            <a:rPr lang="en-US" dirty="0"/>
            <a:t>RPM → velocity calibration </a:t>
          </a:r>
        </a:p>
      </dgm:t>
    </dgm:pt>
    <dgm:pt modelId="{D9FE1A05-8F5C-4D7C-A8B6-7F3262487F0B}" type="parTrans" cxnId="{ADBFD80B-FA12-45CC-8559-75A32F9C25CD}">
      <dgm:prSet/>
      <dgm:spPr/>
      <dgm:t>
        <a:bodyPr/>
        <a:lstStyle/>
        <a:p>
          <a:endParaRPr lang="en-US"/>
        </a:p>
      </dgm:t>
    </dgm:pt>
    <dgm:pt modelId="{ADDD2CA2-EAD8-42C4-A918-C2F8C4D3F11B}" type="sibTrans" cxnId="{ADBFD80B-FA12-45CC-8559-75A32F9C25CD}">
      <dgm:prSet/>
      <dgm:spPr/>
      <dgm:t>
        <a:bodyPr/>
        <a:lstStyle/>
        <a:p>
          <a:endParaRPr lang="en-US"/>
        </a:p>
      </dgm:t>
    </dgm:pt>
    <dgm:pt modelId="{5363B20D-9D66-428F-871F-861670027510}">
      <dgm:prSet/>
      <dgm:spPr/>
      <dgm:t>
        <a:bodyPr/>
        <a:lstStyle/>
        <a:p>
          <a:r>
            <a:rPr lang="en-US" dirty="0"/>
            <a:t>Predictive lead compensation </a:t>
          </a:r>
        </a:p>
      </dgm:t>
    </dgm:pt>
    <dgm:pt modelId="{281DEB19-0810-402B-9939-244CEE9B75B2}" type="parTrans" cxnId="{8BB3AF3D-1DAC-4542-A1DF-B396406D5F3D}">
      <dgm:prSet/>
      <dgm:spPr/>
      <dgm:t>
        <a:bodyPr/>
        <a:lstStyle/>
        <a:p>
          <a:endParaRPr lang="en-US"/>
        </a:p>
      </dgm:t>
    </dgm:pt>
    <dgm:pt modelId="{C4A254AE-128B-4B97-9DC4-DB83399C18AB}" type="sibTrans" cxnId="{8BB3AF3D-1DAC-4542-A1DF-B396406D5F3D}">
      <dgm:prSet/>
      <dgm:spPr/>
      <dgm:t>
        <a:bodyPr/>
        <a:lstStyle/>
        <a:p>
          <a:endParaRPr lang="en-US"/>
        </a:p>
      </dgm:t>
    </dgm:pt>
    <dgm:pt modelId="{14A156CD-F382-4DB8-8A75-845BA4E57B38}">
      <dgm:prSet/>
      <dgm:spPr/>
      <dgm:t>
        <a:bodyPr/>
        <a:lstStyle/>
        <a:p>
          <a:r>
            <a:rPr lang="en-US" dirty="0"/>
            <a:t>Virtual 3D Goal impact detection </a:t>
          </a:r>
        </a:p>
      </dgm:t>
    </dgm:pt>
    <dgm:pt modelId="{AC896304-9F5F-4B74-ABD3-C3C439426E4F}" type="parTrans" cxnId="{CC91BB32-C723-46BD-80D7-C81760CA91CD}">
      <dgm:prSet/>
      <dgm:spPr/>
      <dgm:t>
        <a:bodyPr/>
        <a:lstStyle/>
        <a:p>
          <a:endParaRPr lang="en-US"/>
        </a:p>
      </dgm:t>
    </dgm:pt>
    <dgm:pt modelId="{F35C1F6F-5E61-42C7-89F7-9DB28F67A2AE}" type="sibTrans" cxnId="{CC91BB32-C723-46BD-80D7-C81760CA91CD}">
      <dgm:prSet/>
      <dgm:spPr/>
      <dgm:t>
        <a:bodyPr/>
        <a:lstStyle/>
        <a:p>
          <a:endParaRPr lang="en-US"/>
        </a:p>
      </dgm:t>
    </dgm:pt>
    <dgm:pt modelId="{30A653F7-5633-4B7C-BE7E-6483470D9909}">
      <dgm:prSet/>
      <dgm:spPr/>
      <dgm:t>
        <a:bodyPr/>
        <a:lstStyle/>
        <a:p>
          <a:r>
            <a:rPr lang="en-US" dirty="0"/>
            <a:t>SLAM camera re-</a:t>
          </a:r>
          <a:r>
            <a:rPr lang="en-US" dirty="0" err="1"/>
            <a:t>localisation</a:t>
          </a:r>
          <a:r>
            <a:rPr lang="en-US" dirty="0"/>
            <a:t> </a:t>
          </a:r>
        </a:p>
      </dgm:t>
    </dgm:pt>
    <dgm:pt modelId="{945782AA-179B-4746-A72A-DDEA63C35DD0}" type="sibTrans" cxnId="{EB72374D-1740-4F37-9BE3-E67510829E96}">
      <dgm:prSet/>
      <dgm:spPr/>
      <dgm:t>
        <a:bodyPr/>
        <a:lstStyle/>
        <a:p>
          <a:endParaRPr lang="en-US"/>
        </a:p>
      </dgm:t>
    </dgm:pt>
    <dgm:pt modelId="{358B4F9E-8516-4972-BACE-5781F8B82379}" type="parTrans" cxnId="{EB72374D-1740-4F37-9BE3-E67510829E96}">
      <dgm:prSet/>
      <dgm:spPr/>
      <dgm:t>
        <a:bodyPr/>
        <a:lstStyle/>
        <a:p>
          <a:endParaRPr lang="en-US"/>
        </a:p>
      </dgm:t>
    </dgm:pt>
    <dgm:pt modelId="{3CF354B7-D3A3-47FF-A3D5-731C208E2ABE}" type="pres">
      <dgm:prSet presAssocID="{6779F436-0D8E-4FEA-9FC1-66955547836A}" presName="outerComposite" presStyleCnt="0">
        <dgm:presLayoutVars>
          <dgm:chMax val="5"/>
          <dgm:dir/>
          <dgm:resizeHandles val="exact"/>
        </dgm:presLayoutVars>
      </dgm:prSet>
      <dgm:spPr/>
    </dgm:pt>
    <dgm:pt modelId="{41B27D24-0D0C-4D16-BF43-88C124366E99}" type="pres">
      <dgm:prSet presAssocID="{6779F436-0D8E-4FEA-9FC1-66955547836A}" presName="dummyMaxCanvas" presStyleCnt="0">
        <dgm:presLayoutVars/>
      </dgm:prSet>
      <dgm:spPr/>
    </dgm:pt>
    <dgm:pt modelId="{EF81C61F-C0D8-44C8-A73A-7D3D5300A0BF}" type="pres">
      <dgm:prSet presAssocID="{6779F436-0D8E-4FEA-9FC1-66955547836A}" presName="FiveNodes_1" presStyleLbl="node1" presStyleIdx="0" presStyleCnt="5">
        <dgm:presLayoutVars>
          <dgm:bulletEnabled val="1"/>
        </dgm:presLayoutVars>
      </dgm:prSet>
      <dgm:spPr/>
    </dgm:pt>
    <dgm:pt modelId="{7C65E19E-975B-4BE9-93F7-E938702749C9}" type="pres">
      <dgm:prSet presAssocID="{6779F436-0D8E-4FEA-9FC1-66955547836A}" presName="FiveNodes_2" presStyleLbl="node1" presStyleIdx="1" presStyleCnt="5">
        <dgm:presLayoutVars>
          <dgm:bulletEnabled val="1"/>
        </dgm:presLayoutVars>
      </dgm:prSet>
      <dgm:spPr/>
    </dgm:pt>
    <dgm:pt modelId="{9A04EDD2-1AF8-4E6F-8CA1-DC4A110EDC7C}" type="pres">
      <dgm:prSet presAssocID="{6779F436-0D8E-4FEA-9FC1-66955547836A}" presName="FiveNodes_3" presStyleLbl="node1" presStyleIdx="2" presStyleCnt="5">
        <dgm:presLayoutVars>
          <dgm:bulletEnabled val="1"/>
        </dgm:presLayoutVars>
      </dgm:prSet>
      <dgm:spPr/>
    </dgm:pt>
    <dgm:pt modelId="{BC703FF6-9085-4614-9B2E-AECA75D7EB27}" type="pres">
      <dgm:prSet presAssocID="{6779F436-0D8E-4FEA-9FC1-66955547836A}" presName="FiveNodes_4" presStyleLbl="node1" presStyleIdx="3" presStyleCnt="5">
        <dgm:presLayoutVars>
          <dgm:bulletEnabled val="1"/>
        </dgm:presLayoutVars>
      </dgm:prSet>
      <dgm:spPr/>
    </dgm:pt>
    <dgm:pt modelId="{B1F81418-E456-45C0-8FA7-D499CD4A2358}" type="pres">
      <dgm:prSet presAssocID="{6779F436-0D8E-4FEA-9FC1-66955547836A}" presName="FiveNodes_5" presStyleLbl="node1" presStyleIdx="4" presStyleCnt="5">
        <dgm:presLayoutVars>
          <dgm:bulletEnabled val="1"/>
        </dgm:presLayoutVars>
      </dgm:prSet>
      <dgm:spPr/>
    </dgm:pt>
    <dgm:pt modelId="{D5FA34CE-4D60-419D-8613-AEBBC62F2E5B}" type="pres">
      <dgm:prSet presAssocID="{6779F436-0D8E-4FEA-9FC1-66955547836A}" presName="FiveConn_1-2" presStyleLbl="fgAccFollowNode1" presStyleIdx="0" presStyleCnt="4">
        <dgm:presLayoutVars>
          <dgm:bulletEnabled val="1"/>
        </dgm:presLayoutVars>
      </dgm:prSet>
      <dgm:spPr/>
    </dgm:pt>
    <dgm:pt modelId="{D4040B5F-5356-42B4-B595-D91B13FA0833}" type="pres">
      <dgm:prSet presAssocID="{6779F436-0D8E-4FEA-9FC1-66955547836A}" presName="FiveConn_2-3" presStyleLbl="fgAccFollowNode1" presStyleIdx="1" presStyleCnt="4">
        <dgm:presLayoutVars>
          <dgm:bulletEnabled val="1"/>
        </dgm:presLayoutVars>
      </dgm:prSet>
      <dgm:spPr/>
    </dgm:pt>
    <dgm:pt modelId="{07267D81-6D5C-477B-B5C3-021EC791F446}" type="pres">
      <dgm:prSet presAssocID="{6779F436-0D8E-4FEA-9FC1-66955547836A}" presName="FiveConn_3-4" presStyleLbl="fgAccFollowNode1" presStyleIdx="2" presStyleCnt="4">
        <dgm:presLayoutVars>
          <dgm:bulletEnabled val="1"/>
        </dgm:presLayoutVars>
      </dgm:prSet>
      <dgm:spPr/>
    </dgm:pt>
    <dgm:pt modelId="{7E8E2707-9F3C-47E5-8B11-1F4BFFC28220}" type="pres">
      <dgm:prSet presAssocID="{6779F436-0D8E-4FEA-9FC1-66955547836A}" presName="FiveConn_4-5" presStyleLbl="fgAccFollowNode1" presStyleIdx="3" presStyleCnt="4">
        <dgm:presLayoutVars>
          <dgm:bulletEnabled val="1"/>
        </dgm:presLayoutVars>
      </dgm:prSet>
      <dgm:spPr/>
    </dgm:pt>
    <dgm:pt modelId="{B42D0375-514B-40FC-9F26-BB8953581E3B}" type="pres">
      <dgm:prSet presAssocID="{6779F436-0D8E-4FEA-9FC1-66955547836A}" presName="FiveNodes_1_text" presStyleLbl="node1" presStyleIdx="4" presStyleCnt="5">
        <dgm:presLayoutVars>
          <dgm:bulletEnabled val="1"/>
        </dgm:presLayoutVars>
      </dgm:prSet>
      <dgm:spPr/>
    </dgm:pt>
    <dgm:pt modelId="{6FDB0D13-E6B2-491A-B407-9F5445E44D00}" type="pres">
      <dgm:prSet presAssocID="{6779F436-0D8E-4FEA-9FC1-66955547836A}" presName="FiveNodes_2_text" presStyleLbl="node1" presStyleIdx="4" presStyleCnt="5">
        <dgm:presLayoutVars>
          <dgm:bulletEnabled val="1"/>
        </dgm:presLayoutVars>
      </dgm:prSet>
      <dgm:spPr/>
    </dgm:pt>
    <dgm:pt modelId="{75A37236-07B5-4065-A3A7-5B2FBC310EB2}" type="pres">
      <dgm:prSet presAssocID="{6779F436-0D8E-4FEA-9FC1-66955547836A}" presName="FiveNodes_3_text" presStyleLbl="node1" presStyleIdx="4" presStyleCnt="5">
        <dgm:presLayoutVars>
          <dgm:bulletEnabled val="1"/>
        </dgm:presLayoutVars>
      </dgm:prSet>
      <dgm:spPr/>
    </dgm:pt>
    <dgm:pt modelId="{DC9A705D-01E4-4BB3-87A7-26E7D48D6663}" type="pres">
      <dgm:prSet presAssocID="{6779F436-0D8E-4FEA-9FC1-66955547836A}" presName="FiveNodes_4_text" presStyleLbl="node1" presStyleIdx="4" presStyleCnt="5">
        <dgm:presLayoutVars>
          <dgm:bulletEnabled val="1"/>
        </dgm:presLayoutVars>
      </dgm:prSet>
      <dgm:spPr/>
    </dgm:pt>
    <dgm:pt modelId="{B8DADE8B-DC7D-4E3B-8903-4ED89FC59D69}" type="pres">
      <dgm:prSet presAssocID="{6779F436-0D8E-4FEA-9FC1-66955547836A}" presName="FiveNodes_5_text" presStyleLbl="node1" presStyleIdx="4" presStyleCnt="5">
        <dgm:presLayoutVars>
          <dgm:bulletEnabled val="1"/>
        </dgm:presLayoutVars>
      </dgm:prSet>
      <dgm:spPr/>
    </dgm:pt>
  </dgm:ptLst>
  <dgm:cxnLst>
    <dgm:cxn modelId="{E22AC700-7557-42AF-AD45-37750D4E53F7}" type="presOf" srcId="{ADDD2CA2-EAD8-42C4-A918-C2F8C4D3F11B}" destId="{D4040B5F-5356-42B4-B595-D91B13FA0833}" srcOrd="0" destOrd="0" presId="urn:microsoft.com/office/officeart/2005/8/layout/vProcess5"/>
    <dgm:cxn modelId="{8DCB4503-26E6-4E28-955F-DEC9A949A74F}" type="presOf" srcId="{C4A254AE-128B-4B97-9DC4-DB83399C18AB}" destId="{07267D81-6D5C-477B-B5C3-021EC791F446}" srcOrd="0" destOrd="0" presId="urn:microsoft.com/office/officeart/2005/8/layout/vProcess5"/>
    <dgm:cxn modelId="{1CE65003-97B5-4FCD-802A-5BB96399C8BF}" srcId="{6779F436-0D8E-4FEA-9FC1-66955547836A}" destId="{1680E6FD-CCC5-4D58-8CE7-4F1355053733}" srcOrd="0" destOrd="0" parTransId="{D5E5737B-03D9-442B-9165-87CD942A1AEF}" sibTransId="{FA84A449-EA22-4127-9A66-3F76254CE8E0}"/>
    <dgm:cxn modelId="{ADBFD80B-FA12-45CC-8559-75A32F9C25CD}" srcId="{6779F436-0D8E-4FEA-9FC1-66955547836A}" destId="{570E5EBA-F731-485C-8F01-5F20FBBDB9EB}" srcOrd="1" destOrd="0" parTransId="{D9FE1A05-8F5C-4D7C-A8B6-7F3262487F0B}" sibTransId="{ADDD2CA2-EAD8-42C4-A918-C2F8C4D3F11B}"/>
    <dgm:cxn modelId="{3970F70F-7FF4-4D0D-BB6F-8E4905C8016D}" type="presOf" srcId="{5363B20D-9D66-428F-871F-861670027510}" destId="{75A37236-07B5-4065-A3A7-5B2FBC310EB2}" srcOrd="1" destOrd="0" presId="urn:microsoft.com/office/officeart/2005/8/layout/vProcess5"/>
    <dgm:cxn modelId="{CC91BB32-C723-46BD-80D7-C81760CA91CD}" srcId="{6779F436-0D8E-4FEA-9FC1-66955547836A}" destId="{14A156CD-F382-4DB8-8A75-845BA4E57B38}" srcOrd="4" destOrd="0" parTransId="{AC896304-9F5F-4B74-ABD3-C3C439426E4F}" sibTransId="{F35C1F6F-5E61-42C7-89F7-9DB28F67A2AE}"/>
    <dgm:cxn modelId="{8BB3AF3D-1DAC-4542-A1DF-B396406D5F3D}" srcId="{6779F436-0D8E-4FEA-9FC1-66955547836A}" destId="{5363B20D-9D66-428F-871F-861670027510}" srcOrd="2" destOrd="0" parTransId="{281DEB19-0810-402B-9939-244CEE9B75B2}" sibTransId="{C4A254AE-128B-4B97-9DC4-DB83399C18AB}"/>
    <dgm:cxn modelId="{18E3DD64-B2EA-4258-85FA-B6BC8EB9C935}" type="presOf" srcId="{570E5EBA-F731-485C-8F01-5F20FBBDB9EB}" destId="{7C65E19E-975B-4BE9-93F7-E938702749C9}" srcOrd="0" destOrd="0" presId="urn:microsoft.com/office/officeart/2005/8/layout/vProcess5"/>
    <dgm:cxn modelId="{EB72374D-1740-4F37-9BE3-E67510829E96}" srcId="{6779F436-0D8E-4FEA-9FC1-66955547836A}" destId="{30A653F7-5633-4B7C-BE7E-6483470D9909}" srcOrd="3" destOrd="0" parTransId="{358B4F9E-8516-4972-BACE-5781F8B82379}" sibTransId="{945782AA-179B-4746-A72A-DDEA63C35DD0}"/>
    <dgm:cxn modelId="{319A1274-FDA9-4B1F-AC49-402E01C2264B}" type="presOf" srcId="{30A653F7-5633-4B7C-BE7E-6483470D9909}" destId="{BC703FF6-9085-4614-9B2E-AECA75D7EB27}" srcOrd="0" destOrd="0" presId="urn:microsoft.com/office/officeart/2005/8/layout/vProcess5"/>
    <dgm:cxn modelId="{FC26BB90-AE8D-4AF6-A46A-E562738CF253}" type="presOf" srcId="{14A156CD-F382-4DB8-8A75-845BA4E57B38}" destId="{B1F81418-E456-45C0-8FA7-D499CD4A2358}" srcOrd="0" destOrd="0" presId="urn:microsoft.com/office/officeart/2005/8/layout/vProcess5"/>
    <dgm:cxn modelId="{07C92297-BC77-4CCA-A3E3-A717FE3AF580}" type="presOf" srcId="{FA84A449-EA22-4127-9A66-3F76254CE8E0}" destId="{D5FA34CE-4D60-419D-8613-AEBBC62F2E5B}" srcOrd="0" destOrd="0" presId="urn:microsoft.com/office/officeart/2005/8/layout/vProcess5"/>
    <dgm:cxn modelId="{C8B44F97-3FFF-4F74-8282-B2CBDEE824BD}" type="presOf" srcId="{5363B20D-9D66-428F-871F-861670027510}" destId="{9A04EDD2-1AF8-4E6F-8CA1-DC4A110EDC7C}" srcOrd="0" destOrd="0" presId="urn:microsoft.com/office/officeart/2005/8/layout/vProcess5"/>
    <dgm:cxn modelId="{155C13A0-806F-49F9-80D8-0C3A64B7727B}" type="presOf" srcId="{570E5EBA-F731-485C-8F01-5F20FBBDB9EB}" destId="{6FDB0D13-E6B2-491A-B407-9F5445E44D00}" srcOrd="1" destOrd="0" presId="urn:microsoft.com/office/officeart/2005/8/layout/vProcess5"/>
    <dgm:cxn modelId="{91838CA3-93ED-4761-8CA3-3A594A098FB8}" type="presOf" srcId="{14A156CD-F382-4DB8-8A75-845BA4E57B38}" destId="{B8DADE8B-DC7D-4E3B-8903-4ED89FC59D69}" srcOrd="1" destOrd="0" presId="urn:microsoft.com/office/officeart/2005/8/layout/vProcess5"/>
    <dgm:cxn modelId="{F4263FA9-2BB7-4B1C-A411-DE28EA255839}" type="presOf" srcId="{30A653F7-5633-4B7C-BE7E-6483470D9909}" destId="{DC9A705D-01E4-4BB3-87A7-26E7D48D6663}" srcOrd="1" destOrd="0" presId="urn:microsoft.com/office/officeart/2005/8/layout/vProcess5"/>
    <dgm:cxn modelId="{90F7ACB8-C6EB-4727-BE62-9FB4228902B4}" type="presOf" srcId="{945782AA-179B-4746-A72A-DDEA63C35DD0}" destId="{7E8E2707-9F3C-47E5-8B11-1F4BFFC28220}" srcOrd="0" destOrd="0" presId="urn:microsoft.com/office/officeart/2005/8/layout/vProcess5"/>
    <dgm:cxn modelId="{5FE510D2-BFC6-4894-871C-5D493E1F9DB1}" type="presOf" srcId="{1680E6FD-CCC5-4D58-8CE7-4F1355053733}" destId="{EF81C61F-C0D8-44C8-A73A-7D3D5300A0BF}" srcOrd="0" destOrd="0" presId="urn:microsoft.com/office/officeart/2005/8/layout/vProcess5"/>
    <dgm:cxn modelId="{E1D6ABD8-AA5C-43E3-9174-A3BA3349E704}" type="presOf" srcId="{6779F436-0D8E-4FEA-9FC1-66955547836A}" destId="{3CF354B7-D3A3-47FF-A3D5-731C208E2ABE}" srcOrd="0" destOrd="0" presId="urn:microsoft.com/office/officeart/2005/8/layout/vProcess5"/>
    <dgm:cxn modelId="{19F4A6FE-CAE2-41B0-B80B-19C362DA85C6}" type="presOf" srcId="{1680E6FD-CCC5-4D58-8CE7-4F1355053733}" destId="{B42D0375-514B-40FC-9F26-BB8953581E3B}" srcOrd="1" destOrd="0" presId="urn:microsoft.com/office/officeart/2005/8/layout/vProcess5"/>
    <dgm:cxn modelId="{B97643FA-8DBE-475B-AF57-FC694B7A4039}" type="presParOf" srcId="{3CF354B7-D3A3-47FF-A3D5-731C208E2ABE}" destId="{41B27D24-0D0C-4D16-BF43-88C124366E99}" srcOrd="0" destOrd="0" presId="urn:microsoft.com/office/officeart/2005/8/layout/vProcess5"/>
    <dgm:cxn modelId="{FE693E06-BF80-4778-92B3-E1B145CB960B}" type="presParOf" srcId="{3CF354B7-D3A3-47FF-A3D5-731C208E2ABE}" destId="{EF81C61F-C0D8-44C8-A73A-7D3D5300A0BF}" srcOrd="1" destOrd="0" presId="urn:microsoft.com/office/officeart/2005/8/layout/vProcess5"/>
    <dgm:cxn modelId="{B4604624-1F2A-463E-ABD6-F3E95B4768A5}" type="presParOf" srcId="{3CF354B7-D3A3-47FF-A3D5-731C208E2ABE}" destId="{7C65E19E-975B-4BE9-93F7-E938702749C9}" srcOrd="2" destOrd="0" presId="urn:microsoft.com/office/officeart/2005/8/layout/vProcess5"/>
    <dgm:cxn modelId="{DEBF2DF7-68C5-4755-B1C3-2C6985FCC5FB}" type="presParOf" srcId="{3CF354B7-D3A3-47FF-A3D5-731C208E2ABE}" destId="{9A04EDD2-1AF8-4E6F-8CA1-DC4A110EDC7C}" srcOrd="3" destOrd="0" presId="urn:microsoft.com/office/officeart/2005/8/layout/vProcess5"/>
    <dgm:cxn modelId="{93211705-8FB1-4A20-9C0F-4F6494CC7D91}" type="presParOf" srcId="{3CF354B7-D3A3-47FF-A3D5-731C208E2ABE}" destId="{BC703FF6-9085-4614-9B2E-AECA75D7EB27}" srcOrd="4" destOrd="0" presId="urn:microsoft.com/office/officeart/2005/8/layout/vProcess5"/>
    <dgm:cxn modelId="{D42EA15E-E30A-4580-ACF2-91EE45AD9F08}" type="presParOf" srcId="{3CF354B7-D3A3-47FF-A3D5-731C208E2ABE}" destId="{B1F81418-E456-45C0-8FA7-D499CD4A2358}" srcOrd="5" destOrd="0" presId="urn:microsoft.com/office/officeart/2005/8/layout/vProcess5"/>
    <dgm:cxn modelId="{CC7CDC25-2402-4DC2-AA90-41BEC69BA786}" type="presParOf" srcId="{3CF354B7-D3A3-47FF-A3D5-731C208E2ABE}" destId="{D5FA34CE-4D60-419D-8613-AEBBC62F2E5B}" srcOrd="6" destOrd="0" presId="urn:microsoft.com/office/officeart/2005/8/layout/vProcess5"/>
    <dgm:cxn modelId="{7C6BD69B-B215-4C22-9C61-3E41BBE43C44}" type="presParOf" srcId="{3CF354B7-D3A3-47FF-A3D5-731C208E2ABE}" destId="{D4040B5F-5356-42B4-B595-D91B13FA0833}" srcOrd="7" destOrd="0" presId="urn:microsoft.com/office/officeart/2005/8/layout/vProcess5"/>
    <dgm:cxn modelId="{254031B2-DC80-4AE4-9A9F-BEB8FF32E3EE}" type="presParOf" srcId="{3CF354B7-D3A3-47FF-A3D5-731C208E2ABE}" destId="{07267D81-6D5C-477B-B5C3-021EC791F446}" srcOrd="8" destOrd="0" presId="urn:microsoft.com/office/officeart/2005/8/layout/vProcess5"/>
    <dgm:cxn modelId="{F4557D17-8DED-43AC-BE80-4C2C94AD3530}" type="presParOf" srcId="{3CF354B7-D3A3-47FF-A3D5-731C208E2ABE}" destId="{7E8E2707-9F3C-47E5-8B11-1F4BFFC28220}" srcOrd="9" destOrd="0" presId="urn:microsoft.com/office/officeart/2005/8/layout/vProcess5"/>
    <dgm:cxn modelId="{951C1EBD-7790-4C44-A231-100C5DB8A366}" type="presParOf" srcId="{3CF354B7-D3A3-47FF-A3D5-731C208E2ABE}" destId="{B42D0375-514B-40FC-9F26-BB8953581E3B}" srcOrd="10" destOrd="0" presId="urn:microsoft.com/office/officeart/2005/8/layout/vProcess5"/>
    <dgm:cxn modelId="{A3FB99C8-C41A-404B-94D9-CE679F6848AF}" type="presParOf" srcId="{3CF354B7-D3A3-47FF-A3D5-731C208E2ABE}" destId="{6FDB0D13-E6B2-491A-B407-9F5445E44D00}" srcOrd="11" destOrd="0" presId="urn:microsoft.com/office/officeart/2005/8/layout/vProcess5"/>
    <dgm:cxn modelId="{56559BD0-A02C-4E94-8763-27856EE27B43}" type="presParOf" srcId="{3CF354B7-D3A3-47FF-A3D5-731C208E2ABE}" destId="{75A37236-07B5-4065-A3A7-5B2FBC310EB2}" srcOrd="12" destOrd="0" presId="urn:microsoft.com/office/officeart/2005/8/layout/vProcess5"/>
    <dgm:cxn modelId="{0BF8410B-6B8B-4FB5-BE10-D170AB0F71F4}" type="presParOf" srcId="{3CF354B7-D3A3-47FF-A3D5-731C208E2ABE}" destId="{DC9A705D-01E4-4BB3-87A7-26E7D48D6663}" srcOrd="13" destOrd="0" presId="urn:microsoft.com/office/officeart/2005/8/layout/vProcess5"/>
    <dgm:cxn modelId="{B676F57E-0588-463D-9501-5599DDDE5F74}" type="presParOf" srcId="{3CF354B7-D3A3-47FF-A3D5-731C208E2ABE}" destId="{B8DADE8B-DC7D-4E3B-8903-4ED89FC59D69}"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41246-42E7-42B0-9DAA-9738ED811F41}">
      <dsp:nvSpPr>
        <dsp:cNvPr id="0" name=""/>
        <dsp:cNvSpPr/>
      </dsp:nvSpPr>
      <dsp:spPr>
        <a:xfrm>
          <a:off x="0" y="5963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Inherited platform:</a:t>
          </a:r>
          <a:br>
            <a:rPr lang="en-US" sz="2200" kern="1200" dirty="0"/>
          </a:br>
          <a:r>
            <a:rPr lang="en-US" sz="2200" kern="1200" dirty="0"/>
            <a:t>2-DOF BLM, flywheels, ESP32, pan/tilt</a:t>
          </a:r>
        </a:p>
      </dsp:txBody>
      <dsp:txXfrm>
        <a:off x="42722" y="102361"/>
        <a:ext cx="5883555" cy="789716"/>
      </dsp:txXfrm>
    </dsp:sp>
    <dsp:sp modelId="{B27E5A58-80C2-43D1-B216-DD7F5BB89C0A}">
      <dsp:nvSpPr>
        <dsp:cNvPr id="0" name=""/>
        <dsp:cNvSpPr/>
      </dsp:nvSpPr>
      <dsp:spPr>
        <a:xfrm>
          <a:off x="0" y="99815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Thesis contribution:</a:t>
          </a:r>
          <a:br>
            <a:rPr lang="en-US" sz="2200" kern="1200" dirty="0"/>
          </a:br>
          <a:r>
            <a:rPr lang="en-US" sz="2200" kern="1200" dirty="0"/>
            <a:t>4-camera perception, 3D triangulation, targeting</a:t>
          </a:r>
        </a:p>
      </dsp:txBody>
      <dsp:txXfrm>
        <a:off x="42722" y="1040881"/>
        <a:ext cx="5883555" cy="789716"/>
      </dsp:txXfrm>
    </dsp:sp>
    <dsp:sp modelId="{1DBC4697-0941-4BB3-A420-A71A18693C76}">
      <dsp:nvSpPr>
        <dsp:cNvPr id="0" name=""/>
        <dsp:cNvSpPr/>
      </dsp:nvSpPr>
      <dsp:spPr>
        <a:xfrm>
          <a:off x="0" y="193668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Core integration:</a:t>
          </a:r>
          <a:br>
            <a:rPr lang="en-US" sz="2200" kern="1200" dirty="0"/>
          </a:br>
          <a:r>
            <a:rPr lang="en-US" sz="2200" kern="1200" dirty="0"/>
            <a:t>pose → prediction → ballistics → safety gate</a:t>
          </a:r>
        </a:p>
      </dsp:txBody>
      <dsp:txXfrm>
        <a:off x="42722" y="1979402"/>
        <a:ext cx="5883555" cy="789716"/>
      </dsp:txXfrm>
    </dsp:sp>
    <dsp:sp modelId="{02B9E093-835E-4DB9-80F2-17392336FE53}">
      <dsp:nvSpPr>
        <dsp:cNvPr id="0" name=""/>
        <dsp:cNvSpPr/>
      </dsp:nvSpPr>
      <dsp:spPr>
        <a:xfrm>
          <a:off x="0" y="287520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Validated scope:</a:t>
          </a:r>
          <a:br>
            <a:rPr lang="en-US" sz="2200" kern="1200" dirty="0"/>
          </a:br>
          <a:r>
            <a:rPr lang="en-US" sz="2200" kern="1200" dirty="0"/>
            <a:t>static/live-aim tests; moving-target firing pending</a:t>
          </a:r>
        </a:p>
      </dsp:txBody>
      <dsp:txXfrm>
        <a:off x="42722" y="2917922"/>
        <a:ext cx="5883555"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1D9C4-A2F6-4786-958C-661317504254}">
      <dsp:nvSpPr>
        <dsp:cNvPr id="0" name=""/>
        <dsp:cNvSpPr/>
      </dsp:nvSpPr>
      <dsp:spPr>
        <a:xfrm>
          <a:off x="0" y="304799"/>
          <a:ext cx="11176000" cy="4064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D08757-8152-4299-A276-FBF5B37ABB26}">
      <dsp:nvSpPr>
        <dsp:cNvPr id="0" name=""/>
        <dsp:cNvSpPr/>
      </dsp:nvSpPr>
      <dsp:spPr>
        <a:xfrm>
          <a:off x="5034"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Synchronized 4-view capture at 1280×720.</a:t>
          </a:r>
          <a:endParaRPr lang="ru-RU" sz="1050" b="1" kern="1200" dirty="0"/>
        </a:p>
      </dsp:txBody>
      <dsp:txXfrm>
        <a:off x="5034" y="0"/>
        <a:ext cx="2421284" cy="406400"/>
      </dsp:txXfrm>
    </dsp:sp>
    <dsp:sp modelId="{7D6490B3-1E55-4465-B03C-EB7AFE3A27EA}">
      <dsp:nvSpPr>
        <dsp:cNvPr id="0" name=""/>
        <dsp:cNvSpPr/>
      </dsp:nvSpPr>
      <dsp:spPr>
        <a:xfrm>
          <a:off x="1164876"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542E7C-C2C7-4573-A937-4D83A70DDAFC}">
      <dsp:nvSpPr>
        <dsp:cNvPr id="0" name=""/>
        <dsp:cNvSpPr/>
      </dsp:nvSpPr>
      <dsp:spPr>
        <a:xfrm>
          <a:off x="2547383"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DLT/SVD triangulation with robust outlier rejection.</a:t>
          </a:r>
          <a:endParaRPr lang="ru-RU" sz="1050" b="1" kern="1200" dirty="0"/>
        </a:p>
      </dsp:txBody>
      <dsp:txXfrm>
        <a:off x="2547383" y="609599"/>
        <a:ext cx="2421284" cy="406400"/>
      </dsp:txXfrm>
    </dsp:sp>
    <dsp:sp modelId="{1646903D-DFAA-472B-9B73-53ED89CA8391}">
      <dsp:nvSpPr>
        <dsp:cNvPr id="0" name=""/>
        <dsp:cNvSpPr/>
      </dsp:nvSpPr>
      <dsp:spPr>
        <a:xfrm>
          <a:off x="3707225"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70158-BE5F-4924-A3F0-8753C082ABAC}">
      <dsp:nvSpPr>
        <dsp:cNvPr id="0" name=""/>
        <dsp:cNvSpPr/>
      </dsp:nvSpPr>
      <dsp:spPr>
        <a:xfrm>
          <a:off x="5089732"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Adaptive EMA + constant-velocity Kalman for predictive lead-time compensation.</a:t>
          </a:r>
          <a:endParaRPr lang="ru-RU" sz="1050" b="1" kern="1200" dirty="0"/>
        </a:p>
      </dsp:txBody>
      <dsp:txXfrm>
        <a:off x="5089732" y="0"/>
        <a:ext cx="2421284" cy="406400"/>
      </dsp:txXfrm>
    </dsp:sp>
    <dsp:sp modelId="{115C05C3-BC68-40A6-8B44-2670B0C49640}">
      <dsp:nvSpPr>
        <dsp:cNvPr id="0" name=""/>
        <dsp:cNvSpPr/>
      </dsp:nvSpPr>
      <dsp:spPr>
        <a:xfrm>
          <a:off x="6249574"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B47425-981B-4E54-A46E-88113407D89A}">
      <dsp:nvSpPr>
        <dsp:cNvPr id="0" name=""/>
        <dsp:cNvSpPr/>
      </dsp:nvSpPr>
      <dsp:spPr>
        <a:xfrm>
          <a:off x="7632081"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921,600-baud serial link to ESP32 cooperative FSM.</a:t>
          </a:r>
          <a:endParaRPr lang="ru-RU" sz="1050" b="1" kern="1200" dirty="0"/>
        </a:p>
      </dsp:txBody>
      <dsp:txXfrm>
        <a:off x="7632081" y="609599"/>
        <a:ext cx="2421284" cy="406400"/>
      </dsp:txXfrm>
    </dsp:sp>
    <dsp:sp modelId="{BB585EAF-FF22-4D4F-B7C4-155FDEB819EA}">
      <dsp:nvSpPr>
        <dsp:cNvPr id="0" name=""/>
        <dsp:cNvSpPr/>
      </dsp:nvSpPr>
      <dsp:spPr>
        <a:xfrm>
          <a:off x="8791923"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FABA1C-BE9E-4BE3-93F2-9AFEA165AE84}">
      <dsp:nvSpPr>
        <dsp:cNvPr id="0" name=""/>
        <dsp:cNvSpPr/>
      </dsp:nvSpPr>
      <dsp:spPr>
        <a:xfrm>
          <a:off x="0" y="4834"/>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1646E0-8309-4C84-A1AF-92EE1D5A09C5}">
      <dsp:nvSpPr>
        <dsp:cNvPr id="0" name=""/>
        <dsp:cNvSpPr/>
      </dsp:nvSpPr>
      <dsp:spPr>
        <a:xfrm>
          <a:off x="185794" y="143027"/>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712A30-E0FF-476B-9C1B-6AFFDE65CD45}">
      <dsp:nvSpPr>
        <dsp:cNvPr id="0" name=""/>
        <dsp:cNvSpPr/>
      </dsp:nvSpPr>
      <dsp:spPr>
        <a:xfrm>
          <a:off x="709725" y="4834"/>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Boundary</a:t>
          </a:r>
        </a:p>
        <a:p>
          <a:pPr marL="0" lvl="0" indent="0" algn="l" defTabSz="622300">
            <a:lnSpc>
              <a:spcPct val="100000"/>
            </a:lnSpc>
            <a:spcBef>
              <a:spcPct val="0"/>
            </a:spcBef>
            <a:spcAft>
              <a:spcPct val="35000"/>
            </a:spcAft>
            <a:buNone/>
          </a:pPr>
          <a:r>
            <a:rPr lang="en-US" sz="1400" kern="1200" dirty="0"/>
            <a:t>Moving-target closed-loop firing pending</a:t>
          </a:r>
        </a:p>
      </dsp:txBody>
      <dsp:txXfrm>
        <a:off x="709725" y="4834"/>
        <a:ext cx="5248344" cy="633388"/>
      </dsp:txXfrm>
    </dsp:sp>
    <dsp:sp modelId="{8367CE92-AECD-411A-B35F-4A3FFDAF8A65}">
      <dsp:nvSpPr>
        <dsp:cNvPr id="0" name=""/>
        <dsp:cNvSpPr/>
      </dsp:nvSpPr>
      <dsp:spPr>
        <a:xfrm>
          <a:off x="0" y="796569"/>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6E11CF-4963-437E-86B8-2FA030CAEE9B}">
      <dsp:nvSpPr>
        <dsp:cNvPr id="0" name=""/>
        <dsp:cNvSpPr/>
      </dsp:nvSpPr>
      <dsp:spPr>
        <a:xfrm>
          <a:off x="185794" y="934763"/>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BA8A1-A050-4476-85E7-D9A46566BE45}">
      <dsp:nvSpPr>
        <dsp:cNvPr id="0" name=""/>
        <dsp:cNvSpPr/>
      </dsp:nvSpPr>
      <dsp:spPr>
        <a:xfrm>
          <a:off x="709725" y="796569"/>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err="1"/>
            <a:t>Generalisation</a:t>
          </a:r>
          <a:br>
            <a:rPr lang="en-US" sz="1400" kern="1200" dirty="0"/>
          </a:br>
          <a:r>
            <a:rPr lang="en-US" sz="1400" kern="1200" dirty="0"/>
            <a:t>Single subject, one arena, indoor lighting</a:t>
          </a:r>
        </a:p>
      </dsp:txBody>
      <dsp:txXfrm>
        <a:off x="709725" y="796569"/>
        <a:ext cx="5248344" cy="633388"/>
      </dsp:txXfrm>
    </dsp:sp>
    <dsp:sp modelId="{7AFEEFC5-7D33-45E7-B737-BC6E1DE5CE37}">
      <dsp:nvSpPr>
        <dsp:cNvPr id="0" name=""/>
        <dsp:cNvSpPr/>
      </dsp:nvSpPr>
      <dsp:spPr>
        <a:xfrm>
          <a:off x="0" y="1588305"/>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157971-A7B1-4945-A200-8226D8260E7C}">
      <dsp:nvSpPr>
        <dsp:cNvPr id="0" name=""/>
        <dsp:cNvSpPr/>
      </dsp:nvSpPr>
      <dsp:spPr>
        <a:xfrm>
          <a:off x="185794" y="1726499"/>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E1ED8-87F3-4DB5-9206-8C20B6B37752}">
      <dsp:nvSpPr>
        <dsp:cNvPr id="0" name=""/>
        <dsp:cNvSpPr/>
      </dsp:nvSpPr>
      <dsp:spPr>
        <a:xfrm>
          <a:off x="709725" y="1588305"/>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Visibility</a:t>
          </a:r>
          <a:br>
            <a:rPr lang="en-US" sz="1400" kern="1200" dirty="0"/>
          </a:br>
          <a:r>
            <a:rPr lang="en-US" sz="1400" kern="1200" dirty="0"/>
            <a:t>19 / 81 joint trials invalid from occlusion</a:t>
          </a:r>
        </a:p>
      </dsp:txBody>
      <dsp:txXfrm>
        <a:off x="709725" y="1588305"/>
        <a:ext cx="5248344" cy="633388"/>
      </dsp:txXfrm>
    </dsp:sp>
    <dsp:sp modelId="{0CC7D97A-14EE-4D04-A1B1-3237EAF5FA39}">
      <dsp:nvSpPr>
        <dsp:cNvPr id="0" name=""/>
        <dsp:cNvSpPr/>
      </dsp:nvSpPr>
      <dsp:spPr>
        <a:xfrm>
          <a:off x="0" y="2380041"/>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23334-FB2E-4EB2-944C-1935C23AE746}">
      <dsp:nvSpPr>
        <dsp:cNvPr id="0" name=""/>
        <dsp:cNvSpPr/>
      </dsp:nvSpPr>
      <dsp:spPr>
        <a:xfrm>
          <a:off x="185794" y="2518235"/>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26DAFC-4BF6-4C79-BB51-53256DAA071A}">
      <dsp:nvSpPr>
        <dsp:cNvPr id="0" name=""/>
        <dsp:cNvSpPr/>
      </dsp:nvSpPr>
      <dsp:spPr>
        <a:xfrm>
          <a:off x="709725" y="2380041"/>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Ballistics</a:t>
          </a:r>
          <a:br>
            <a:rPr lang="en-US" sz="1400" kern="1200" dirty="0"/>
          </a:br>
          <a:r>
            <a:rPr lang="en-US" sz="1400" kern="1200" dirty="0"/>
            <a:t>RPM → velocity calibration missing</a:t>
          </a:r>
        </a:p>
      </dsp:txBody>
      <dsp:txXfrm>
        <a:off x="709725" y="2380041"/>
        <a:ext cx="5248344" cy="633388"/>
      </dsp:txXfrm>
    </dsp:sp>
    <dsp:sp modelId="{B956D9B2-0249-4DA6-A87E-9085F8EB0C75}">
      <dsp:nvSpPr>
        <dsp:cNvPr id="0" name=""/>
        <dsp:cNvSpPr/>
      </dsp:nvSpPr>
      <dsp:spPr>
        <a:xfrm>
          <a:off x="0" y="3171777"/>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B61FF3-5CAC-4948-8E93-1319E76E9F65}">
      <dsp:nvSpPr>
        <dsp:cNvPr id="0" name=""/>
        <dsp:cNvSpPr/>
      </dsp:nvSpPr>
      <dsp:spPr>
        <a:xfrm>
          <a:off x="185794" y="3309971"/>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B74534-AEB7-4A8A-A991-8C35E333CAF4}">
      <dsp:nvSpPr>
        <dsp:cNvPr id="0" name=""/>
        <dsp:cNvSpPr/>
      </dsp:nvSpPr>
      <dsp:spPr>
        <a:xfrm>
          <a:off x="709725" y="3171777"/>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Hardware drift</a:t>
          </a:r>
          <a:br>
            <a:rPr lang="en-US" sz="1400" kern="1200" dirty="0"/>
          </a:br>
          <a:r>
            <a:rPr lang="en-US" sz="1400" kern="1200" dirty="0"/>
            <a:t>Pan/tilt homing needs more validation</a:t>
          </a:r>
        </a:p>
      </dsp:txBody>
      <dsp:txXfrm>
        <a:off x="709725" y="3171777"/>
        <a:ext cx="5248344" cy="633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1C61F-C0D8-44C8-A73A-7D3D5300A0BF}">
      <dsp:nvSpPr>
        <dsp:cNvPr id="0" name=""/>
        <dsp:cNvSpPr/>
      </dsp:nvSpPr>
      <dsp:spPr>
        <a:xfrm>
          <a:off x="0" y="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Moving-target closed-loop firing </a:t>
          </a:r>
        </a:p>
      </dsp:txBody>
      <dsp:txXfrm>
        <a:off x="16739" y="16739"/>
        <a:ext cx="3619200" cy="538022"/>
      </dsp:txXfrm>
    </dsp:sp>
    <dsp:sp modelId="{7C65E19E-975B-4BE9-93F7-E938702749C9}">
      <dsp:nvSpPr>
        <dsp:cNvPr id="0" name=""/>
        <dsp:cNvSpPr/>
      </dsp:nvSpPr>
      <dsp:spPr>
        <a:xfrm>
          <a:off x="321310" y="65087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RPM → velocity calibration </a:t>
          </a:r>
        </a:p>
      </dsp:txBody>
      <dsp:txXfrm>
        <a:off x="338049" y="667614"/>
        <a:ext cx="3576497" cy="538022"/>
      </dsp:txXfrm>
    </dsp:sp>
    <dsp:sp modelId="{9A04EDD2-1AF8-4E6F-8CA1-DC4A110EDC7C}">
      <dsp:nvSpPr>
        <dsp:cNvPr id="0" name=""/>
        <dsp:cNvSpPr/>
      </dsp:nvSpPr>
      <dsp:spPr>
        <a:xfrm>
          <a:off x="642619" y="130175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Predictive lead compensation </a:t>
          </a:r>
        </a:p>
      </dsp:txBody>
      <dsp:txXfrm>
        <a:off x="659358" y="1318489"/>
        <a:ext cx="3576497" cy="538022"/>
      </dsp:txXfrm>
    </dsp:sp>
    <dsp:sp modelId="{BC703FF6-9085-4614-9B2E-AECA75D7EB27}">
      <dsp:nvSpPr>
        <dsp:cNvPr id="0" name=""/>
        <dsp:cNvSpPr/>
      </dsp:nvSpPr>
      <dsp:spPr>
        <a:xfrm>
          <a:off x="963930" y="195262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SLAM camera re-</a:t>
          </a:r>
          <a:r>
            <a:rPr lang="en-US" sz="2000" kern="1200" dirty="0" err="1"/>
            <a:t>localisation</a:t>
          </a:r>
          <a:r>
            <a:rPr lang="en-US" sz="2000" kern="1200" dirty="0"/>
            <a:t> </a:t>
          </a:r>
        </a:p>
      </dsp:txBody>
      <dsp:txXfrm>
        <a:off x="980669" y="1969364"/>
        <a:ext cx="3576497" cy="538022"/>
      </dsp:txXfrm>
    </dsp:sp>
    <dsp:sp modelId="{B1F81418-E456-45C0-8FA7-D499CD4A2358}">
      <dsp:nvSpPr>
        <dsp:cNvPr id="0" name=""/>
        <dsp:cNvSpPr/>
      </dsp:nvSpPr>
      <dsp:spPr>
        <a:xfrm>
          <a:off x="1285239" y="260350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Virtual 3D Goal impact detection </a:t>
          </a:r>
        </a:p>
      </dsp:txBody>
      <dsp:txXfrm>
        <a:off x="1301978" y="2620239"/>
        <a:ext cx="3576497" cy="538022"/>
      </dsp:txXfrm>
    </dsp:sp>
    <dsp:sp modelId="{D5FA34CE-4D60-419D-8613-AEBBC62F2E5B}">
      <dsp:nvSpPr>
        <dsp:cNvPr id="0" name=""/>
        <dsp:cNvSpPr/>
      </dsp:nvSpPr>
      <dsp:spPr>
        <a:xfrm>
          <a:off x="3931285" y="41751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14867" y="417512"/>
        <a:ext cx="204311" cy="279535"/>
      </dsp:txXfrm>
    </dsp:sp>
    <dsp:sp modelId="{D4040B5F-5356-42B4-B595-D91B13FA0833}">
      <dsp:nvSpPr>
        <dsp:cNvPr id="0" name=""/>
        <dsp:cNvSpPr/>
      </dsp:nvSpPr>
      <dsp:spPr>
        <a:xfrm>
          <a:off x="4252595" y="106838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336177" y="1068387"/>
        <a:ext cx="204311" cy="279535"/>
      </dsp:txXfrm>
    </dsp:sp>
    <dsp:sp modelId="{07267D81-6D5C-477B-B5C3-021EC791F446}">
      <dsp:nvSpPr>
        <dsp:cNvPr id="0" name=""/>
        <dsp:cNvSpPr/>
      </dsp:nvSpPr>
      <dsp:spPr>
        <a:xfrm>
          <a:off x="4573905" y="170973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657487" y="1709737"/>
        <a:ext cx="204311" cy="279535"/>
      </dsp:txXfrm>
    </dsp:sp>
    <dsp:sp modelId="{7E8E2707-9F3C-47E5-8B11-1F4BFFC28220}">
      <dsp:nvSpPr>
        <dsp:cNvPr id="0" name=""/>
        <dsp:cNvSpPr/>
      </dsp:nvSpPr>
      <dsp:spPr>
        <a:xfrm>
          <a:off x="4895215" y="236696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78797" y="2366962"/>
        <a:ext cx="204311" cy="279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27.04.2026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with Multi-Camera 3D Tracking. I am Hanush,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project starts from a simple gap.</a:t>
            </a:r>
          </a:p>
          <a:p>
            <a:r>
              <a:rPr lang="en-US" dirty="0"/>
              <a:t>Commercial ball launchers can repeat shots, but they cannot react to the athlete. They do not know where the player is or which body part should receive the ball.</a:t>
            </a:r>
          </a:p>
          <a:p>
            <a:r>
              <a:rPr lang="en-US" dirty="0"/>
              <a:t>Professional motion-capture systems can track the body accurately, but they are expensive, marker-based, and mainly used in labs.</a:t>
            </a:r>
          </a:p>
          <a:p>
            <a:r>
              <a:rPr lang="en-US" dirty="0"/>
              <a:t>So, the motivation is to build a low-cost, </a:t>
            </a:r>
            <a:r>
              <a:rPr lang="en-US" dirty="0" err="1"/>
              <a:t>markerless</a:t>
            </a:r>
            <a:r>
              <a:rPr lang="en-US" dirty="0"/>
              <a:t> system that uses cameras to estimate body joints in 3D and guide the ball launcher.”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main question is whether a ball launcher can use real-time 3D body-joint tracking for safe autonomous aiming.</a:t>
            </a:r>
          </a:p>
          <a:p>
            <a:r>
              <a:rPr lang="en-US" dirty="0"/>
              <a:t>I focused on four objectives.</a:t>
            </a:r>
          </a:p>
          <a:p>
            <a:r>
              <a:rPr lang="en-US" dirty="0"/>
              <a:t>First, ball </a:t>
            </a:r>
            <a:r>
              <a:rPr lang="en-US" dirty="0" err="1"/>
              <a:t>localisation</a:t>
            </a:r>
            <a:r>
              <a:rPr lang="en-US" dirty="0"/>
              <a:t>. The target was below 120 </a:t>
            </a:r>
            <a:r>
              <a:rPr lang="en-US" dirty="0" err="1"/>
              <a:t>millimetres</a:t>
            </a:r>
            <a:r>
              <a:rPr lang="en-US" dirty="0"/>
              <a:t> mean 3D error, and the achieved result was 95.17 </a:t>
            </a:r>
            <a:r>
              <a:rPr lang="en-US" dirty="0" err="1"/>
              <a:t>millimetres</a:t>
            </a:r>
            <a:r>
              <a:rPr lang="en-US" dirty="0"/>
              <a:t>.</a:t>
            </a:r>
          </a:p>
          <a:p>
            <a:r>
              <a:rPr lang="en-US" dirty="0"/>
              <a:t>Second, joint </a:t>
            </a:r>
            <a:r>
              <a:rPr lang="en-US" dirty="0" err="1"/>
              <a:t>localisation</a:t>
            </a:r>
            <a:r>
              <a:rPr lang="en-US" dirty="0"/>
              <a:t>. The target was below 180 </a:t>
            </a:r>
            <a:r>
              <a:rPr lang="en-US" dirty="0" err="1"/>
              <a:t>millimetres</a:t>
            </a:r>
            <a:r>
              <a:rPr lang="en-US" dirty="0"/>
              <a:t>, and the achieved result was 143.38 </a:t>
            </a:r>
            <a:r>
              <a:rPr lang="en-US" dirty="0" err="1"/>
              <a:t>millimetres</a:t>
            </a:r>
            <a:r>
              <a:rPr lang="en-US" dirty="0"/>
              <a:t> over 62 valid trials.</a:t>
            </a:r>
          </a:p>
          <a:p>
            <a:r>
              <a:rPr lang="en-US" dirty="0"/>
              <a:t>Third, safe integration. The system passed stages S0 to S4, and the emergency stop response was below 100 milliseconds.</a:t>
            </a:r>
          </a:p>
          <a:p>
            <a:r>
              <a:rPr lang="en-US" dirty="0"/>
              <a:t>Fourth, practicality. The perception system uses four USB cameras and costs about 200 US dollars.</a:t>
            </a:r>
          </a:p>
          <a:p>
            <a:r>
              <a:rPr lang="en-US" dirty="0"/>
              <a:t>So, the system is validated in static and live-aim conditions. Moving-target closed-loop firing remains the next milestone.”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Here I compare my system with the closest existing categories.</a:t>
            </a:r>
          </a:p>
          <a:p>
            <a:r>
              <a:rPr lang="en-US" dirty="0"/>
              <a:t>Commercial ball launchers are affordable and useful for repetitive training, but they are open-loop. They do not sense the athlete and cannot adapt the shot to a specific body part.</a:t>
            </a:r>
          </a:p>
          <a:p>
            <a:r>
              <a:rPr lang="en-US" dirty="0"/>
              <a:t>Optical motion-capture systems, such as Vicon or </a:t>
            </a:r>
            <a:r>
              <a:rPr lang="en-US" dirty="0" err="1"/>
              <a:t>OptiTrack</a:t>
            </a:r>
            <a:r>
              <a:rPr lang="en-US" dirty="0"/>
              <a:t>, provide very high 3D accuracy. However, they are expensive, marker-based, and mainly used for tracking only. They are not integrated with a ball launcher.</a:t>
            </a:r>
          </a:p>
          <a:p>
            <a:r>
              <a:rPr lang="en-US" dirty="0"/>
              <a:t>Vision-guided sports robots are closer to my work because they combine vision with physical actuation. However, they usually target fixed zones, for example in tennis or table-tennis setups, rather than named body joints such as the knee, hip, or shoulder.</a:t>
            </a:r>
          </a:p>
          <a:p>
            <a:r>
              <a:rPr lang="en-US" dirty="0"/>
              <a:t>My thesis focuses on this gap: a low-cost, </a:t>
            </a:r>
            <a:r>
              <a:rPr lang="en-US" dirty="0" err="1"/>
              <a:t>markerless</a:t>
            </a:r>
            <a:r>
              <a:rPr lang="en-US" dirty="0"/>
              <a:t> system that reconstructs body joints in 3D and connects them to a real Ball Launching Machine. </a:t>
            </a:r>
            <a:r>
              <a:rPr lang="en-US"/>
              <a:t>In this work, static and live-aim integration are validated, while moving-target closed-loop firing remains the next milestone.”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system runs as a left-to-right pipeline. First, four camera frames are captured, then YOLO detects the ball and pose </a:t>
            </a:r>
            <a:r>
              <a:rPr lang="en-US" dirty="0" err="1"/>
              <a:t>keypoints</a:t>
            </a:r>
            <a:r>
              <a:rPr lang="en-US" dirty="0"/>
              <a:t> using </a:t>
            </a:r>
            <a:r>
              <a:rPr lang="en-US" dirty="0" err="1"/>
              <a:t>TensorRT</a:t>
            </a:r>
            <a:r>
              <a:rPr lang="en-US" dirty="0"/>
              <a:t> FP16. The detections are triangulated into 3D using SVD-DLT, then smoothed with adaptive EMA and a per-joint Kalman filter.</a:t>
            </a:r>
          </a:p>
          <a:p>
            <a:r>
              <a:rPr lang="en-US" dirty="0"/>
              <a:t>The predicted joint position is sent through UDP to the Python supervisor, where the ballistic solver computes pitch, yaw, and wheel speed. The command is then sent over a 921,600-baud serial link to the ESP32 finite-state machine.</a:t>
            </a:r>
          </a:p>
          <a:p>
            <a:r>
              <a:rPr lang="en-US" dirty="0"/>
              <a:t>The important point is timing. The compute pipeline takes about 15 milliseconds end-to-end, which is well below the 67 millisecond frame budget for 15 FPS. This gives around 52 milliseconds of headroom for overhead, mechanical settling, and safety checks.”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hardware implementation.</a:t>
            </a:r>
          </a:p>
          <a:p>
            <a:r>
              <a:rPr lang="en-US" dirty="0"/>
              <a:t>The perception side uses four low-cost Hikvision USB cameras, each running at 1280 by 720 resolution. These cameras are placed around the garage arena and calibrated into one shared 3D coordinate frame using </a:t>
            </a:r>
            <a:r>
              <a:rPr lang="en-US" dirty="0" err="1"/>
              <a:t>AprilTag</a:t>
            </a:r>
            <a:r>
              <a:rPr lang="en-US" dirty="0"/>
              <a:t> markers on the walls.</a:t>
            </a:r>
          </a:p>
          <a:p>
            <a:r>
              <a:rPr lang="en-US" dirty="0"/>
              <a:t>The actuation side uses the inherited Ball Launching Machine platform. It includes an ESP32 controller, NEMA-23 stepper motors for pan and tilt, worm-gear reducers for self-locking, and counter-rotating flywheels for launching the ball.</a:t>
            </a:r>
          </a:p>
          <a:p>
            <a:r>
              <a:rPr lang="en-US" dirty="0"/>
              <a:t>The important point is that the expensive part of professional motion capture is replaced by a low-cost camera setup. The perception hardware is about 200 US dollars, while the launcher hardware is integrated as the actuation platform.”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software implementation. The perception system uses YOLO-Pose for body joints and a custom YOLO detector for the ball. Both are accelerated with </a:t>
            </a:r>
            <a:r>
              <a:rPr lang="en-US" dirty="0" err="1"/>
              <a:t>TensorRT</a:t>
            </a:r>
            <a:r>
              <a:rPr lang="en-US" dirty="0"/>
              <a:t> FP16 so that four-camera inference fits inside the 15 FPS timing budget.</a:t>
            </a:r>
          </a:p>
          <a:p>
            <a:r>
              <a:rPr lang="en-US" dirty="0"/>
              <a:t>After detection, the system triangulates 2D observations into 3D using SVD-DLT. The result is smoothed with adaptive EMA and predicted using a constant-velocity Kalman filter.</a:t>
            </a:r>
          </a:p>
          <a:p>
            <a:r>
              <a:rPr lang="en-US" dirty="0"/>
              <a:t>The Python supervisor then applies safety gates and computes the ballistic command: pitch, yaw, and wheel RPM. Finally, the ESP32 firmware receives the command and executes it through the finite-state machine.</a:t>
            </a:r>
          </a:p>
          <a:p>
            <a:r>
              <a:rPr lang="en-US" dirty="0"/>
              <a:t>So the key idea is that the software converts camera detections into safe launcher commands.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explains how the four cameras are connected into one coordinate system.</a:t>
            </a:r>
          </a:p>
          <a:p>
            <a:r>
              <a:rPr lang="en-US" dirty="0"/>
              <a:t>First, each camera is intrinsically calibrated using a </a:t>
            </a:r>
            <a:r>
              <a:rPr lang="en-US" dirty="0" err="1"/>
              <a:t>ChArUco</a:t>
            </a:r>
            <a:r>
              <a:rPr lang="en-US" dirty="0"/>
              <a:t> board. This gives the camera matrix and distortion parameters.</a:t>
            </a:r>
          </a:p>
          <a:p>
            <a:r>
              <a:rPr lang="en-US" dirty="0"/>
              <a:t>Second, the arena uses 24 </a:t>
            </a:r>
            <a:r>
              <a:rPr lang="en-US" dirty="0" err="1"/>
              <a:t>AprilTag</a:t>
            </a:r>
            <a:r>
              <a:rPr lang="en-US" dirty="0"/>
              <a:t> markers on the walls. These are used for extrinsic calibration, so each camera has a known position and orientation in the same world frame.</a:t>
            </a:r>
          </a:p>
          <a:p>
            <a:r>
              <a:rPr lang="en-US" dirty="0"/>
              <a:t>The origin is defined at the arena floor corner, and all coordinates are measured in </a:t>
            </a:r>
            <a:r>
              <a:rPr lang="en-US" dirty="0" err="1"/>
              <a:t>millimetres</a:t>
            </a:r>
            <a:r>
              <a:rPr lang="en-US" dirty="0"/>
              <a:t>.</a:t>
            </a:r>
          </a:p>
          <a:p>
            <a:r>
              <a:rPr lang="en-US" dirty="0"/>
              <a:t>After this, 2D detections from multiple cameras can be triangulated using SVD-DLT. For human joints, I require at least three camera views because pose </a:t>
            </a:r>
            <a:r>
              <a:rPr lang="en-US" dirty="0" err="1"/>
              <a:t>keypoints</a:t>
            </a:r>
            <a:r>
              <a:rPr lang="en-US" dirty="0"/>
              <a:t> are noisier than ball detections.”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For evaluation, I used four main experiment groups.</a:t>
            </a:r>
          </a:p>
          <a:p>
            <a:r>
              <a:rPr lang="en-US" dirty="0"/>
              <a:t>First, ball </a:t>
            </a:r>
            <a:r>
              <a:rPr lang="en-US" dirty="0" err="1"/>
              <a:t>localisation</a:t>
            </a:r>
            <a:r>
              <a:rPr lang="en-US" dirty="0"/>
              <a:t> was tested using a 36-point static grid. After bias correction, the mean 3D error was 95.17 </a:t>
            </a:r>
            <a:r>
              <a:rPr lang="en-US" dirty="0" err="1"/>
              <a:t>millimetres</a:t>
            </a:r>
            <a:r>
              <a:rPr lang="en-US" dirty="0"/>
              <a:t>.</a:t>
            </a:r>
          </a:p>
          <a:p>
            <a:r>
              <a:rPr lang="en-US" dirty="0"/>
              <a:t>Second, joint </a:t>
            </a:r>
            <a:r>
              <a:rPr lang="en-US" dirty="0" err="1"/>
              <a:t>localisation</a:t>
            </a:r>
            <a:r>
              <a:rPr lang="en-US" dirty="0"/>
              <a:t> was tested using a joint-touch protocol. Out of 81 trials, 62 were valid, with a mean 3D error of 143.38 </a:t>
            </a:r>
            <a:r>
              <a:rPr lang="en-US" dirty="0" err="1"/>
              <a:t>millimetres</a:t>
            </a:r>
            <a:r>
              <a:rPr lang="en-US" dirty="0"/>
              <a:t>.</a:t>
            </a:r>
          </a:p>
          <a:p>
            <a:r>
              <a:rPr lang="en-US" dirty="0"/>
              <a:t>Third, I tested dynamic clips such as slow ball motion, fast ball motion, and no-ball scenes to check stability and false positives.</a:t>
            </a:r>
          </a:p>
          <a:p>
            <a:r>
              <a:rPr lang="en-US" dirty="0"/>
              <a:t>Finally, the BLM integration was tested using a staged safety protocol from S0 to S4, with JSONL logging for every decision. This makes each command traceable and keeps the evaluation safety-gated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results.</a:t>
            </a:r>
          </a:p>
          <a:p>
            <a:r>
              <a:rPr lang="en-US" dirty="0"/>
              <a:t>For ball </a:t>
            </a:r>
            <a:r>
              <a:rPr lang="en-US" dirty="0" err="1"/>
              <a:t>localisation</a:t>
            </a:r>
            <a:r>
              <a:rPr lang="en-US" dirty="0"/>
              <a:t>, the corrected mean 3D error was 95.17 </a:t>
            </a:r>
            <a:r>
              <a:rPr lang="en-US" dirty="0" err="1"/>
              <a:t>millimetres</a:t>
            </a:r>
            <a:r>
              <a:rPr lang="en-US" dirty="0"/>
              <a:t>, which is below the 120 </a:t>
            </a:r>
            <a:r>
              <a:rPr lang="en-US" dirty="0" err="1"/>
              <a:t>millimetre</a:t>
            </a:r>
            <a:r>
              <a:rPr lang="en-US" dirty="0"/>
              <a:t> target.</a:t>
            </a:r>
          </a:p>
          <a:p>
            <a:r>
              <a:rPr lang="en-US" dirty="0"/>
              <a:t>For joint </a:t>
            </a:r>
            <a:r>
              <a:rPr lang="en-US" dirty="0" err="1"/>
              <a:t>localisation</a:t>
            </a:r>
            <a:r>
              <a:rPr lang="en-US" dirty="0"/>
              <a:t>, the mean error was 143.38 </a:t>
            </a:r>
            <a:r>
              <a:rPr lang="en-US" dirty="0" err="1"/>
              <a:t>millimetres</a:t>
            </a:r>
            <a:r>
              <a:rPr lang="en-US" dirty="0"/>
              <a:t> across 62 valid trials, below the 180 </a:t>
            </a:r>
            <a:r>
              <a:rPr lang="en-US" dirty="0" err="1"/>
              <a:t>millimetre</a:t>
            </a:r>
            <a:r>
              <a:rPr lang="en-US" dirty="0"/>
              <a:t> target. The knee had the lowest error, while the shoulder had the highest error because it is higher in the arena and has weaker camera overlap.</a:t>
            </a:r>
          </a:p>
          <a:p>
            <a:r>
              <a:rPr lang="en-US" dirty="0"/>
              <a:t>The safety result was also validated in the static and live-aim regime. The emergency stop response was below 100 milliseconds.</a:t>
            </a:r>
          </a:p>
          <a:p>
            <a:r>
              <a:rPr lang="en-US" dirty="0"/>
              <a:t>Finally, the software runs at 15 FPS. YOLO-Pose with </a:t>
            </a:r>
            <a:r>
              <a:rPr lang="en-US" dirty="0" err="1"/>
              <a:t>TensorRT</a:t>
            </a:r>
            <a:r>
              <a:rPr lang="en-US" dirty="0"/>
              <a:t> processes a four-camera batch in about 6.2 milliseconds, which fits within the real-time frame budget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limitations.</a:t>
            </a:r>
          </a:p>
          <a:p>
            <a:r>
              <a:rPr lang="en-US" dirty="0"/>
              <a:t>The system is validated for perception, 3D targeting, safety gates, and static or live-aim tests. However, fully autonomous closed-loop firing at a moving subject has not yet been validated, and I define this clearly as the next milestone.</a:t>
            </a:r>
          </a:p>
          <a:p>
            <a:r>
              <a:rPr lang="en-US" dirty="0"/>
              <a:t>There are also practical limitations. The evaluation used one subject, one indoor arena, and controlled lighting. In the joint-touch experiment, 19 out of 81 trials were invalid mainly because the joint was not visible from enough cameras.</a:t>
            </a:r>
          </a:p>
          <a:p>
            <a:r>
              <a:rPr lang="en-US" dirty="0"/>
              <a:t>Another limitation is the ballistic model. The RPM-to-velocity calibration is still missing, so future work should measure the real exit velocity of the ball at different wheel speeds.</a:t>
            </a:r>
          </a:p>
          <a:p>
            <a:r>
              <a:rPr lang="en-US" dirty="0"/>
              <a:t>Finally, the Kalman filter works well for smooth walking or jogging, but abrupt jumps are harder because they violate the constant-velocity assumption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To conclude, this thesis makes four main contributions.</a:t>
            </a:r>
          </a:p>
          <a:p>
            <a:r>
              <a:rPr lang="en-US" dirty="0"/>
              <a:t>First, it demonstrates pose-reactive aiming, where the launcher computes pitch, yaw, and wheel-speed commands from live 3D body-joint positions.</a:t>
            </a:r>
          </a:p>
          <a:p>
            <a:r>
              <a:rPr lang="en-US" dirty="0"/>
              <a:t>Second, it shows that low-cost 3D perception is feasible using four commodity USB cameras and open-source vision tools, with perception hardware around 200 US dollars.</a:t>
            </a:r>
          </a:p>
          <a:p>
            <a:r>
              <a:rPr lang="en-US" dirty="0"/>
              <a:t>Third, it contributes a safety-gated integration protocol. The system passed stages S0 to S4, the emergency stop response was below 100 milliseconds, and every actuation decision was logged.</a:t>
            </a:r>
          </a:p>
          <a:p>
            <a:r>
              <a:rPr lang="en-US" dirty="0"/>
              <a:t>Fourth, it integrates a training-mode interface where voice commands can select joints and control the system without bypassing the safety gates.</a:t>
            </a:r>
          </a:p>
          <a:p>
            <a:r>
              <a:rPr lang="en-US" dirty="0"/>
              <a:t>Overall, the thesis provides a strong partial validation of the pose-guided BLM concept. The remaining milestone is full closed-loop firing at a moving subject.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final slide shows the roadmap and safety framing.</a:t>
            </a:r>
          </a:p>
          <a:p>
            <a:r>
              <a:rPr lang="en-US" dirty="0"/>
              <a:t>The immediate next milestone is moving-target closed-loop firing. To do that properly, the RPM-to-velocity calibration must first be completed, because the system needs the ball flight time to aim at the predicted future joint position.</a:t>
            </a:r>
          </a:p>
          <a:p>
            <a:r>
              <a:rPr lang="en-US" dirty="0"/>
              <a:t>After that, the next steps are predictive lead compensation, SLAM-based camera re-</a:t>
            </a:r>
            <a:r>
              <a:rPr lang="en-US" dirty="0" err="1"/>
              <a:t>localisation</a:t>
            </a:r>
            <a:r>
              <a:rPr lang="en-US" dirty="0"/>
              <a:t>, and the Virtual 3D Goal, which would measure ball impact using the same camera system instead of physical sensors.</a:t>
            </a:r>
          </a:p>
          <a:p>
            <a:r>
              <a:rPr lang="en-US" dirty="0"/>
              <a:t>On the safety side, the design is aligned with machinery and robotics safety principles: risk assessment, safety-related control, electrical safety, emergency stop </a:t>
            </a:r>
            <a:r>
              <a:rPr lang="en-US" dirty="0" err="1"/>
              <a:t>behaviour</a:t>
            </a:r>
            <a:r>
              <a:rPr lang="en-US" dirty="0"/>
              <a:t>, and human exclusion during operation.</a:t>
            </a:r>
          </a:p>
          <a:p>
            <a:r>
              <a:rPr lang="en-US" dirty="0"/>
              <a:t>So future work is not only about increasing autonomy. It is about closing the moving-target loop while keeping the system safe, traceable, and ethically controlled.”</a:t>
            </a:r>
          </a:p>
          <a:p>
            <a:br>
              <a:rPr lang="en-US" dirty="0"/>
            </a:b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soccerinnovations.com/ball-launch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www.rit.edu/facilities/motion-capture-mocap-lab" TargetMode="Externa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546711" y="86868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with Multi-Camera 3D Tracking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1F1F1F"/>
              </a:solidFill>
            </a:endParaRPr>
          </a:p>
          <a:p>
            <a:pPr algn="ctr">
              <a:buNone/>
            </a:pPr>
            <a:r>
              <a:rPr lang="en-US" sz="1800" b="1" dirty="0">
                <a:solidFill>
                  <a:srgbClr val="1F1F1F"/>
                </a:solidFill>
                <a:latin typeface="Calibri"/>
              </a:rPr>
              <a:t>Arlen Smagulov</a:t>
            </a:r>
          </a:p>
          <a:p>
            <a:pPr algn="ctr">
              <a:buNone/>
            </a:pPr>
            <a:r>
              <a:rPr lang="en-US" sz="1400" b="0" dirty="0">
                <a:solidFill>
                  <a:srgbClr val="8A8A8A"/>
                </a:solidFill>
                <a:latin typeface="Calibri"/>
              </a:rPr>
              <a:t>Supervisor: Prof. Sultangali Arzykulov  ·  Co-supervisor: Prof. Mohammad Hashmi</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Hanush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186931" y="45720"/>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414218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60172"/>
            <a:ext cx="4850809" cy="720468"/>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Need for Low-Cost Pose-Reactive Ball Delivery</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Takeaway:affordable</a:t>
            </a:r>
            <a:r>
              <a:rPr lang="en-US" sz="1600" b="0" i="1" dirty="0">
                <a:solidFill>
                  <a:srgbClr val="FFFFFF"/>
                </a:solidFill>
                <a:latin typeface="Arial"/>
              </a:rPr>
              <a:t> pose-reactive training</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pic>
        <p:nvPicPr>
          <p:cNvPr id="1026" name="Picture 2" descr="student wearing a suit with sensors in a room that captures movements.">
            <a:extLst>
              <a:ext uri="{FF2B5EF4-FFF2-40B4-BE49-F238E27FC236}">
                <a16:creationId xmlns:a16="http://schemas.microsoft.com/office/drawing/2014/main" id="{F6B070A9-D305-FCA8-9A0E-EB4CB25E7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0047" y="2743200"/>
            <a:ext cx="3909051" cy="21994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2993608-901F-0387-DE2E-6FCC298EC2F1}"/>
              </a:ext>
            </a:extLst>
          </p:cNvPr>
          <p:cNvSpPr txBox="1"/>
          <p:nvPr/>
        </p:nvSpPr>
        <p:spPr>
          <a:xfrm>
            <a:off x="9241570" y="4942614"/>
            <a:ext cx="2310350" cy="246221"/>
          </a:xfrm>
          <a:prstGeom prst="rect">
            <a:avLst/>
          </a:prstGeom>
          <a:noFill/>
        </p:spPr>
        <p:txBody>
          <a:bodyPr wrap="square" rtlCol="0">
            <a:spAutoFit/>
          </a:bodyPr>
          <a:lstStyle/>
          <a:p>
            <a:r>
              <a:rPr lang="fr-FR" sz="1000" dirty="0">
                <a:solidFill>
                  <a:srgbClr val="935739"/>
                </a:solidFill>
              </a:rPr>
              <a:t>Figure 2. RIT Motion Capture </a:t>
            </a:r>
            <a:r>
              <a:rPr lang="fr-FR" sz="1000" dirty="0" err="1">
                <a:solidFill>
                  <a:srgbClr val="935739"/>
                </a:solidFill>
              </a:rPr>
              <a:t>Lab</a:t>
            </a:r>
            <a:endParaRPr lang="ru-RU" sz="1000" dirty="0">
              <a:solidFill>
                <a:srgbClr val="935739"/>
              </a:solidFill>
            </a:endParaRPr>
          </a:p>
        </p:txBody>
      </p:sp>
      <p:pic>
        <p:nvPicPr>
          <p:cNvPr id="1028" name="Picture 4">
            <a:extLst>
              <a:ext uri="{FF2B5EF4-FFF2-40B4-BE49-F238E27FC236}">
                <a16:creationId xmlns:a16="http://schemas.microsoft.com/office/drawing/2014/main" id="{B9C9283A-1D19-C308-9DF7-6AA6C0827C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2400" y="2290371"/>
            <a:ext cx="3144746" cy="31447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86C9B9-BF65-868F-0622-254644166488}"/>
              </a:ext>
            </a:extLst>
          </p:cNvPr>
          <p:cNvSpPr txBox="1"/>
          <p:nvPr/>
        </p:nvSpPr>
        <p:spPr>
          <a:xfrm>
            <a:off x="5372780" y="5415280"/>
            <a:ext cx="2746919" cy="261610"/>
          </a:xfrm>
          <a:prstGeom prst="rect">
            <a:avLst/>
          </a:prstGeom>
          <a:noFill/>
        </p:spPr>
        <p:txBody>
          <a:bodyPr wrap="square" rtlCol="0">
            <a:spAutoFit/>
          </a:bodyPr>
          <a:lstStyle/>
          <a:p>
            <a:r>
              <a:rPr lang="en-US" sz="1050" dirty="0">
                <a:solidFill>
                  <a:srgbClr val="935739"/>
                </a:solidFill>
              </a:rPr>
              <a:t>Figure 1. Soccer Innovations Ball Launcher</a:t>
            </a:r>
            <a:endParaRPr lang="ru-RU" sz="1050" dirty="0">
              <a:solidFill>
                <a:srgbClr val="935739"/>
              </a:solidFill>
            </a:endParaRPr>
          </a:p>
        </p:txBody>
      </p:sp>
      <p:sp>
        <p:nvSpPr>
          <p:cNvPr id="12" name="TextBox 11">
            <a:extLst>
              <a:ext uri="{FF2B5EF4-FFF2-40B4-BE49-F238E27FC236}">
                <a16:creationId xmlns:a16="http://schemas.microsoft.com/office/drawing/2014/main" id="{2648E2B6-8762-1EDC-F63C-8F0BBDB5A547}"/>
              </a:ext>
            </a:extLst>
          </p:cNvPr>
          <p:cNvSpPr txBox="1"/>
          <p:nvPr/>
        </p:nvSpPr>
        <p:spPr>
          <a:xfrm>
            <a:off x="1658679" y="3429000"/>
            <a:ext cx="184731" cy="369332"/>
          </a:xfrm>
          <a:prstGeom prst="rect">
            <a:avLst/>
          </a:prstGeom>
          <a:noFill/>
        </p:spPr>
        <p:txBody>
          <a:bodyPr wrap="none" rtlCol="0">
            <a:spAutoFit/>
          </a:bodyPr>
          <a:lstStyle/>
          <a:p>
            <a:endParaRPr lang="ru-RU" dirty="0"/>
          </a:p>
        </p:txBody>
      </p:sp>
      <p:sp>
        <p:nvSpPr>
          <p:cNvPr id="18" name="Rectangle 12">
            <a:extLst>
              <a:ext uri="{FF2B5EF4-FFF2-40B4-BE49-F238E27FC236}">
                <a16:creationId xmlns:a16="http://schemas.microsoft.com/office/drawing/2014/main" id="{946BD325-1463-DED9-F7AF-9AEAFB10D804}"/>
              </a:ext>
            </a:extLst>
          </p:cNvPr>
          <p:cNvSpPr>
            <a:spLocks noChangeArrowheads="1"/>
          </p:cNvSpPr>
          <p:nvPr/>
        </p:nvSpPr>
        <p:spPr bwMode="auto">
          <a:xfrm>
            <a:off x="567070" y="2832265"/>
            <a:ext cx="432550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Fixed</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launchers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cannot</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react</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ru-RU"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ru-RU" altLang="ru-RU" b="0" i="0" u="none" strike="noStrike" cap="none" normalizeH="0" baseline="0" dirty="0" err="1">
                <a:ln>
                  <a:noFill/>
                </a:ln>
                <a:solidFill>
                  <a:schemeClr val="tx1"/>
                </a:solidFill>
                <a:effectLst/>
                <a:latin typeface="Arial" panose="020B0604020202020204" pitchFamily="34" charset="0"/>
              </a:rPr>
              <a:t>MoCap</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is</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costly</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and</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marker-based</a:t>
            </a:r>
            <a:r>
              <a:rPr kumimoji="0" lang="ru-RU" altLang="ru-RU" b="0" i="0" u="none" strike="noStrike" cap="none" normalizeH="0" baseline="0" dirty="0">
                <a:ln>
                  <a:noFill/>
                </a:ln>
                <a:solidFill>
                  <a:schemeClr val="tx1"/>
                </a:solidFill>
                <a:effectLst/>
                <a:latin typeface="Arial" panose="020B0604020202020204" pitchFamily="34" charset="0"/>
              </a:rPr>
              <a:t> </a:t>
            </a:r>
            <a:endParaRPr kumimoji="0" lang="en-US" altLang="ru-RU"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ru-RU"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Training</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needs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joint-specific</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delivery</a:t>
            </a:r>
            <a:r>
              <a:rPr kumimoji="0" lang="ru-RU" altLang="ru-RU" sz="1800" b="0" i="0" u="none" strike="noStrike" cap="none" normalizeH="0" baseline="0" dirty="0">
                <a:ln>
                  <a:noFill/>
                </a:ln>
                <a:solidFill>
                  <a:schemeClr val="tx1"/>
                </a:solidFill>
                <a:effectLst/>
                <a:latin typeface="Arial" panose="020B0604020202020204" pitchFamily="34" charset="0"/>
              </a:rPr>
              <a:t> </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Low-cost</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cameras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can</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bridge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the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gap</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ru-RU"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This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thesis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builds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pose-guided</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aiming</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1E6B904-A50D-84F4-50DF-701E66866349}"/>
              </a:ext>
            </a:extLst>
          </p:cNvPr>
          <p:cNvSpPr txBox="1"/>
          <p:nvPr/>
        </p:nvSpPr>
        <p:spPr>
          <a:xfrm>
            <a:off x="7325833" y="6350169"/>
            <a:ext cx="4226087" cy="507831"/>
          </a:xfrm>
          <a:prstGeom prst="rect">
            <a:avLst/>
          </a:prstGeom>
          <a:noFill/>
        </p:spPr>
        <p:txBody>
          <a:bodyPr wrap="square" rtlCol="0">
            <a:spAutoFit/>
          </a:bodyPr>
          <a:lstStyle/>
          <a:p>
            <a:r>
              <a:rPr lang="en-US" sz="900" dirty="0"/>
              <a:t>RIT Motion Capture Lab image: </a:t>
            </a:r>
            <a:r>
              <a:rPr lang="en-US" sz="900" dirty="0">
                <a:hlinkClick r:id="rId6"/>
              </a:rPr>
              <a:t>https://www.rit.edu/facilities/motion-capture-mocap-lab</a:t>
            </a:r>
            <a:br>
              <a:rPr lang="en-US" sz="900" dirty="0"/>
            </a:br>
            <a:r>
              <a:rPr lang="en-US" sz="900" dirty="0"/>
              <a:t>Soccer Innovations ball launcher image: </a:t>
            </a:r>
            <a:r>
              <a:rPr lang="en-US" sz="900" dirty="0">
                <a:hlinkClick r:id="rId7"/>
              </a:rPr>
              <a:t>https://soccerinnovations.com/ball-launcher/</a:t>
            </a:r>
            <a:r>
              <a:rPr lang="en-US" sz="900" dirty="0"/>
              <a:t> </a:t>
            </a:r>
            <a:endParaRPr lang="ru-RU" sz="900" dirty="0"/>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74800"/>
            <a:ext cx="11176000" cy="457200"/>
          </a:xfrm>
          <a:prstGeom prst="rect">
            <a:avLst/>
          </a:prstGeom>
          <a:noFill/>
          <a:ln>
            <a:noFill/>
          </a:ln>
        </p:spPr>
        <p:txBody>
          <a:bodyPr wrap="square" lIns="76200" tIns="38100" rIns="76200" bIns="38100" anchor="ctr"/>
          <a:lstStyle/>
          <a:p>
            <a:r>
              <a:rPr lang="en-US" b="1" dirty="0"/>
              <a:t>Can a ball launcher use 3D body-joint tracking for safe autonomous aiming?</a:t>
            </a:r>
            <a:endParaRPr lang="en-US" dirty="0"/>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381000" y="2715142"/>
            <a:ext cx="1916223"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1</a:t>
            </a:r>
          </a:p>
        </p:txBody>
      </p:sp>
      <p:sp>
        <p:nvSpPr>
          <p:cNvPr id="104" name="t104"/>
          <p:cNvSpPr txBox="1"/>
          <p:nvPr/>
        </p:nvSpPr>
        <p:spPr>
          <a:xfrm>
            <a:off x="3157940" y="2323214"/>
            <a:ext cx="1697815" cy="457200"/>
          </a:xfrm>
          <a:prstGeom prst="rect">
            <a:avLst/>
          </a:prstGeom>
          <a:noFill/>
          <a:ln>
            <a:noFill/>
          </a:ln>
        </p:spPr>
        <p:txBody>
          <a:bodyPr wrap="square" lIns="76200" tIns="38100" rIns="76200" bIns="38100" anchor="ctr"/>
          <a:lstStyle/>
          <a:p>
            <a:r>
              <a:rPr lang="en-US" b="1" dirty="0"/>
              <a:t>Ball </a:t>
            </a:r>
            <a:r>
              <a:rPr lang="en-US" b="1" dirty="0" err="1"/>
              <a:t>localisation</a:t>
            </a:r>
            <a:endParaRPr b="1" dirty="0"/>
          </a:p>
        </p:txBody>
      </p:sp>
      <p:sp>
        <p:nvSpPr>
          <p:cNvPr id="105" name="t105"/>
          <p:cNvSpPr txBox="1"/>
          <p:nvPr/>
        </p:nvSpPr>
        <p:spPr>
          <a:xfrm>
            <a:off x="2504426" y="3151889"/>
            <a:ext cx="3004842" cy="704850"/>
          </a:xfrm>
          <a:prstGeom prst="rect">
            <a:avLst/>
          </a:prstGeom>
          <a:noFill/>
          <a:ln>
            <a:noFill/>
          </a:ln>
        </p:spPr>
        <p:txBody>
          <a:bodyPr wrap="square" lIns="76200" tIns="38100" rIns="76200" bIns="38100" anchor="ctr"/>
          <a:lstStyle/>
          <a:p>
            <a:r>
              <a:rPr sz="1600" dirty="0"/>
              <a:t>Mean 3D ball error below 120 mm  →  Achieved: 95.17 mm corrected </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8" name="t108"/>
          <p:cNvSpPr txBox="1"/>
          <p:nvPr/>
        </p:nvSpPr>
        <p:spPr>
          <a:xfrm>
            <a:off x="8783452" y="2323214"/>
            <a:ext cx="1861733" cy="457200"/>
          </a:xfrm>
          <a:prstGeom prst="rect">
            <a:avLst/>
          </a:prstGeom>
          <a:noFill/>
          <a:ln>
            <a:noFill/>
          </a:ln>
        </p:spPr>
        <p:txBody>
          <a:bodyPr wrap="square" lIns="76200" tIns="38100" rIns="76200" bIns="38100" anchor="ctr"/>
          <a:lstStyle/>
          <a:p>
            <a:r>
              <a:rPr lang="en-US" b="1" dirty="0"/>
              <a:t>Joint </a:t>
            </a:r>
            <a:r>
              <a:rPr lang="en-US" b="1" dirty="0" err="1"/>
              <a:t>localisation</a:t>
            </a:r>
            <a:endParaRPr b="1" dirty="0"/>
          </a:p>
        </p:txBody>
      </p:sp>
      <p:sp>
        <p:nvSpPr>
          <p:cNvPr id="109" name="t109"/>
          <p:cNvSpPr txBox="1"/>
          <p:nvPr/>
        </p:nvSpPr>
        <p:spPr>
          <a:xfrm>
            <a:off x="8075428" y="3163438"/>
            <a:ext cx="3092302" cy="663028"/>
          </a:xfrm>
          <a:prstGeom prst="rect">
            <a:avLst/>
          </a:prstGeom>
          <a:noFill/>
          <a:ln>
            <a:noFill/>
          </a:ln>
        </p:spPr>
        <p:txBody>
          <a:bodyPr wrap="square" lIns="76200" tIns="38100" rIns="76200" bIns="38100" anchor="ctr"/>
          <a:lstStyle/>
          <a:p>
            <a:r>
              <a:rPr sz="1600" dirty="0"/>
              <a:t>Mean 3D joint error below 180 mm  →  Achieved: 143.38 mm (62 trials) </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2" name="t112"/>
          <p:cNvSpPr txBox="1"/>
          <p:nvPr/>
        </p:nvSpPr>
        <p:spPr>
          <a:xfrm>
            <a:off x="3210173" y="4462278"/>
            <a:ext cx="1625009" cy="457200"/>
          </a:xfrm>
          <a:prstGeom prst="rect">
            <a:avLst/>
          </a:prstGeom>
          <a:noFill/>
          <a:ln>
            <a:noFill/>
          </a:ln>
        </p:spPr>
        <p:txBody>
          <a:bodyPr wrap="square" lIns="76200" tIns="38100" rIns="76200" bIns="38100" anchor="ctr"/>
          <a:lstStyle/>
          <a:p>
            <a:r>
              <a:rPr sz="1600" b="1" dirty="0"/>
              <a:t>Safe integration</a:t>
            </a:r>
          </a:p>
        </p:txBody>
      </p:sp>
      <p:sp>
        <p:nvSpPr>
          <p:cNvPr id="113" name="t113"/>
          <p:cNvSpPr txBox="1"/>
          <p:nvPr/>
        </p:nvSpPr>
        <p:spPr>
          <a:xfrm>
            <a:off x="2414791" y="5395744"/>
            <a:ext cx="3335669" cy="609600"/>
          </a:xfrm>
          <a:prstGeom prst="rect">
            <a:avLst/>
          </a:prstGeom>
          <a:noFill/>
          <a:ln>
            <a:noFill/>
          </a:ln>
        </p:spPr>
        <p:txBody>
          <a:bodyPr wrap="square" lIns="76200" tIns="38100" rIns="76200" bIns="38100" anchor="ctr"/>
          <a:lstStyle/>
          <a:p>
            <a:r>
              <a:rPr sz="1600" dirty="0"/>
              <a:t>Six-stage validation S0–S4 completed 2026-04-09. E-STOP &lt;100 </a:t>
            </a:r>
            <a:r>
              <a:rPr sz="1600" dirty="0" err="1"/>
              <a:t>ms</a:t>
            </a:r>
            <a:r>
              <a:rPr sz="1600" dirty="0"/>
              <a:t> </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6" name="t116"/>
          <p:cNvSpPr txBox="1"/>
          <p:nvPr/>
        </p:nvSpPr>
        <p:spPr>
          <a:xfrm>
            <a:off x="9118158" y="4469514"/>
            <a:ext cx="1245042" cy="457200"/>
          </a:xfrm>
          <a:prstGeom prst="rect">
            <a:avLst/>
          </a:prstGeom>
          <a:noFill/>
          <a:ln>
            <a:noFill/>
          </a:ln>
        </p:spPr>
        <p:txBody>
          <a:bodyPr wrap="square" lIns="76200" tIns="38100" rIns="76200" bIns="38100" anchor="ctr"/>
          <a:lstStyle/>
          <a:p>
            <a:r>
              <a:rPr sz="1600" b="1" dirty="0"/>
              <a:t>Practicality</a:t>
            </a:r>
          </a:p>
        </p:txBody>
      </p:sp>
      <p:sp>
        <p:nvSpPr>
          <p:cNvPr id="117" name="t117"/>
          <p:cNvSpPr txBox="1"/>
          <p:nvPr/>
        </p:nvSpPr>
        <p:spPr>
          <a:xfrm>
            <a:off x="7896078" y="5364569"/>
            <a:ext cx="3673548" cy="508000"/>
          </a:xfrm>
          <a:prstGeom prst="rect">
            <a:avLst/>
          </a:prstGeom>
          <a:noFill/>
          <a:ln>
            <a:noFill/>
          </a:ln>
        </p:spPr>
        <p:txBody>
          <a:bodyPr wrap="square" lIns="76200" tIns="38100" rIns="76200" bIns="38100" anchor="ctr"/>
          <a:lstStyle/>
          <a:p>
            <a:r>
              <a:rPr sz="1600" dirty="0"/>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all four objectives are met. Unvalidated boundary: closed-loop firing at a moving subject — the immediate next milestone.</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
        <p:nvSpPr>
          <p:cNvPr id="3" name="t103">
            <a:extLst>
              <a:ext uri="{FF2B5EF4-FFF2-40B4-BE49-F238E27FC236}">
                <a16:creationId xmlns:a16="http://schemas.microsoft.com/office/drawing/2014/main" id="{B1C8ADA0-80CF-B64F-F0AB-570988584F9D}"/>
              </a:ext>
            </a:extLst>
          </p:cNvPr>
          <p:cNvSpPr txBox="1"/>
          <p:nvPr/>
        </p:nvSpPr>
        <p:spPr>
          <a:xfrm>
            <a:off x="425006" y="486410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3</a:t>
            </a:r>
          </a:p>
        </p:txBody>
      </p:sp>
      <p:sp>
        <p:nvSpPr>
          <p:cNvPr id="4" name="t103">
            <a:extLst>
              <a:ext uri="{FF2B5EF4-FFF2-40B4-BE49-F238E27FC236}">
                <a16:creationId xmlns:a16="http://schemas.microsoft.com/office/drawing/2014/main" id="{DC09CAC8-FF6D-CB8D-9B62-64F4FC0BCCA6}"/>
              </a:ext>
            </a:extLst>
          </p:cNvPr>
          <p:cNvSpPr txBox="1"/>
          <p:nvPr/>
        </p:nvSpPr>
        <p:spPr>
          <a:xfrm>
            <a:off x="5993219" y="269875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2</a:t>
            </a:r>
          </a:p>
        </p:txBody>
      </p:sp>
      <p:sp>
        <p:nvSpPr>
          <p:cNvPr id="5" name="t103">
            <a:extLst>
              <a:ext uri="{FF2B5EF4-FFF2-40B4-BE49-F238E27FC236}">
                <a16:creationId xmlns:a16="http://schemas.microsoft.com/office/drawing/2014/main" id="{E9DC5FA6-A35D-84D2-C3B3-3C334125CE6C}"/>
              </a:ext>
            </a:extLst>
          </p:cNvPr>
          <p:cNvSpPr txBox="1"/>
          <p:nvPr/>
        </p:nvSpPr>
        <p:spPr>
          <a:xfrm>
            <a:off x="5979633" y="4856569"/>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4</a:t>
            </a:r>
          </a:p>
        </p:txBody>
      </p:sp>
      <p:sp>
        <p:nvSpPr>
          <p:cNvPr id="6" name="r100">
            <a:extLst>
              <a:ext uri="{FF2B5EF4-FFF2-40B4-BE49-F238E27FC236}">
                <a16:creationId xmlns:a16="http://schemas.microsoft.com/office/drawing/2014/main" id="{72DA927A-1078-AD8D-A742-CC7CB3B7CFAE}"/>
              </a:ext>
            </a:extLst>
          </p:cNvPr>
          <p:cNvSpPr/>
          <p:nvPr/>
        </p:nvSpPr>
        <p:spPr>
          <a:xfrm>
            <a:off x="2131088" y="2095500"/>
            <a:ext cx="71475" cy="1968500"/>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1343CD27-ED94-685A-3F06-6DB264CB4937}"/>
              </a:ext>
            </a:extLst>
          </p:cNvPr>
          <p:cNvSpPr/>
          <p:nvPr/>
        </p:nvSpPr>
        <p:spPr>
          <a:xfrm>
            <a:off x="2131116" y="4260850"/>
            <a:ext cx="71475" cy="1968500"/>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8B6D3E4A-5AE5-212B-1A69-B9BD629945C6}"/>
              </a:ext>
            </a:extLst>
          </p:cNvPr>
          <p:cNvSpPr/>
          <p:nvPr/>
        </p:nvSpPr>
        <p:spPr>
          <a:xfrm>
            <a:off x="7705650" y="2095500"/>
            <a:ext cx="71475" cy="1968500"/>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88953218-CA5D-A482-0562-B9FC0E7CC384}"/>
              </a:ext>
            </a:extLst>
          </p:cNvPr>
          <p:cNvSpPr/>
          <p:nvPr/>
        </p:nvSpPr>
        <p:spPr>
          <a:xfrm>
            <a:off x="7705650" y="4251959"/>
            <a:ext cx="71475" cy="1977391"/>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r>
              <a:rPr lang="en-US" sz="3200" b="1" dirty="0"/>
              <a:t>Background &amp; Research Gap</a:t>
            </a:r>
            <a:endParaRPr lang="en-US" sz="3200" dirty="0"/>
          </a:p>
        </p:txBody>
      </p:sp>
      <p:sp>
        <p:nvSpPr>
          <p:cNvPr id="101" name="t101"/>
          <p:cNvSpPr txBox="1"/>
          <p:nvPr/>
        </p:nvSpPr>
        <p:spPr>
          <a:xfrm>
            <a:off x="508000" y="1533017"/>
            <a:ext cx="11582400" cy="457200"/>
          </a:xfrm>
          <a:prstGeom prst="rect">
            <a:avLst/>
          </a:prstGeom>
          <a:noFill/>
          <a:ln>
            <a:noFill/>
          </a:ln>
        </p:spPr>
        <p:txBody>
          <a:bodyPr wrap="square" lIns="76200" tIns="38100" rIns="76200" bIns="38100" anchor="ctr"/>
          <a:lstStyle/>
          <a:p>
            <a:r>
              <a:rPr lang="en-US" b="1" dirty="0"/>
              <a:t>Gap</a:t>
            </a:r>
            <a:r>
              <a:rPr lang="en-US" dirty="0"/>
              <a:t>: low-cost systems rarely combine 3D joint tracking with physical launcher actuation.</a:t>
            </a:r>
            <a:endParaRPr dirty="0"/>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Closed-loop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Very 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 launcher</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Commercial launchers</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r>
              <a:rPr lang="en-US" sz="1400" dirty="0"/>
              <a:t>USD 200–4k</a:t>
            </a:r>
            <a:endParaRPr lang="en-US" sz="1400" dirty="0">
              <a:solidFill>
                <a:srgbClr val="2A231F"/>
              </a:solidFill>
              <a:latin typeface="Arial"/>
            </a:endParaRP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r>
              <a:rPr lang="en-US" sz="1400" dirty="0"/>
              <a:t>N/A</a:t>
            </a:r>
            <a:endParaRPr lang="en-US" sz="1400" dirty="0">
              <a:solidFill>
                <a:srgbClr val="2A231F"/>
              </a:solidFill>
              <a:latin typeface="Arial"/>
            </a:endParaRP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Open-loop only</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Vision-guided sports robots</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r>
              <a:rPr lang="en-US" sz="1400" dirty="0"/>
              <a:t>USD 2k–10k</a:t>
            </a:r>
            <a:endParaRPr lang="en-US" sz="1400" dirty="0">
              <a:solidFill>
                <a:srgbClr val="2A231F"/>
              </a:solidFill>
              <a:latin typeface="Arial"/>
            </a:endParaRP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Usually</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Fixed zones</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r>
              <a:rPr lang="en-US" sz="1400" dirty="0">
                <a:solidFill>
                  <a:srgbClr val="2A231F"/>
                </a:solidFill>
                <a:latin typeface="Arial"/>
              </a:rPr>
              <a:t>Targeting-level</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Static/live-aim validated</a:t>
            </a:r>
          </a:p>
        </p:txBody>
      </p:sp>
      <p:sp>
        <p:nvSpPr>
          <p:cNvPr id="152" name="t152"/>
          <p:cNvSpPr txBox="1"/>
          <p:nvPr/>
        </p:nvSpPr>
        <p:spPr>
          <a:xfrm>
            <a:off x="3776921" y="1936242"/>
            <a:ext cx="4942958" cy="222250"/>
          </a:xfrm>
          <a:prstGeom prst="rect">
            <a:avLst/>
          </a:prstGeom>
          <a:noFill/>
          <a:ln>
            <a:noFill/>
          </a:ln>
        </p:spPr>
        <p:txBody>
          <a:bodyPr wrap="square" lIns="76200" tIns="38100" rIns="76200" bIns="38100" anchor="ctr"/>
          <a:lstStyle/>
          <a:p>
            <a:pPr algn="ctr"/>
            <a:r>
              <a:rPr sz="1400" dirty="0">
                <a:solidFill>
                  <a:srgbClr val="935739"/>
                </a:solidFill>
              </a:rPr>
              <a:t>Table 1. Existing categories and the gap this thesis fills.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low-cost </a:t>
            </a:r>
            <a:r>
              <a:rPr lang="en-US" dirty="0" err="1">
                <a:solidFill>
                  <a:schemeClr val="bg1"/>
                </a:solidFill>
              </a:rPr>
              <a:t>markerless</a:t>
            </a:r>
            <a:r>
              <a:rPr lang="en-US" dirty="0">
                <a:solidFill>
                  <a:schemeClr val="bg1"/>
                </a:solidFill>
              </a:rPr>
              <a:t> 3D perception is connected to real launcher aiming; moving-target firing remains next.</a:t>
            </a:r>
            <a:endParaRPr dirty="0">
              <a:solidFill>
                <a:schemeClr val="bg1"/>
              </a:solidFill>
            </a:endParaRP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2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202" name="Title"/>
          <p:cNvSpPr>
            <a:spLocks noGrp="1"/>
          </p:cNvSpPr>
          <p:nvPr>
            <p:ph type="title"/>
          </p:nvPr>
        </p:nvSpPr>
        <p:spPr>
          <a:xfrm>
            <a:off x="508000" y="934720"/>
            <a:ext cx="7620000" cy="711200"/>
          </a:xfrm>
        </p:spPr>
        <p:txBody>
          <a:bodyPr wrap="square" lIns="76200" tIns="38100" rIns="76200" bIns="38100" anchor="ctr"/>
          <a:lstStyle/>
          <a:p>
            <a:r>
              <a:rPr lang="en-US" sz="3200" b="1" dirty="0"/>
              <a:t>Key Technical Components</a:t>
            </a:r>
            <a:endParaRPr lang="en-US" sz="3200" dirty="0"/>
          </a:p>
        </p:txBody>
      </p:sp>
      <p:sp>
        <p:nvSpPr>
          <p:cNvPr id="203" name="subtitle"/>
          <p:cNvSpPr txBox="1"/>
          <p:nvPr/>
        </p:nvSpPr>
        <p:spPr>
          <a:xfrm>
            <a:off x="508000" y="1700000"/>
            <a:ext cx="11176000" cy="380000"/>
          </a:xfrm>
          <a:prstGeom prst="rect">
            <a:avLst/>
          </a:prstGeom>
          <a:noFill/>
          <a:ln>
            <a:noFill/>
          </a:ln>
        </p:spPr>
        <p:txBody>
          <a:bodyPr wrap="square" lIns="76200" tIns="0" rIns="76200" bIns="0" anchor="ctr"/>
          <a:lstStyle/>
          <a:p>
            <a:pPr algn="l">
              <a:buNone/>
            </a:pPr>
            <a:r>
              <a:rPr lang="en-US" i="1" dirty="0">
                <a:solidFill>
                  <a:srgbClr val="935739"/>
                </a:solidFill>
                <a:latin typeface="Arial"/>
              </a:rPr>
              <a:t>Six</a:t>
            </a:r>
            <a:r>
              <a:rPr lang="en-US" sz="1800" b="0" i="1" dirty="0">
                <a:solidFill>
                  <a:srgbClr val="935739"/>
                </a:solidFill>
                <a:latin typeface="Arial"/>
              </a:rPr>
              <a:t> contributions across perception, control, safety, and interaction</a:t>
            </a:r>
          </a:p>
        </p:txBody>
      </p:sp>
      <p:sp>
        <p:nvSpPr>
          <p:cNvPr id="204" name="card1"/>
          <p:cNvSpPr/>
          <p:nvPr/>
        </p:nvSpPr>
        <p:spPr>
          <a:xfrm>
            <a:off x="508000" y="2472521"/>
            <a:ext cx="3556000" cy="1320000"/>
          </a:xfrm>
          <a:prstGeom prst="rect">
            <a:avLst/>
          </a:prstGeom>
          <a:solidFill>
            <a:srgbClr val="935739"/>
          </a:solidFill>
          <a:ln w="0">
            <a:noFill/>
          </a:ln>
        </p:spPr>
        <p:txBody>
          <a:bodyPr wrap="square" lIns="152400" tIns="152400" rIns="152400" bIns="76200" anchor="t"/>
          <a:lstStyle/>
          <a:p>
            <a:pPr algn="l">
              <a:buNone/>
            </a:pPr>
            <a:r>
              <a:rPr lang="en-US" sz="3200" b="1" dirty="0">
                <a:solidFill>
                  <a:srgbClr val="FFFFFF"/>
                </a:solidFill>
                <a:latin typeface="Calibri"/>
              </a:rPr>
              <a:t>01</a:t>
            </a:r>
          </a:p>
          <a:p>
            <a:pPr algn="l">
              <a:buNone/>
            </a:pPr>
            <a:r>
              <a:rPr lang="en-US" sz="1500" b="1" dirty="0">
                <a:solidFill>
                  <a:srgbClr val="FFFFFF"/>
                </a:solidFill>
                <a:latin typeface="Arial"/>
              </a:rPr>
              <a:t>Pose-reactive aiming at low-cost</a:t>
            </a:r>
          </a:p>
          <a:p>
            <a:pPr algn="l">
              <a:buNone/>
            </a:pPr>
            <a:r>
              <a:rPr lang="en-US" sz="1200" b="0" dirty="0" err="1">
                <a:solidFill>
                  <a:srgbClr val="F5D5C0"/>
                </a:solidFill>
                <a:latin typeface="Arial"/>
              </a:rPr>
              <a:t>Markerless</a:t>
            </a:r>
            <a:r>
              <a:rPr lang="en-US" sz="1200" b="0" dirty="0">
                <a:solidFill>
                  <a:srgbClr val="F5D5C0"/>
                </a:solidFill>
                <a:latin typeface="Arial"/>
              </a:rPr>
              <a:t>, closed-loop, commodity hardware</a:t>
            </a:r>
          </a:p>
        </p:txBody>
      </p:sp>
      <p:sp>
        <p:nvSpPr>
          <p:cNvPr id="205" name="card2"/>
          <p:cNvSpPr/>
          <p:nvPr/>
        </p:nvSpPr>
        <p:spPr>
          <a:xfrm>
            <a:off x="4318000" y="2472521"/>
            <a:ext cx="3556000" cy="1320000"/>
          </a:xfrm>
          <a:prstGeom prst="rect">
            <a:avLst/>
          </a:prstGeom>
          <a:solidFill>
            <a:srgbClr val="7A4A2E"/>
          </a:solidFill>
          <a:ln w="0">
            <a:noFill/>
          </a:ln>
        </p:spPr>
        <p:txBody>
          <a:bodyPr wrap="square" lIns="152400" tIns="152400" rIns="152400" bIns="76200" anchor="t"/>
          <a:lstStyle/>
          <a:p>
            <a:pPr algn="l">
              <a:buNone/>
            </a:pPr>
            <a:r>
              <a:rPr lang="en-US" sz="3200" b="1" dirty="0">
                <a:solidFill>
                  <a:srgbClr val="FFFFFF"/>
                </a:solidFill>
                <a:latin typeface="Calibri"/>
              </a:rPr>
              <a:t>02</a:t>
            </a:r>
          </a:p>
          <a:p>
            <a:pPr algn="l">
              <a:buNone/>
            </a:pPr>
            <a:r>
              <a:rPr lang="en-US" sz="1500" b="1" dirty="0">
                <a:solidFill>
                  <a:srgbClr val="FFFFFF"/>
                </a:solidFill>
                <a:latin typeface="Arial"/>
              </a:rPr>
              <a:t>Validated 4-camera 3D targeting pipeline</a:t>
            </a:r>
          </a:p>
          <a:p>
            <a:pPr algn="l">
              <a:buNone/>
            </a:pPr>
            <a:r>
              <a:rPr lang="en-US" sz="1200" b="0" dirty="0">
                <a:solidFill>
                  <a:srgbClr val="D4B8A0"/>
                </a:solidFill>
                <a:latin typeface="Arial"/>
              </a:rPr>
              <a:t>DLT/SVD, 95.17 mm corrected ball mean</a:t>
            </a:r>
          </a:p>
        </p:txBody>
      </p:sp>
      <p:sp>
        <p:nvSpPr>
          <p:cNvPr id="206" name="card3"/>
          <p:cNvSpPr/>
          <p:nvPr/>
        </p:nvSpPr>
        <p:spPr>
          <a:xfrm>
            <a:off x="8128000" y="2472521"/>
            <a:ext cx="3556000" cy="1320000"/>
          </a:xfrm>
          <a:prstGeom prst="rect">
            <a:avLst/>
          </a:prstGeom>
          <a:solidFill>
            <a:srgbClr val="935739"/>
          </a:solidFill>
          <a:ln w="0">
            <a:noFill/>
          </a:ln>
        </p:spPr>
        <p:txBody>
          <a:bodyPr wrap="square" lIns="152400" tIns="152400" rIns="152400" bIns="76200" anchor="t"/>
          <a:lstStyle/>
          <a:p>
            <a:pPr algn="l">
              <a:buNone/>
            </a:pPr>
            <a:r>
              <a:rPr lang="en-US" sz="3200" b="1" dirty="0">
                <a:solidFill>
                  <a:srgbClr val="FFFFFF"/>
                </a:solidFill>
                <a:latin typeface="Calibri"/>
              </a:rPr>
              <a:t>03</a:t>
            </a:r>
          </a:p>
          <a:p>
            <a:pPr algn="l">
              <a:buNone/>
            </a:pPr>
            <a:r>
              <a:rPr lang="en-US" sz="1500" b="1" dirty="0">
                <a:solidFill>
                  <a:srgbClr val="FFFFFF"/>
                </a:solidFill>
                <a:latin typeface="Arial"/>
              </a:rPr>
              <a:t>High-speed YOLO-Pose launch loop</a:t>
            </a:r>
          </a:p>
          <a:p>
            <a:pPr algn="l">
              <a:buNone/>
            </a:pPr>
            <a:r>
              <a:rPr lang="en-US" sz="1200" b="0" dirty="0">
                <a:solidFill>
                  <a:srgbClr val="F5D5C0"/>
                </a:solidFill>
                <a:latin typeface="Arial"/>
              </a:rPr>
              <a:t>6.2 ms/frame TRT FP16, 15 FPS live pipeline</a:t>
            </a:r>
          </a:p>
        </p:txBody>
      </p:sp>
      <p:sp>
        <p:nvSpPr>
          <p:cNvPr id="207" name="card4"/>
          <p:cNvSpPr/>
          <p:nvPr/>
        </p:nvSpPr>
        <p:spPr>
          <a:xfrm>
            <a:off x="508000" y="4265000"/>
            <a:ext cx="3556000" cy="1320000"/>
          </a:xfrm>
          <a:prstGeom prst="rect">
            <a:avLst/>
          </a:prstGeom>
          <a:solidFill>
            <a:srgbClr val="7A4A2E"/>
          </a:solidFill>
          <a:ln w="0">
            <a:noFill/>
          </a:ln>
        </p:spPr>
        <p:txBody>
          <a:bodyPr wrap="square" lIns="152400" tIns="152400" rIns="152400" bIns="76200" anchor="t"/>
          <a:lstStyle/>
          <a:p>
            <a:pPr algn="l">
              <a:buNone/>
            </a:pPr>
            <a:r>
              <a:rPr lang="en-US" sz="3200" b="1" dirty="0">
                <a:solidFill>
                  <a:srgbClr val="FFFFFF"/>
                </a:solidFill>
                <a:latin typeface="Calibri"/>
              </a:rPr>
              <a:t>04</a:t>
            </a:r>
          </a:p>
          <a:p>
            <a:pPr algn="l">
              <a:buNone/>
            </a:pPr>
            <a:r>
              <a:rPr lang="en-US" sz="1500" b="1" dirty="0">
                <a:solidFill>
                  <a:srgbClr val="FFFFFF"/>
                </a:solidFill>
                <a:latin typeface="Arial"/>
              </a:rPr>
              <a:t>Six-stage safety validation architecture</a:t>
            </a:r>
          </a:p>
          <a:p>
            <a:pPr algn="l">
              <a:buNone/>
            </a:pPr>
            <a:r>
              <a:rPr lang="en-US" sz="1200" b="0" dirty="0">
                <a:solidFill>
                  <a:srgbClr val="D4B8A0"/>
                </a:solidFill>
                <a:latin typeface="Arial"/>
              </a:rPr>
              <a:t>S0-S4 passed 2026-04-09, E-STOP &lt;100 ms</a:t>
            </a:r>
          </a:p>
        </p:txBody>
      </p:sp>
      <p:sp>
        <p:nvSpPr>
          <p:cNvPr id="208" name="card5"/>
          <p:cNvSpPr/>
          <p:nvPr/>
        </p:nvSpPr>
        <p:spPr>
          <a:xfrm>
            <a:off x="4318000" y="4265000"/>
            <a:ext cx="3556000" cy="1320000"/>
          </a:xfrm>
          <a:prstGeom prst="rect">
            <a:avLst/>
          </a:prstGeom>
          <a:solidFill>
            <a:srgbClr val="935739"/>
          </a:solidFill>
          <a:ln w="0">
            <a:noFill/>
          </a:ln>
        </p:spPr>
        <p:txBody>
          <a:bodyPr wrap="square" lIns="152400" tIns="152400" rIns="152400" bIns="76200" anchor="t"/>
          <a:lstStyle/>
          <a:p>
            <a:pPr algn="l">
              <a:buNone/>
            </a:pPr>
            <a:r>
              <a:rPr lang="en-US" sz="3200" b="1" dirty="0">
                <a:solidFill>
                  <a:srgbClr val="FFFFFF"/>
                </a:solidFill>
                <a:latin typeface="Calibri"/>
              </a:rPr>
              <a:t>05</a:t>
            </a:r>
          </a:p>
          <a:p>
            <a:pPr algn="l">
              <a:buNone/>
            </a:pPr>
            <a:r>
              <a:rPr lang="en-US" sz="1500" b="1" dirty="0">
                <a:solidFill>
                  <a:srgbClr val="FFFFFF"/>
                </a:solidFill>
                <a:latin typeface="Arial"/>
              </a:rPr>
              <a:t>Multi-modal voice command interface</a:t>
            </a:r>
          </a:p>
          <a:p>
            <a:pPr algn="l">
              <a:buNone/>
            </a:pPr>
            <a:r>
              <a:rPr lang="en-US" sz="1200" b="0" dirty="0">
                <a:solidFill>
                  <a:srgbClr val="F5D5C0"/>
                </a:solidFill>
                <a:latin typeface="Arial"/>
              </a:rPr>
              <a:t>Offline ASR + UDP inter-process channel</a:t>
            </a:r>
          </a:p>
        </p:txBody>
      </p:sp>
      <p:sp>
        <p:nvSpPr>
          <p:cNvPr id="209" name="card6"/>
          <p:cNvSpPr/>
          <p:nvPr/>
        </p:nvSpPr>
        <p:spPr>
          <a:xfrm>
            <a:off x="8128000" y="4276020"/>
            <a:ext cx="3556000" cy="1320000"/>
          </a:xfrm>
          <a:prstGeom prst="rect">
            <a:avLst/>
          </a:prstGeom>
          <a:solidFill>
            <a:srgbClr val="7A4A2E"/>
          </a:solidFill>
          <a:ln w="0">
            <a:noFill/>
          </a:ln>
        </p:spPr>
        <p:txBody>
          <a:bodyPr wrap="square" lIns="152400" tIns="152400" rIns="152400" bIns="76200" anchor="t"/>
          <a:lstStyle/>
          <a:p>
            <a:pPr algn="l">
              <a:buNone/>
            </a:pPr>
            <a:r>
              <a:rPr lang="en-US" sz="3200" b="1" dirty="0">
                <a:solidFill>
                  <a:srgbClr val="FFFFFF"/>
                </a:solidFill>
                <a:latin typeface="Calibri"/>
              </a:rPr>
              <a:t>06</a:t>
            </a:r>
          </a:p>
          <a:p>
            <a:pPr algn="l">
              <a:buNone/>
            </a:pPr>
            <a:r>
              <a:rPr lang="en-US" sz="1500" b="1" dirty="0">
                <a:solidFill>
                  <a:srgbClr val="FFFFFF"/>
                </a:solidFill>
                <a:latin typeface="Arial"/>
              </a:rPr>
              <a:t>Reproducible GT datasets &amp; JSONL logs</a:t>
            </a:r>
          </a:p>
          <a:p>
            <a:pPr algn="l">
              <a:buNone/>
            </a:pPr>
            <a:r>
              <a:rPr lang="en-US" sz="1200" b="0" dirty="0">
                <a:solidFill>
                  <a:srgbClr val="D4B8A0"/>
                </a:solidFill>
                <a:latin typeface="Arial"/>
              </a:rPr>
              <a:t>36-pt ball grid + 81-trial joint-touch protocol</a:t>
            </a:r>
          </a:p>
        </p:txBody>
      </p:sp>
      <p:sp>
        <p:nvSpPr>
          <p:cNvPr id="210"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211"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a:t>
            </a:r>
            <a:r>
              <a:rPr lang="en-US" sz="1600" b="0" i="1" dirty="0">
                <a:solidFill>
                  <a:srgbClr val="FFFFFF"/>
                </a:solidFill>
                <a:latin typeface="Arial"/>
              </a:rPr>
              <a:t> conventional launcher is upgraded into a pose-guided, safety-gated training system.</a:t>
            </a:r>
          </a:p>
        </p:txBody>
      </p:sp>
      <p:sp>
        <p:nvSpPr>
          <p:cNvPr id="212"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
        <p:nvSpPr>
          <p:cNvPr id="213" name="title_accent"/>
          <p:cNvSpPr/>
          <p:nvPr/>
        </p:nvSpPr>
        <p:spPr>
          <a:xfrm>
            <a:off x="586739" y="1498738"/>
            <a:ext cx="4474846" cy="74444"/>
          </a:xfrm>
          <a:prstGeom prst="rect">
            <a:avLst/>
          </a:prstGeom>
          <a:solidFill>
            <a:srgbClr val="935739"/>
          </a:solidFill>
          <a:ln>
            <a:noFill/>
          </a:ln>
        </p:spPr>
        <p:txBody>
          <a:bodyPr wrap="squar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970766"/>
            <a:ext cx="11176000" cy="711200"/>
          </a:xfrm>
        </p:spPr>
        <p:txBody>
          <a:bodyPr wrap="square" lIns="76200" tIns="38100" rIns="76200" bIns="38100" anchor="ctr"/>
          <a:lstStyle/>
          <a:p>
            <a:pPr algn="l">
              <a:buNone/>
            </a:pPr>
            <a:r>
              <a:rPr lang="en-US" sz="3200" b="1" dirty="0">
                <a:solidFill>
                  <a:srgbClr val="1F1F1F"/>
                </a:solidFill>
                <a:latin typeface="Calibri"/>
              </a:rPr>
              <a:t>Proposed System — Pose-to-Aim Integration</a:t>
            </a:r>
          </a:p>
        </p:txBody>
      </p:sp>
      <p:sp>
        <p:nvSpPr>
          <p:cNvPr id="101" name="t101"/>
          <p:cNvSpPr txBox="1"/>
          <p:nvPr/>
        </p:nvSpPr>
        <p:spPr>
          <a:xfrm>
            <a:off x="508000" y="1697684"/>
            <a:ext cx="11176000" cy="457200"/>
          </a:xfrm>
          <a:prstGeom prst="rect">
            <a:avLst/>
          </a:prstGeom>
          <a:noFill/>
          <a:ln>
            <a:noFill/>
          </a:ln>
        </p:spPr>
        <p:txBody>
          <a:bodyPr wrap="square" lIns="76200" tIns="38100" rIns="76200" bIns="38100" anchor="ctr"/>
          <a:lstStyle/>
          <a:p>
            <a:r>
              <a:rPr lang="en-US" dirty="0"/>
              <a:t>Upgrading inherited BLM hardware with vision-guided aiming, safety, and evaluation.</a:t>
            </a:r>
            <a:endParaRPr dirty="0"/>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 thesis contribution is the integration of perception, prediction, safety, and BLM control.</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607522"/>
            <a:ext cx="749046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113" name="t102">
            <a:extLst>
              <a:ext uri="{FF2B5EF4-FFF2-40B4-BE49-F238E27FC236}">
                <a16:creationId xmlns:a16="http://schemas.microsoft.com/office/drawing/2014/main" id="{86A7C749-F441-E0AF-9E42-DA598F687CD8}"/>
              </a:ext>
            </a:extLst>
          </p:cNvPr>
          <p:cNvGraphicFramePr/>
          <p:nvPr>
            <p:extLst>
              <p:ext uri="{D42A27DB-BD31-4B8C-83A1-F6EECF244321}">
                <p14:modId xmlns:p14="http://schemas.microsoft.com/office/powerpoint/2010/main" val="3452673509"/>
              </p:ext>
            </p:extLst>
          </p:nvPr>
        </p:nvGraphicFramePr>
        <p:xfrm>
          <a:off x="508000" y="2170602"/>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B7086023-F246-067A-A0BE-3D123B7E0EF6}"/>
              </a:ext>
            </a:extLst>
          </p:cNvPr>
          <p:cNvPicPr>
            <a:picLocks noChangeAspect="1"/>
          </p:cNvPicPr>
          <p:nvPr/>
        </p:nvPicPr>
        <p:blipFill>
          <a:blip r:embed="rId9"/>
          <a:stretch>
            <a:fillRect/>
          </a:stretch>
        </p:blipFill>
        <p:spPr>
          <a:xfrm>
            <a:off x="6546041" y="2587469"/>
            <a:ext cx="5645959" cy="2855527"/>
          </a:xfrm>
          <a:prstGeom prst="rect">
            <a:avLst/>
          </a:prstGeom>
        </p:spPr>
      </p:pic>
    </p:spTree>
    <p:extLst>
      <p:ext uri="{BB962C8B-B14F-4D97-AF65-F5344CB8AC3E}">
        <p14:creationId xmlns:p14="http://schemas.microsoft.com/office/powerpoint/2010/main" val="409747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66440"/>
            <a:ext cx="11176000" cy="457200"/>
          </a:xfrm>
          <a:prstGeom prst="rect">
            <a:avLst/>
          </a:prstGeom>
          <a:noFill/>
          <a:ln>
            <a:noFill/>
          </a:ln>
        </p:spPr>
        <p:txBody>
          <a:bodyPr wrap="square" lIns="76200" tIns="38100" rIns="76200" bIns="38100" anchor="ctr"/>
          <a:lstStyle/>
          <a:p>
            <a:r>
              <a:rPr lang="en-US" dirty="0"/>
              <a:t>End-to-end runtime: ≈15 </a:t>
            </a:r>
            <a:r>
              <a:rPr lang="en-US" dirty="0" err="1"/>
              <a:t>ms</a:t>
            </a:r>
            <a:r>
              <a:rPr lang="en-US" dirty="0"/>
              <a:t>, below the 67 </a:t>
            </a:r>
            <a:r>
              <a:rPr lang="en-US" dirty="0" err="1"/>
              <a:t>ms</a:t>
            </a:r>
            <a:r>
              <a:rPr lang="en-US" dirty="0"/>
              <a:t> frame budget at 15 FPS.</a:t>
            </a:r>
            <a:endParaRPr dirty="0"/>
          </a:p>
        </p:txBody>
      </p:sp>
      <p:sp>
        <p:nvSpPr>
          <p:cNvPr id="103" name="t103"/>
          <p:cNvSpPr txBox="1"/>
          <p:nvPr/>
        </p:nvSpPr>
        <p:spPr>
          <a:xfrm>
            <a:off x="635000" y="2222500"/>
            <a:ext cx="10922000" cy="2794000"/>
          </a:xfrm>
          <a:prstGeom prst="rect">
            <a:avLst/>
          </a:prstGeom>
          <a:noFill/>
          <a:ln>
            <a:noFill/>
          </a:ln>
        </p:spPr>
        <p:txBody>
          <a:bodyPr wrap="square" lIns="76200" tIns="38100" rIns="76200" bIns="38100" anchor="ctr"/>
          <a:lstStyle/>
          <a:p>
            <a:r>
              <a:rPr dirty="0"/>
              <a:t>Capture 4ms → YOLO-Pose 6.2ms → Triangulate → Kalman → Ballistic Solve → Safety Gates → Serial 2ms → ESP32 FSM  |  Total ~15ms  |  Budget 67ms  |  Headroom 52ms</a:t>
            </a:r>
          </a:p>
        </p:txBody>
      </p:sp>
      <p:graphicFrame>
        <p:nvGraphicFramePr>
          <p:cNvPr id="13" name="Diagram 12">
            <a:extLst>
              <a:ext uri="{FF2B5EF4-FFF2-40B4-BE49-F238E27FC236}">
                <a16:creationId xmlns:a16="http://schemas.microsoft.com/office/drawing/2014/main" id="{98B952FD-98AD-CB37-8056-D6A270E3EA16}"/>
              </a:ext>
            </a:extLst>
          </p:cNvPr>
          <p:cNvGraphicFramePr/>
          <p:nvPr>
            <p:extLst>
              <p:ext uri="{D42A27DB-BD31-4B8C-83A1-F6EECF244321}">
                <p14:modId xmlns:p14="http://schemas.microsoft.com/office/powerpoint/2010/main" val="1181165612"/>
              </p:ext>
            </p:extLst>
          </p:nvPr>
        </p:nvGraphicFramePr>
        <p:xfrm>
          <a:off x="508000" y="5270500"/>
          <a:ext cx="11176000" cy="1016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compute pipeline ≈15 </a:t>
            </a:r>
            <a:r>
              <a:rPr lang="en-US" sz="1600" b="0" i="1" dirty="0" err="1">
                <a:solidFill>
                  <a:srgbClr val="FFFFFF"/>
                </a:solidFill>
                <a:latin typeface="Arial"/>
              </a:rPr>
              <a:t>ms</a:t>
            </a:r>
            <a:r>
              <a:rPr lang="en-US" sz="1600" b="0" i="1" dirty="0">
                <a:solidFill>
                  <a:srgbClr val="FFFFFF"/>
                </a:solidFill>
                <a:latin typeface="Arial"/>
              </a:rPr>
              <a:t>; 52 </a:t>
            </a:r>
            <a:r>
              <a:rPr lang="en-US" sz="1600" b="0" i="1" dirty="0" err="1">
                <a:solidFill>
                  <a:srgbClr val="FFFFFF"/>
                </a:solidFill>
                <a:latin typeface="Arial"/>
              </a:rPr>
              <a:t>ms</a:t>
            </a:r>
            <a:r>
              <a:rPr lang="en-US" sz="1600" b="0" i="1" dirty="0">
                <a:solidFill>
                  <a:srgbClr val="FFFFFF"/>
                </a:solidFill>
                <a:latin typeface="Arial"/>
              </a:rPr>
              <a:t> headroom remains within the 67 </a:t>
            </a:r>
            <a:r>
              <a:rPr lang="en-US" sz="1600" b="0" i="1" dirty="0" err="1">
                <a:solidFill>
                  <a:srgbClr val="FFFFFF"/>
                </a:solidFill>
                <a:latin typeface="Arial"/>
              </a:rPr>
              <a:t>ms</a:t>
            </a:r>
            <a:r>
              <a:rPr lang="en-US" sz="1600" b="0" i="1" dirty="0">
                <a:solidFill>
                  <a:srgbClr val="FFFFFF"/>
                </a:solidFill>
                <a:latin typeface="Arial"/>
              </a:rPr>
              <a:t> frame budget.</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sp>
        <p:nvSpPr>
          <p:cNvPr id="5" name="AutoShape 4">
            <a:extLst>
              <a:ext uri="{FF2B5EF4-FFF2-40B4-BE49-F238E27FC236}">
                <a16:creationId xmlns:a16="http://schemas.microsoft.com/office/drawing/2014/main" id="{207166F8-60DB-4B61-3E80-9AC57330FFE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2ADC8CF1-6050-E6A7-DF58-683108FC4B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8">
            <a:extLst>
              <a:ext uri="{FF2B5EF4-FFF2-40B4-BE49-F238E27FC236}">
                <a16:creationId xmlns:a16="http://schemas.microsoft.com/office/drawing/2014/main" id="{DB9CFC76-3220-6CFF-D2AA-87291F44C468}"/>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10">
            <a:extLst>
              <a:ext uri="{FF2B5EF4-FFF2-40B4-BE49-F238E27FC236}">
                <a16:creationId xmlns:a16="http://schemas.microsoft.com/office/drawing/2014/main" id="{80C896BA-EEDF-D6DC-8FB1-B47165DF0683}"/>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Picture 11">
            <a:extLst>
              <a:ext uri="{FF2B5EF4-FFF2-40B4-BE49-F238E27FC236}">
                <a16:creationId xmlns:a16="http://schemas.microsoft.com/office/drawing/2014/main" id="{0B348062-1020-7596-80EF-B68277F8F28F}"/>
              </a:ext>
            </a:extLst>
          </p:cNvPr>
          <p:cNvPicPr>
            <a:picLocks noChangeAspect="1"/>
          </p:cNvPicPr>
          <p:nvPr/>
        </p:nvPicPr>
        <p:blipFill>
          <a:blip r:embed="rId9"/>
          <a:stretch>
            <a:fillRect/>
          </a:stretch>
        </p:blipFill>
        <p:spPr>
          <a:xfrm>
            <a:off x="713691" y="2288465"/>
            <a:ext cx="11112549" cy="2848237"/>
          </a:xfrm>
          <a:prstGeom prst="rect">
            <a:avLst/>
          </a:prstGeom>
        </p:spPr>
      </p:pic>
    </p:spTree>
    <p:extLst>
      <p:ext uri="{BB962C8B-B14F-4D97-AF65-F5344CB8AC3E}">
        <p14:creationId xmlns:p14="http://schemas.microsoft.com/office/powerpoint/2010/main" val="243923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dirty="0"/>
              <a:t>Practical actuation paired with low-cost sensing for under USD 200.</a:t>
            </a:r>
          </a:p>
        </p:txBody>
      </p:sp>
      <p:sp>
        <p:nvSpPr>
          <p:cNvPr id="102" name="t102"/>
          <p:cNvSpPr txBox="1"/>
          <p:nvPr/>
        </p:nvSpPr>
        <p:spPr>
          <a:xfrm>
            <a:off x="1267674" y="4611032"/>
            <a:ext cx="5180647" cy="719559"/>
          </a:xfrm>
          <a:prstGeom prst="rect">
            <a:avLst/>
          </a:prstGeom>
          <a:noFill/>
          <a:ln>
            <a:noFill/>
          </a:ln>
        </p:spPr>
        <p:txBody>
          <a:bodyPr wrap="square" lIns="76200" tIns="38100" rIns="76200" bIns="38100" anchor="ctr"/>
          <a:lstStyle/>
          <a:p>
            <a:pPr>
              <a:spcBef>
                <a:spcPts val="500"/>
              </a:spcBef>
            </a:pPr>
            <a:r>
              <a:rPr lang="en-US" sz="1800" dirty="0">
                <a:solidFill>
                  <a:srgbClr val="2A231F"/>
                </a:solidFill>
                <a:latin typeface="Arial"/>
              </a:rPr>
              <a:t>NEMA-23 steppers with worm-gear reducers (self-locking for safety).</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2032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Arena setup: 4 USB cameras at corners, BLM at centre, AprilTag fiducials on walls. All hardware fits in a domestic garage — no lab infrastructure required.</a:t>
            </a:r>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Perception PC (recycled)</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expensive </a:t>
            </a:r>
            <a:r>
              <a:rPr lang="en-US" sz="1600" b="0" i="1" dirty="0" err="1">
                <a:solidFill>
                  <a:srgbClr val="FFFFFF"/>
                </a:solidFill>
                <a:latin typeface="Arial"/>
              </a:rPr>
              <a:t>MoCap</a:t>
            </a:r>
            <a:r>
              <a:rPr lang="en-US" sz="1600" b="0" i="1" dirty="0">
                <a:solidFill>
                  <a:srgbClr val="FFFFFF"/>
                </a:solidFill>
                <a:latin typeface="Arial"/>
              </a:rPr>
              <a:t> is not required for the validated pose-guided aiming pipeline.</a:t>
            </a:r>
          </a:p>
        </p:txBody>
      </p:sp>
      <p:sp>
        <p:nvSpPr>
          <p:cNvPr id="129" name="TextBox 128"/>
          <p:cNvSpPr txBox="1"/>
          <p:nvPr/>
        </p:nvSpPr>
        <p:spPr>
          <a:xfrm>
            <a:off x="8050433" y="4320000"/>
            <a:ext cx="2055371" cy="246221"/>
          </a:xfrm>
          <a:prstGeom prst="rect">
            <a:avLst/>
          </a:prstGeom>
          <a:noFill/>
        </p:spPr>
        <p:txBody>
          <a:bodyPr wrap="none">
            <a:spAutoFit/>
          </a:bodyPr>
          <a:lstStyle/>
          <a:p>
            <a:pPr algn="l"/>
            <a:r>
              <a:rPr sz="1000" i="1" dirty="0">
                <a:solidFill>
                  <a:srgbClr val="935739"/>
                </a:solidFill>
                <a:latin typeface="Arial"/>
              </a:rPr>
              <a:t>Table 2. </a:t>
            </a:r>
            <a:r>
              <a:rPr lang="en-US" sz="1000" i="1" dirty="0">
                <a:solidFill>
                  <a:srgbClr val="935739"/>
                </a:solidFill>
                <a:latin typeface="Arial"/>
              </a:rPr>
              <a:t>Indicative hardware cost</a:t>
            </a:r>
            <a:endParaRPr sz="1000" i="1" dirty="0">
              <a:solidFill>
                <a:srgbClr val="935739"/>
              </a:solidFill>
              <a:latin typeface="Arial"/>
            </a:endParaRP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pic>
        <p:nvPicPr>
          <p:cNvPr id="5" name="Picture 4">
            <a:extLst>
              <a:ext uri="{FF2B5EF4-FFF2-40B4-BE49-F238E27FC236}">
                <a16:creationId xmlns:a16="http://schemas.microsoft.com/office/drawing/2014/main" id="{3D6F6848-663D-DCCD-E59E-BEEFF6A5CB66}"/>
              </a:ext>
            </a:extLst>
          </p:cNvPr>
          <p:cNvPicPr>
            <a:picLocks noChangeAspect="1"/>
          </p:cNvPicPr>
          <p:nvPr/>
        </p:nvPicPr>
        <p:blipFill>
          <a:blip r:embed="rId7">
            <a:extLst>
              <a:ext uri="{28A0092B-C50C-407E-A947-70E740481C1C}">
                <a14:useLocalDpi xmlns:a14="http://schemas.microsoft.com/office/drawing/2010/main" val="0"/>
              </a:ext>
            </a:extLst>
          </a:blip>
          <a:srcRect t="17976" b="34276"/>
          <a:stretch>
            <a:fillRect/>
          </a:stretch>
        </p:blipFill>
        <p:spPr>
          <a:xfrm>
            <a:off x="142514" y="2428095"/>
            <a:ext cx="1234319" cy="773194"/>
          </a:xfrm>
          <a:prstGeom prst="rect">
            <a:avLst/>
          </a:prstGeom>
        </p:spPr>
      </p:pic>
      <p:pic>
        <p:nvPicPr>
          <p:cNvPr id="9" name="Picture 8">
            <a:extLst>
              <a:ext uri="{FF2B5EF4-FFF2-40B4-BE49-F238E27FC236}">
                <a16:creationId xmlns:a16="http://schemas.microsoft.com/office/drawing/2014/main" id="{73DAB91E-6E5A-7422-206E-2638FDE391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1329" y="4556692"/>
            <a:ext cx="896688" cy="896688"/>
          </a:xfrm>
          <a:prstGeom prst="rect">
            <a:avLst/>
          </a:prstGeom>
        </p:spPr>
      </p:pic>
      <p:pic>
        <p:nvPicPr>
          <p:cNvPr id="12" name="Picture 11">
            <a:extLst>
              <a:ext uri="{FF2B5EF4-FFF2-40B4-BE49-F238E27FC236}">
                <a16:creationId xmlns:a16="http://schemas.microsoft.com/office/drawing/2014/main" id="{41BDF5B5-A6B3-A9A4-2604-A96236E802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0733" y="3576127"/>
            <a:ext cx="817880" cy="612347"/>
          </a:xfrm>
          <a:prstGeom prst="rect">
            <a:avLst/>
          </a:prstGeom>
        </p:spPr>
      </p:pic>
      <p:sp>
        <p:nvSpPr>
          <p:cNvPr id="13" name="TextBox 12">
            <a:extLst>
              <a:ext uri="{FF2B5EF4-FFF2-40B4-BE49-F238E27FC236}">
                <a16:creationId xmlns:a16="http://schemas.microsoft.com/office/drawing/2014/main" id="{AA9B0E4F-F218-6098-F5F1-7EE481E5C801}"/>
              </a:ext>
            </a:extLst>
          </p:cNvPr>
          <p:cNvSpPr txBox="1"/>
          <p:nvPr/>
        </p:nvSpPr>
        <p:spPr>
          <a:xfrm>
            <a:off x="1267674" y="2509520"/>
            <a:ext cx="5431893" cy="926316"/>
          </a:xfrm>
          <a:prstGeom prst="rect">
            <a:avLst/>
          </a:prstGeom>
          <a:noFill/>
        </p:spPr>
        <p:txBody>
          <a:bodyPr wrap="square" rtlCol="0">
            <a:spAutoFit/>
          </a:bodyPr>
          <a:lstStyle/>
          <a:p>
            <a:r>
              <a:rPr lang="en-US" dirty="0">
                <a:solidFill>
                  <a:srgbClr val="2A231F"/>
                </a:solidFill>
                <a:latin typeface="Arial"/>
              </a:rPr>
              <a:t>4× Hikvision DS-E12 USB cameras (1280×720, ~$30 each).</a:t>
            </a:r>
          </a:p>
          <a:p>
            <a:endParaRPr lang="ru-RU" dirty="0"/>
          </a:p>
        </p:txBody>
      </p:sp>
      <p:sp>
        <p:nvSpPr>
          <p:cNvPr id="14" name="TextBox 13">
            <a:extLst>
              <a:ext uri="{FF2B5EF4-FFF2-40B4-BE49-F238E27FC236}">
                <a16:creationId xmlns:a16="http://schemas.microsoft.com/office/drawing/2014/main" id="{AB830980-A2D9-2FE5-4306-A4604F0DCB6B}"/>
              </a:ext>
            </a:extLst>
          </p:cNvPr>
          <p:cNvSpPr txBox="1"/>
          <p:nvPr/>
        </p:nvSpPr>
        <p:spPr>
          <a:xfrm>
            <a:off x="1267674" y="3517261"/>
            <a:ext cx="4826000" cy="923330"/>
          </a:xfrm>
          <a:prstGeom prst="rect">
            <a:avLst/>
          </a:prstGeom>
          <a:noFill/>
        </p:spPr>
        <p:txBody>
          <a:bodyPr wrap="square" rtlCol="0">
            <a:spAutoFit/>
          </a:bodyPr>
          <a:lstStyle/>
          <a:p>
            <a:r>
              <a:rPr lang="en-US" dirty="0">
                <a:solidFill>
                  <a:srgbClr val="2A231F"/>
                </a:solidFill>
                <a:latin typeface="Arial"/>
              </a:rPr>
              <a:t>ESP32 MCU running cooperative FSM (921,600 baud serial link).</a:t>
            </a:r>
          </a:p>
          <a:p>
            <a:endParaRPr lang="ru-RU" dirty="0"/>
          </a:p>
        </p:txBody>
      </p:sp>
    </p:spTree>
    <p:extLst>
      <p:ext uri="{BB962C8B-B14F-4D97-AF65-F5344CB8AC3E}">
        <p14:creationId xmlns:p14="http://schemas.microsoft.com/office/powerpoint/2010/main" val="3157767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rPr lang="en-US" dirty="0"/>
              <a:t>YOLO-Pose + </a:t>
            </a:r>
            <a:r>
              <a:rPr lang="en-US" dirty="0" err="1"/>
              <a:t>TensorRT</a:t>
            </a:r>
            <a:r>
              <a:rPr lang="en-US" dirty="0"/>
              <a:t> enables real-time 4-camera inference within the 67 </a:t>
            </a:r>
            <a:r>
              <a:rPr lang="en-US" dirty="0" err="1"/>
              <a:t>ms</a:t>
            </a:r>
            <a:r>
              <a:rPr lang="en-US" dirty="0"/>
              <a:t> frame budget.</a:t>
            </a:r>
            <a:endParaRPr dirty="0"/>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 custom YOLO ball detector</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err="1">
                <a:solidFill>
                  <a:srgbClr val="2A231F"/>
                </a:solidFill>
                <a:latin typeface="Arial"/>
              </a:rPr>
              <a:t>TensorRT</a:t>
            </a:r>
            <a:r>
              <a:rPr lang="en-US" sz="1400" dirty="0">
                <a:solidFill>
                  <a:srgbClr val="2A231F"/>
                </a:solidFill>
                <a:latin typeface="Arial"/>
              </a:rPr>
              <a:t> FP16, 4-camera batch</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SVD-DLT multi-view triangulation</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iterative reprojection-error rejection</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rPr lang="en-US" sz="1400" dirty="0">
                <a:latin typeface="Arial" panose="020B0604020202020204" pitchFamily="34" charset="0"/>
                <a:cs typeface="Arial" panose="020B0604020202020204" pitchFamily="34" charset="0"/>
              </a:rPr>
              <a:t>adaptive EMA + CV Kalman prediction</a:t>
            </a:r>
            <a:endParaRPr sz="1400" dirty="0">
              <a:latin typeface="Arial" panose="020B0604020202020204" pitchFamily="34" charset="0"/>
              <a:cs typeface="Arial" panose="020B0604020202020204" pitchFamily="34" charset="0"/>
            </a:endParaRP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rPr lang="en-US" sz="1400" dirty="0">
                <a:latin typeface="Arial" panose="020B0604020202020204" pitchFamily="34" charset="0"/>
                <a:cs typeface="Arial" panose="020B0604020202020204" pitchFamily="34" charset="0"/>
              </a:rPr>
              <a:t>Python, safety gates, ballistic solver</a:t>
            </a:r>
            <a:endParaRPr sz="1400" dirty="0">
              <a:latin typeface="Arial" panose="020B0604020202020204" pitchFamily="34" charset="0"/>
              <a:cs typeface="Arial" panose="020B0604020202020204" pitchFamily="34" charset="0"/>
            </a:endParaRP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2387600" y="5531757"/>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ESP32 FSM</a:t>
            </a:r>
          </a:p>
        </p:txBody>
      </p:sp>
      <p:sp>
        <p:nvSpPr>
          <p:cNvPr id="134" name="r134"/>
          <p:cNvSpPr/>
          <p:nvPr/>
        </p:nvSpPr>
        <p:spPr>
          <a:xfrm>
            <a:off x="6858000" y="2095500"/>
            <a:ext cx="4826000" cy="3937000"/>
          </a:xfrm>
          <a:prstGeom prst="rect">
            <a:avLst/>
          </a:prstGeom>
          <a:solidFill>
            <a:srgbClr val="F7F1EC"/>
          </a:solidFill>
          <a:ln w="15240">
            <a:solidFill>
              <a:srgbClr val="935739"/>
            </a:solidFill>
          </a:ln>
        </p:spPr>
        <p:txBody>
          <a:bodyPr wrap="square" anchor="ctr"/>
          <a:lstStyle/>
          <a:p>
            <a:endParaRPr lang="en-US"/>
          </a:p>
        </p:txBody>
      </p:sp>
      <p:sp>
        <p:nvSpPr>
          <p:cNvPr id="135" name="t135"/>
          <p:cNvSpPr txBox="1"/>
          <p:nvPr/>
        </p:nvSpPr>
        <p:spPr>
          <a:xfrm>
            <a:off x="6858000" y="2095500"/>
            <a:ext cx="4826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  Firmware command excerpt</a:t>
            </a:r>
          </a:p>
        </p:txBody>
      </p:sp>
      <p:sp>
        <p:nvSpPr>
          <p:cNvPr id="136" name="t136"/>
          <p:cNvSpPr txBox="1"/>
          <p:nvPr/>
        </p:nvSpPr>
        <p:spPr>
          <a:xfrm>
            <a:off x="6985000" y="2476500"/>
            <a:ext cx="4572000" cy="3492500"/>
          </a:xfrm>
          <a:prstGeom prst="rect">
            <a:avLst/>
          </a:prstGeom>
          <a:noFill/>
          <a:ln>
            <a:noFill/>
          </a:ln>
        </p:spPr>
        <p:txBody>
          <a:bodyPr wrap="square" lIns="76200" tIns="38100" rIns="76200" bIns="38100" anchor="ctr"/>
          <a:lstStyle/>
          <a:p>
            <a:pPr algn="l">
              <a:buNone/>
            </a:pPr>
            <a:r>
              <a:rPr lang="en-US" sz="1200" dirty="0">
                <a:solidFill>
                  <a:srgbClr val="2A231F"/>
                </a:solidFill>
                <a:latin typeface="Consolas"/>
              </a:rPr>
              <a:t>// control_12_full.ino</a:t>
            </a:r>
          </a:p>
          <a:p>
            <a:pPr algn="l">
              <a:buNone/>
            </a:pPr>
            <a:r>
              <a:rPr lang="en-US" sz="1200" dirty="0">
                <a:solidFill>
                  <a:srgbClr val="2A231F"/>
                </a:solidFill>
                <a:latin typeface="Consolas"/>
              </a:rPr>
              <a:t>void handle_set(){</a:t>
            </a:r>
          </a:p>
          <a:p>
            <a:pPr algn="l">
              <a:buNone/>
            </a:pPr>
            <a:r>
              <a:rPr lang="en-US" sz="1200" dirty="0">
                <a:solidFill>
                  <a:srgbClr val="2A231F"/>
                </a:solidFill>
                <a:latin typeface="Consolas"/>
              </a:rPr>
              <a:t>  // set &lt;v&gt; &lt;h&gt; &lt;wl&gt; &lt;wr&gt;</a:t>
            </a:r>
          </a:p>
          <a:p>
            <a:pPr algn="l">
              <a:buNone/>
            </a:pPr>
            <a:r>
              <a:rPr lang="en-US" sz="1200" dirty="0">
                <a:solidFill>
                  <a:srgbClr val="2A231F"/>
                </a:solidFill>
                <a:latin typeface="Consolas"/>
              </a:rPr>
              <a:t>  float v = Serial.parseFloat();</a:t>
            </a:r>
          </a:p>
          <a:p>
            <a:pPr algn="l">
              <a:buNone/>
            </a:pPr>
            <a:r>
              <a:rPr lang="en-US" sz="1200" dirty="0">
                <a:solidFill>
                  <a:srgbClr val="2A231F"/>
                </a:solidFill>
                <a:latin typeface="Consolas"/>
              </a:rPr>
              <a:t>  float h = Serial.parseFloat();</a:t>
            </a:r>
          </a:p>
          <a:p>
            <a:pPr algn="l">
              <a:buNone/>
            </a:pPr>
            <a:r>
              <a:rPr lang="en-US" sz="1200" dirty="0">
                <a:solidFill>
                  <a:srgbClr val="2A231F"/>
                </a:solidFill>
                <a:latin typeface="Consolas"/>
              </a:rPr>
              <a:t>  int wl = Serial.parseInt();</a:t>
            </a:r>
          </a:p>
          <a:p>
            <a:pPr algn="l">
              <a:buNone/>
            </a:pPr>
            <a:r>
              <a:rPr lang="en-US" sz="1200" dirty="0">
                <a:solidFill>
                  <a:srgbClr val="2A231F"/>
                </a:solidFill>
                <a:latin typeface="Consolas"/>
              </a:rPr>
              <a:t>  int wr = Serial.parseInt();</a:t>
            </a:r>
          </a:p>
          <a:p>
            <a:pPr algn="l">
              <a:buNone/>
            </a:pPr>
            <a:r>
              <a:rPr lang="en-US" sz="1200" dirty="0">
                <a:solidFill>
                  <a:srgbClr val="2A231F"/>
                </a:solidFill>
                <a:latin typeface="Consolas"/>
              </a:rPr>
              <a:t>  if(!armed) return;</a:t>
            </a:r>
          </a:p>
          <a:p>
            <a:pPr algn="l">
              <a:buNone/>
            </a:pPr>
            <a:r>
              <a:rPr lang="en-US" sz="1200" dirty="0">
                <a:solidFill>
                  <a:srgbClr val="2A231F"/>
                </a:solidFill>
                <a:latin typeface="Consolas"/>
              </a:rPr>
              <a:t>  clampAngle(v, h);</a:t>
            </a:r>
          </a:p>
          <a:p>
            <a:pPr algn="l">
              <a:buNone/>
            </a:pPr>
            <a:r>
              <a:rPr lang="en-US" sz="1200" dirty="0">
                <a:solidFill>
                  <a:srgbClr val="2A231F"/>
                </a:solidFill>
                <a:latin typeface="Consolas"/>
              </a:rPr>
              <a:t>  gateRPM(wl, wr);</a:t>
            </a:r>
          </a:p>
          <a:p>
            <a:pPr algn="l">
              <a:buNone/>
            </a:pPr>
            <a:r>
              <a:rPr lang="en-US" sz="1200" dirty="0">
                <a:solidFill>
                  <a:srgbClr val="2A231F"/>
                </a:solidFill>
                <a:latin typeface="Consolas"/>
              </a:rPr>
              <a:t>  target_v = v; target_h = h;</a:t>
            </a:r>
          </a:p>
          <a:p>
            <a:pPr algn="l">
              <a:buNone/>
            </a:pPr>
            <a:r>
              <a:rPr lang="en-US" sz="1200" dirty="0">
                <a:solidFill>
                  <a:srgbClr val="2A231F"/>
                </a:solidFill>
                <a:latin typeface="Consolas"/>
              </a:rPr>
              <a:t>  rpm_l = wl; rpm_r = wr;</a:t>
            </a:r>
          </a:p>
          <a:p>
            <a:pPr algn="l">
              <a:buNone/>
            </a:pPr>
            <a:r>
              <a:rPr lang="en-US" sz="1200" dirty="0">
                <a:solidFill>
                  <a:srgbClr val="2A231F"/>
                </a:solidFill>
                <a:latin typeface="Consolas"/>
              </a:rPr>
              <a:t>}</a:t>
            </a:r>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multi-camera detections become safety-gated pitch, yaw, and RPM commands.</a:t>
            </a:r>
            <a:endParaRPr dirty="0">
              <a:solidFill>
                <a:schemeClr val="bg1"/>
              </a:solidFill>
            </a:endParaRP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021246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t>Unifying four cameras into one millimetre-scale world frame.</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one calibrated world frame enables 3D joint coordinates from four USB cameras.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pic>
        <p:nvPicPr>
          <p:cNvPr id="5" name="Picture 4">
            <a:extLst>
              <a:ext uri="{FF2B5EF4-FFF2-40B4-BE49-F238E27FC236}">
                <a16:creationId xmlns:a16="http://schemas.microsoft.com/office/drawing/2014/main" id="{F742871F-2913-EECA-DCDF-BA543741134B}"/>
              </a:ext>
            </a:extLst>
          </p:cNvPr>
          <p:cNvPicPr>
            <a:picLocks noChangeAspect="1"/>
          </p:cNvPicPr>
          <p:nvPr/>
        </p:nvPicPr>
        <p:blipFill>
          <a:blip r:embed="rId4"/>
          <a:srcRect t="18282"/>
          <a:stretch>
            <a:fillRect/>
          </a:stretch>
        </p:blipFill>
        <p:spPr>
          <a:xfrm>
            <a:off x="1743347" y="2535153"/>
            <a:ext cx="8705305" cy="3595621"/>
          </a:xfrm>
          <a:prstGeom prst="rect">
            <a:avLst/>
          </a:prstGeom>
        </p:spPr>
      </p:pic>
    </p:spTree>
    <p:extLst>
      <p:ext uri="{BB962C8B-B14F-4D97-AF65-F5344CB8AC3E}">
        <p14:creationId xmlns:p14="http://schemas.microsoft.com/office/powerpoint/2010/main" val="1236530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Arial" panose="020B0604020202020204" pitchFamily="34" charset="0"/>
                <a:cs typeface="Arial" panose="020B0604020202020204" pitchFamily="34" charset="0"/>
              </a:rPr>
              <a:t>Methodology &amp; Experiments</a:t>
            </a:r>
          </a:p>
        </p:txBody>
      </p:sp>
      <p:sp>
        <p:nvSpPr>
          <p:cNvPr id="101" name="t101"/>
          <p:cNvSpPr txBox="1"/>
          <p:nvPr/>
        </p:nvSpPr>
        <p:spPr>
          <a:xfrm>
            <a:off x="406400" y="1608667"/>
            <a:ext cx="11176000" cy="457200"/>
          </a:xfrm>
          <a:prstGeom prst="rect">
            <a:avLst/>
          </a:prstGeom>
          <a:noFill/>
          <a:ln>
            <a:noFill/>
          </a:ln>
        </p:spPr>
        <p:txBody>
          <a:bodyPr wrap="square" lIns="76200" tIns="38100" rIns="76200" bIns="38100" anchor="ctr"/>
          <a:lstStyle/>
          <a:p>
            <a:r>
              <a:rPr lang="en-US" dirty="0">
                <a:latin typeface="Arial" panose="020B0604020202020204" pitchFamily="34" charset="0"/>
                <a:cs typeface="Arial" panose="020B0604020202020204" pitchFamily="34" charset="0"/>
              </a:rPr>
              <a:t>Evaluation combines </a:t>
            </a:r>
            <a:r>
              <a:rPr lang="en-US" dirty="0" err="1">
                <a:latin typeface="Arial" panose="020B0604020202020204" pitchFamily="34" charset="0"/>
                <a:cs typeface="Arial" panose="020B0604020202020204" pitchFamily="34" charset="0"/>
              </a:rPr>
              <a:t>localisation</a:t>
            </a:r>
            <a:r>
              <a:rPr lang="en-US" dirty="0">
                <a:latin typeface="Arial" panose="020B0604020202020204" pitchFamily="34" charset="0"/>
                <a:cs typeface="Arial" panose="020B0604020202020204" pitchFamily="34" charset="0"/>
              </a:rPr>
              <a:t> accuracy, dynamic tracking, safety, and traceability.</a:t>
            </a:r>
            <a:endParaRPr dirty="0">
              <a:latin typeface="Arial" panose="020B0604020202020204" pitchFamily="34" charset="0"/>
              <a:cs typeface="Arial" panose="020B0604020202020204" pitchFamily="34" charset="0"/>
            </a:endParaRP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36-point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95.17 mm</a:t>
            </a:r>
            <a:r>
              <a:rPr lang="en-US" sz="1600" dirty="0">
                <a:latin typeface="Arial" panose="020B0604020202020204" pitchFamily="34" charset="0"/>
                <a:cs typeface="Arial" panose="020B0604020202020204" pitchFamily="34" charset="0"/>
              </a:rPr>
              <a:t> mean</a:t>
            </a:r>
            <a:endParaRPr sz="1600" dirty="0">
              <a:latin typeface="Arial" panose="020B0604020202020204" pitchFamily="34" charset="0"/>
              <a:cs typeface="Arial" panose="020B0604020202020204" pitchFamily="34" charset="0"/>
            </a:endParaRP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81 trials</a:t>
            </a:r>
            <a:endParaRPr sz="1600" dirty="0">
              <a:latin typeface="Arial" panose="020B0604020202020204" pitchFamily="34" charset="0"/>
              <a:cs typeface="Arial" panose="020B0604020202020204" pitchFamily="34" charset="0"/>
            </a:endParaRP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143.38 mm, 62 valid</a:t>
            </a:r>
            <a:endParaRPr sz="1600" dirty="0">
              <a:latin typeface="Arial" panose="020B0604020202020204" pitchFamily="34" charset="0"/>
              <a:cs typeface="Arial" panose="020B0604020202020204" pitchFamily="34" charset="0"/>
            </a:endParaRP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3 clips</a:t>
            </a:r>
            <a:endParaRPr sz="1600" dirty="0">
              <a:latin typeface="Arial" panose="020B0604020202020204" pitchFamily="34" charset="0"/>
              <a:cs typeface="Arial" panose="020B0604020202020204" pitchFamily="34" charset="0"/>
            </a:endParaRP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a:t>
            </a:r>
            <a:r>
              <a:rPr sz="1600" dirty="0">
                <a:latin typeface="Arial" panose="020B0604020202020204" pitchFamily="34" charset="0"/>
                <a:cs typeface="Arial" panose="020B0604020202020204" pitchFamily="34" charset="0"/>
              </a:rPr>
              <a:t>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3D trajectory verified</a:t>
            </a:r>
            <a:endParaRPr sz="1600" dirty="0">
              <a:latin typeface="Arial" panose="020B0604020202020204" pitchFamily="34" charset="0"/>
              <a:cs typeface="Arial" panose="020B0604020202020204" pitchFamily="34" charset="0"/>
            </a:endParaRPr>
          </a:p>
        </p:txBody>
      </p:sp>
      <p:sp>
        <p:nvSpPr>
          <p:cNvPr id="134" name="r134"/>
          <p:cNvSpPr/>
          <p:nvPr/>
        </p:nvSpPr>
        <p:spPr>
          <a:xfrm>
            <a:off x="508000" y="4165600"/>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5" name="t135"/>
          <p:cNvSpPr txBox="1"/>
          <p:nvPr/>
        </p:nvSpPr>
        <p:spPr>
          <a:xfrm>
            <a:off x="609600" y="4165600"/>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Bias correction</a:t>
            </a:r>
          </a:p>
        </p:txBody>
      </p:sp>
      <p:sp>
        <p:nvSpPr>
          <p:cNvPr id="136" name="r136"/>
          <p:cNvSpPr/>
          <p:nvPr/>
        </p:nvSpPr>
        <p:spPr>
          <a:xfrm>
            <a:off x="3302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7" name="t137"/>
          <p:cNvSpPr txBox="1"/>
          <p:nvPr/>
        </p:nvSpPr>
        <p:spPr>
          <a:xfrm>
            <a:off x="3403600" y="4165600"/>
            <a:ext cx="2717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Axis offsets from GT</a:t>
            </a:r>
          </a:p>
        </p:txBody>
      </p:sp>
      <p:sp>
        <p:nvSpPr>
          <p:cNvPr id="138" name="r138"/>
          <p:cNvSpPr/>
          <p:nvPr/>
        </p:nvSpPr>
        <p:spPr>
          <a:xfrm>
            <a:off x="6223000" y="4165600"/>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9" name="t139"/>
          <p:cNvSpPr txBox="1"/>
          <p:nvPr/>
        </p:nvSpPr>
        <p:spPr>
          <a:xfrm>
            <a:off x="6324600" y="41656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Corrected vs raw error</a:t>
            </a:r>
          </a:p>
        </p:txBody>
      </p:sp>
      <p:sp>
        <p:nvSpPr>
          <p:cNvPr id="140" name="r140"/>
          <p:cNvSpPr/>
          <p:nvPr/>
        </p:nvSpPr>
        <p:spPr>
          <a:xfrm>
            <a:off x="8763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1" name="t141"/>
          <p:cNvSpPr txBox="1"/>
          <p:nvPr/>
        </p:nvSpPr>
        <p:spPr>
          <a:xfrm>
            <a:off x="8864600" y="4165600"/>
            <a:ext cx="2717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Ball mean drops to 95.17 mm</a:t>
            </a:r>
          </a:p>
        </p:txBody>
      </p:sp>
      <p:sp>
        <p:nvSpPr>
          <p:cNvPr id="142" name="r142"/>
          <p:cNvSpPr/>
          <p:nvPr/>
        </p:nvSpPr>
        <p:spPr>
          <a:xfrm>
            <a:off x="508000" y="4703233"/>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Safety checklist</a:t>
            </a:r>
          </a:p>
        </p:txBody>
      </p:sp>
      <p:sp>
        <p:nvSpPr>
          <p:cNvPr id="144" name="r144"/>
          <p:cNvSpPr/>
          <p:nvPr/>
        </p:nvSpPr>
        <p:spPr>
          <a:xfrm>
            <a:off x="3302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S0–S4</a:t>
            </a:r>
            <a:endParaRPr sz="1600" dirty="0">
              <a:latin typeface="Arial" panose="020B0604020202020204" pitchFamily="34" charset="0"/>
              <a:cs typeface="Arial" panose="020B0604020202020204" pitchFamily="34" charset="0"/>
            </a:endParaRPr>
          </a:p>
        </p:txBody>
      </p:sp>
      <p:sp>
        <p:nvSpPr>
          <p:cNvPr id="146" name="r146"/>
          <p:cNvSpPr/>
          <p:nvPr/>
        </p:nvSpPr>
        <p:spPr>
          <a:xfrm>
            <a:off x="6223000" y="4703233"/>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Pass / fail + logs</a:t>
            </a:r>
          </a:p>
        </p:txBody>
      </p:sp>
      <p:sp>
        <p:nvSpPr>
          <p:cNvPr id="148" name="r148"/>
          <p:cNvSpPr/>
          <p:nvPr/>
        </p:nvSpPr>
        <p:spPr>
          <a:xfrm>
            <a:off x="8763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Passed, E-STOP &lt;100 </a:t>
            </a:r>
            <a:r>
              <a:rPr lang="en-US" sz="1600" dirty="0" err="1">
                <a:latin typeface="Arial" panose="020B0604020202020204" pitchFamily="34" charset="0"/>
                <a:cs typeface="Arial" panose="020B0604020202020204" pitchFamily="34" charset="0"/>
              </a:rPr>
              <a:t>ms</a:t>
            </a:r>
            <a:endParaRPr sz="1600" dirty="0">
              <a:latin typeface="Arial" panose="020B0604020202020204" pitchFamily="34" charset="0"/>
              <a:cs typeface="Arial" panose="020B0604020202020204" pitchFamily="34" charset="0"/>
            </a:endParaRPr>
          </a:p>
        </p:txBody>
      </p:sp>
      <p:sp>
        <p:nvSpPr>
          <p:cNvPr id="150" name="r150"/>
          <p:cNvSpPr/>
          <p:nvPr/>
        </p:nvSpPr>
        <p:spPr>
          <a:xfrm>
            <a:off x="508000" y="5240867"/>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1" name="t151"/>
          <p:cNvSpPr txBox="1"/>
          <p:nvPr/>
        </p:nvSpPr>
        <p:spPr>
          <a:xfrm>
            <a:off x="609600" y="5240867"/>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Decision logging</a:t>
            </a:r>
          </a:p>
        </p:txBody>
      </p:sp>
      <p:sp>
        <p:nvSpPr>
          <p:cNvPr id="152" name="r152"/>
          <p:cNvSpPr/>
          <p:nvPr/>
        </p:nvSpPr>
        <p:spPr>
          <a:xfrm>
            <a:off x="3302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3" name="t153"/>
          <p:cNvSpPr txBox="1"/>
          <p:nvPr/>
        </p:nvSpPr>
        <p:spPr>
          <a:xfrm>
            <a:off x="3403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JSONL logs</a:t>
            </a:r>
            <a:endParaRPr sz="1600" dirty="0">
              <a:latin typeface="Arial" panose="020B0604020202020204" pitchFamily="34" charset="0"/>
              <a:cs typeface="Arial" panose="020B0604020202020204" pitchFamily="34" charset="0"/>
            </a:endParaRPr>
          </a:p>
        </p:txBody>
      </p:sp>
      <p:sp>
        <p:nvSpPr>
          <p:cNvPr id="154" name="r154"/>
          <p:cNvSpPr/>
          <p:nvPr/>
        </p:nvSpPr>
        <p:spPr>
          <a:xfrm>
            <a:off x="6223000" y="5240867"/>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5" name="t155"/>
          <p:cNvSpPr txBox="1"/>
          <p:nvPr/>
        </p:nvSpPr>
        <p:spPr>
          <a:xfrm>
            <a:off x="6324600" y="5240867"/>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Auditability</a:t>
            </a:r>
          </a:p>
        </p:txBody>
      </p:sp>
      <p:sp>
        <p:nvSpPr>
          <p:cNvPr id="156" name="r156"/>
          <p:cNvSpPr/>
          <p:nvPr/>
        </p:nvSpPr>
        <p:spPr>
          <a:xfrm>
            <a:off x="8763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7" name="t157"/>
          <p:cNvSpPr txBox="1"/>
          <p:nvPr/>
        </p:nvSpPr>
        <p:spPr>
          <a:xfrm>
            <a:off x="8864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Every actuation logged</a:t>
            </a:r>
            <a:endParaRPr sz="1600" dirty="0">
              <a:latin typeface="Arial" panose="020B0604020202020204" pitchFamily="34" charset="0"/>
              <a:cs typeface="Arial" panose="020B0604020202020204" pitchFamily="34" charset="0"/>
            </a:endParaRP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latin typeface="Arial" panose="020B0604020202020204" pitchFamily="34" charset="0"/>
              <a:cs typeface="Arial" panose="020B0604020202020204" pitchFamily="34" charset="0"/>
            </a:endParaRPr>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panose="020B0604020202020204" pitchFamily="34" charset="0"/>
                <a:cs typeface="Arial" panose="020B0604020202020204" pitchFamily="34" charset="0"/>
              </a:rPr>
              <a:t>Takeaway: quantitative </a:t>
            </a:r>
            <a:r>
              <a:rPr lang="en-US" sz="1600" b="0" i="1" dirty="0" err="1">
                <a:solidFill>
                  <a:srgbClr val="FFFFFF"/>
                </a:solidFill>
                <a:latin typeface="Arial" panose="020B0604020202020204" pitchFamily="34" charset="0"/>
                <a:cs typeface="Arial" panose="020B0604020202020204" pitchFamily="34" charset="0"/>
              </a:rPr>
              <a:t>localisation</a:t>
            </a:r>
            <a:r>
              <a:rPr lang="en-US" sz="1600" b="0" i="1" dirty="0">
                <a:solidFill>
                  <a:srgbClr val="FFFFFF"/>
                </a:solidFill>
                <a:latin typeface="Arial" panose="020B0604020202020204" pitchFamily="34" charset="0"/>
                <a:cs typeface="Arial" panose="020B0604020202020204" pitchFamily="34" charset="0"/>
              </a:rPr>
              <a:t>, safety gates, and logging support controlled live-aim validation.</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a:latin typeface="Arial" panose="020B0604020202020204" pitchFamily="34" charset="0"/>
                <a:cs typeface="Arial" panose="020B0604020202020204" pitchFamily="34" charset="0"/>
              </a:rP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rPr>
                <a:latin typeface="Arial" panose="020B0604020202020204" pitchFamily="34" charset="0"/>
                <a:cs typeface="Arial" panose="020B0604020202020204" pitchFamily="34" charset="0"/>
              </a:rP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5467985" cy="74444"/>
          </a:xfrm>
          <a:prstGeom prst="rect">
            <a:avLst/>
          </a:prstGeom>
          <a:solidFill>
            <a:srgbClr val="935739"/>
          </a:solidFill>
          <a:ln>
            <a:noFill/>
          </a:ln>
        </p:spPr>
        <p:txBody>
          <a:bodyPr wrap="squar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33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Safety, Runtime</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rPr lang="en-US" b="1" dirty="0"/>
              <a:t>Acceptance thresholds met within the validated static/live-aim scope.</a:t>
            </a:r>
            <a:endParaRPr lang="en-US" dirty="0"/>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rPr b="1" dirty="0"/>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rPr dirty="0"/>
              <a:t>corrected ball mean</a:t>
            </a:r>
            <a:r>
              <a:rPr lang="en-US" dirty="0"/>
              <a:t> error</a:t>
            </a:r>
            <a:endParaRPr dirty="0"/>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rPr dirty="0"/>
              <a:t>joint mean</a:t>
            </a:r>
            <a:r>
              <a:rPr lang="en-US" dirty="0"/>
              <a:t> error</a:t>
            </a:r>
            <a:r>
              <a:rPr dirty="0"/>
              <a:t> (62 valid trials)</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rPr dirty="0"/>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rPr dirty="0"/>
              <a:t>knee / hip / shoulder means</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rPr dirty="0"/>
              <a:t>E-STOP latch response</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t>live YOLO-Pose pipeline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err="1">
                <a:solidFill>
                  <a:schemeClr val="bg1"/>
                </a:solidFill>
              </a:rPr>
              <a:t>localisation</a:t>
            </a:r>
            <a:r>
              <a:rPr lang="en-US" dirty="0">
                <a:solidFill>
                  <a:schemeClr val="bg1"/>
                </a:solidFill>
              </a:rPr>
              <a:t> targets were met; safety and runtime support static/live-aim validation.</a:t>
            </a:r>
            <a:endParaRPr dirty="0">
              <a:solidFill>
                <a:schemeClr val="bg1"/>
              </a:solidFill>
            </a:endParaRP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6773293" cy="74444"/>
          </a:xfrm>
          <a:prstGeom prst="rect">
            <a:avLst/>
          </a:prstGeom>
          <a:solidFill>
            <a:srgbClr val="935739"/>
          </a:solidFill>
          <a:ln>
            <a:noFill/>
          </a:ln>
        </p:spPr>
        <p:txBody>
          <a:bodyPr wrap="square" anchor="ctr"/>
          <a:lstStyle/>
          <a:p>
            <a:endParaRPr lang="en-US"/>
          </a:p>
        </p:txBody>
      </p:sp>
      <p:sp>
        <p:nvSpPr>
          <p:cNvPr id="4" name="r100">
            <a:extLst>
              <a:ext uri="{FF2B5EF4-FFF2-40B4-BE49-F238E27FC236}">
                <a16:creationId xmlns:a16="http://schemas.microsoft.com/office/drawing/2014/main" id="{CCE88183-1A2E-459D-5BBA-521C895C3409}"/>
              </a:ext>
            </a:extLst>
          </p:cNvPr>
          <p:cNvSpPr/>
          <p:nvPr/>
        </p:nvSpPr>
        <p:spPr>
          <a:xfrm>
            <a:off x="744778" y="3226541"/>
            <a:ext cx="3336443" cy="45719"/>
          </a:xfrm>
          <a:prstGeom prst="rect">
            <a:avLst/>
          </a:prstGeom>
          <a:solidFill>
            <a:srgbClr val="935739"/>
          </a:solidFill>
          <a:ln>
            <a:noFill/>
          </a:ln>
        </p:spPr>
        <p:txBody>
          <a:bodyPr wrap="square" anchor="ctr"/>
          <a:lstStyle/>
          <a:p>
            <a:endParaRPr lang="en-US"/>
          </a:p>
        </p:txBody>
      </p:sp>
      <p:sp>
        <p:nvSpPr>
          <p:cNvPr id="5" name="r100">
            <a:extLst>
              <a:ext uri="{FF2B5EF4-FFF2-40B4-BE49-F238E27FC236}">
                <a16:creationId xmlns:a16="http://schemas.microsoft.com/office/drawing/2014/main" id="{0EBA7501-7845-A967-3C88-8279A538B31D}"/>
              </a:ext>
            </a:extLst>
          </p:cNvPr>
          <p:cNvSpPr/>
          <p:nvPr/>
        </p:nvSpPr>
        <p:spPr>
          <a:xfrm>
            <a:off x="744778" y="3850640"/>
            <a:ext cx="3336443" cy="45719"/>
          </a:xfrm>
          <a:prstGeom prst="rect">
            <a:avLst/>
          </a:prstGeom>
          <a:solidFill>
            <a:srgbClr val="935739"/>
          </a:solidFill>
          <a:ln>
            <a:noFill/>
          </a:ln>
        </p:spPr>
        <p:txBody>
          <a:bodyPr wrap="square" anchor="ctr"/>
          <a:lstStyle/>
          <a:p>
            <a:endParaRPr lang="en-US"/>
          </a:p>
        </p:txBody>
      </p:sp>
      <p:sp>
        <p:nvSpPr>
          <p:cNvPr id="6" name="r100">
            <a:extLst>
              <a:ext uri="{FF2B5EF4-FFF2-40B4-BE49-F238E27FC236}">
                <a16:creationId xmlns:a16="http://schemas.microsoft.com/office/drawing/2014/main" id="{732A4F07-D937-0545-A64C-CF041F77985B}"/>
              </a:ext>
            </a:extLst>
          </p:cNvPr>
          <p:cNvSpPr/>
          <p:nvPr/>
        </p:nvSpPr>
        <p:spPr>
          <a:xfrm>
            <a:off x="744778" y="4460048"/>
            <a:ext cx="3336443" cy="45719"/>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537AB4FD-4B29-F910-BE4D-F570EF66F6CD}"/>
              </a:ext>
            </a:extLst>
          </p:cNvPr>
          <p:cNvSpPr/>
          <p:nvPr/>
        </p:nvSpPr>
        <p:spPr>
          <a:xfrm>
            <a:off x="744778" y="5069648"/>
            <a:ext cx="3336443" cy="45719"/>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31DF6030-9235-ADE1-73A8-4E85D76670ED}"/>
              </a:ext>
            </a:extLst>
          </p:cNvPr>
          <p:cNvSpPr/>
          <p:nvPr/>
        </p:nvSpPr>
        <p:spPr>
          <a:xfrm>
            <a:off x="791057" y="2613661"/>
            <a:ext cx="3336443" cy="45719"/>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B4898623-D409-AE9C-C54B-133F97F43403}"/>
              </a:ext>
            </a:extLst>
          </p:cNvPr>
          <p:cNvSpPr/>
          <p:nvPr/>
        </p:nvSpPr>
        <p:spPr>
          <a:xfrm>
            <a:off x="727557" y="5679633"/>
            <a:ext cx="3336443" cy="45719"/>
          </a:xfrm>
          <a:prstGeom prst="rect">
            <a:avLst/>
          </a:prstGeom>
          <a:solidFill>
            <a:srgbClr val="935739"/>
          </a:solidFill>
          <a:ln>
            <a:noFill/>
          </a:ln>
        </p:spPr>
        <p:txBody>
          <a:bodyPr wrap="square" anchor="ctr"/>
          <a:lstStyle/>
          <a:p>
            <a:endParaRPr lang="en-US"/>
          </a:p>
        </p:txBody>
      </p:sp>
      <p:pic>
        <p:nvPicPr>
          <p:cNvPr id="11" name="Picture 10">
            <a:extLst>
              <a:ext uri="{FF2B5EF4-FFF2-40B4-BE49-F238E27FC236}">
                <a16:creationId xmlns:a16="http://schemas.microsoft.com/office/drawing/2014/main" id="{56A1327D-391A-94E2-9852-E73282F41950}"/>
              </a:ext>
            </a:extLst>
          </p:cNvPr>
          <p:cNvPicPr>
            <a:picLocks noChangeAspect="1"/>
          </p:cNvPicPr>
          <p:nvPr/>
        </p:nvPicPr>
        <p:blipFill>
          <a:blip r:embed="rId4"/>
          <a:stretch>
            <a:fillRect/>
          </a:stretch>
        </p:blipFill>
        <p:spPr>
          <a:xfrm>
            <a:off x="8171076" y="2833162"/>
            <a:ext cx="4020924" cy="2233075"/>
          </a:xfrm>
          <a:prstGeom prst="rect">
            <a:avLst/>
          </a:prstGeom>
        </p:spPr>
      </p:pic>
      <p:pic>
        <p:nvPicPr>
          <p:cNvPr id="13" name="Picture 12">
            <a:extLst>
              <a:ext uri="{FF2B5EF4-FFF2-40B4-BE49-F238E27FC236}">
                <a16:creationId xmlns:a16="http://schemas.microsoft.com/office/drawing/2014/main" id="{10D9BF3C-D98D-91A0-2AF4-69AA7177F8C7}"/>
              </a:ext>
            </a:extLst>
          </p:cNvPr>
          <p:cNvPicPr>
            <a:picLocks noChangeAspect="1"/>
          </p:cNvPicPr>
          <p:nvPr/>
        </p:nvPicPr>
        <p:blipFill>
          <a:blip r:embed="rId5"/>
          <a:stretch>
            <a:fillRect/>
          </a:stretch>
        </p:blipFill>
        <p:spPr>
          <a:xfrm>
            <a:off x="4150152" y="2842036"/>
            <a:ext cx="4020924" cy="2215328"/>
          </a:xfrm>
          <a:prstGeom prst="rect">
            <a:avLst/>
          </a:prstGeom>
        </p:spPr>
      </p:pic>
    </p:spTree>
    <p:extLst>
      <p:ext uri="{BB962C8B-B14F-4D97-AF65-F5344CB8AC3E}">
        <p14:creationId xmlns:p14="http://schemas.microsoft.com/office/powerpoint/2010/main" val="275252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93120"/>
            <a:ext cx="11176000" cy="457200"/>
          </a:xfrm>
          <a:prstGeom prst="rect">
            <a:avLst/>
          </a:prstGeom>
          <a:noFill/>
          <a:ln>
            <a:noFill/>
          </a:ln>
        </p:spPr>
        <p:txBody>
          <a:bodyPr wrap="square" lIns="76200" tIns="38100" rIns="76200" bIns="38100" anchor="ctr"/>
          <a:lstStyle/>
          <a:p>
            <a:r>
              <a:rPr lang="en-US" b="1" dirty="0"/>
              <a:t>Validated:</a:t>
            </a:r>
            <a:r>
              <a:rPr lang="en-US" dirty="0"/>
              <a:t> perception, 3D targeting, safety gates, and static/live-aim tests.</a:t>
            </a:r>
          </a:p>
          <a:p>
            <a:r>
              <a:rPr lang="en-US" b="1" dirty="0"/>
              <a:t>Pending</a:t>
            </a:r>
            <a:r>
              <a:rPr lang="en-US" dirty="0"/>
              <a:t>: moving-subject closed-loop firing.</a:t>
            </a:r>
            <a:endParaRPr dirty="0"/>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the validated scope (perception → safety-gated static shots) is a strong partial validation. The unvalidated boundary is precisely defined: moving-subject closed-loop firing.</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graphicFrame>
        <p:nvGraphicFramePr>
          <p:cNvPr id="113" name="t102">
            <a:extLst>
              <a:ext uri="{FF2B5EF4-FFF2-40B4-BE49-F238E27FC236}">
                <a16:creationId xmlns:a16="http://schemas.microsoft.com/office/drawing/2014/main" id="{DBE73A32-5161-36F2-5617-3C3E3B1DA591}"/>
              </a:ext>
            </a:extLst>
          </p:cNvPr>
          <p:cNvGraphicFramePr/>
          <p:nvPr>
            <p:extLst>
              <p:ext uri="{D42A27DB-BD31-4B8C-83A1-F6EECF244321}">
                <p14:modId xmlns:p14="http://schemas.microsoft.com/office/powerpoint/2010/main" val="3921843089"/>
              </p:ext>
            </p:extLst>
          </p:nvPr>
        </p:nvGraphicFramePr>
        <p:xfrm>
          <a:off x="508000" y="2294680"/>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4F377259-8051-6FBA-B3C1-2481C6161390}"/>
              </a:ext>
            </a:extLst>
          </p:cNvPr>
          <p:cNvPicPr>
            <a:picLocks noChangeAspect="1"/>
          </p:cNvPicPr>
          <p:nvPr/>
        </p:nvPicPr>
        <p:blipFill>
          <a:blip r:embed="rId9"/>
          <a:srcRect b="18439"/>
          <a:stretch>
            <a:fillRect/>
          </a:stretch>
        </p:blipFill>
        <p:spPr>
          <a:xfrm>
            <a:off x="6477000" y="2395640"/>
            <a:ext cx="5689703" cy="3480440"/>
          </a:xfrm>
          <a:prstGeom prst="rect">
            <a:avLst/>
          </a:prstGeom>
        </p:spPr>
      </p:pic>
    </p:spTree>
    <p:extLst>
      <p:ext uri="{BB962C8B-B14F-4D97-AF65-F5344CB8AC3E}">
        <p14:creationId xmlns:p14="http://schemas.microsoft.com/office/powerpoint/2010/main" val="323050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2" y="31234"/>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rPr lang="en-US" dirty="0"/>
              <a:t>Static/live-aim validation completed; moving-target firing remains future work.</a:t>
            </a:r>
            <a:endParaRPr dirty="0"/>
          </a:p>
        </p:txBody>
      </p:sp>
      <p:sp>
        <p:nvSpPr>
          <p:cNvPr id="102" name="r102"/>
          <p:cNvSpPr/>
          <p:nvPr/>
        </p:nvSpPr>
        <p:spPr>
          <a:xfrm>
            <a:off x="469900" y="307975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3" name="t103"/>
          <p:cNvSpPr txBox="1"/>
          <p:nvPr/>
        </p:nvSpPr>
        <p:spPr>
          <a:xfrm>
            <a:off x="381000" y="362077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1</a:t>
            </a:r>
          </a:p>
        </p:txBody>
      </p:sp>
      <p:sp>
        <p:nvSpPr>
          <p:cNvPr id="104" name="t104"/>
          <p:cNvSpPr txBox="1"/>
          <p:nvPr/>
        </p:nvSpPr>
        <p:spPr>
          <a:xfrm>
            <a:off x="1391105" y="3395660"/>
            <a:ext cx="2476500" cy="319648"/>
          </a:xfrm>
          <a:prstGeom prst="rect">
            <a:avLst/>
          </a:prstGeom>
          <a:noFill/>
          <a:ln>
            <a:noFill/>
          </a:ln>
        </p:spPr>
        <p:txBody>
          <a:bodyPr wrap="square" lIns="76200" tIns="38100" rIns="76200" bIns="38100" anchor="ctr"/>
          <a:lstStyle/>
          <a:p>
            <a:r>
              <a:rPr lang="en-US" b="1" dirty="0"/>
              <a:t>Pose-reactive aiming</a:t>
            </a:r>
            <a:endParaRPr b="1" dirty="0"/>
          </a:p>
        </p:txBody>
      </p:sp>
      <p:sp>
        <p:nvSpPr>
          <p:cNvPr id="105" name="r105"/>
          <p:cNvSpPr/>
          <p:nvPr/>
        </p:nvSpPr>
        <p:spPr>
          <a:xfrm>
            <a:off x="431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6" name="t106"/>
          <p:cNvSpPr txBox="1"/>
          <p:nvPr/>
        </p:nvSpPr>
        <p:spPr>
          <a:xfrm>
            <a:off x="4266289" y="257123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2</a:t>
            </a:r>
          </a:p>
        </p:txBody>
      </p:sp>
      <p:sp>
        <p:nvSpPr>
          <p:cNvPr id="107" name="t107"/>
          <p:cNvSpPr txBox="1"/>
          <p:nvPr/>
        </p:nvSpPr>
        <p:spPr>
          <a:xfrm>
            <a:off x="5080000" y="2353548"/>
            <a:ext cx="2476500" cy="439420"/>
          </a:xfrm>
          <a:prstGeom prst="rect">
            <a:avLst/>
          </a:prstGeom>
          <a:noFill/>
          <a:ln>
            <a:noFill/>
          </a:ln>
        </p:spPr>
        <p:txBody>
          <a:bodyPr wrap="square" lIns="76200" tIns="38100" rIns="76200" bIns="38100" anchor="ctr"/>
          <a:lstStyle/>
          <a:p>
            <a:r>
              <a:rPr lang="en-US" b="1" dirty="0"/>
              <a:t>Low-cost 3D perception</a:t>
            </a:r>
            <a:endParaRPr b="1" dirty="0"/>
          </a:p>
        </p:txBody>
      </p:sp>
      <p:sp>
        <p:nvSpPr>
          <p:cNvPr id="108" name="r108"/>
          <p:cNvSpPr/>
          <p:nvPr/>
        </p:nvSpPr>
        <p:spPr>
          <a:xfrm>
            <a:off x="4318513" y="4160004"/>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9" name="t109"/>
          <p:cNvSpPr txBox="1"/>
          <p:nvPr/>
        </p:nvSpPr>
        <p:spPr>
          <a:xfrm>
            <a:off x="4318513" y="465784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3</a:t>
            </a:r>
          </a:p>
        </p:txBody>
      </p:sp>
      <p:sp>
        <p:nvSpPr>
          <p:cNvPr id="110" name="t110"/>
          <p:cNvSpPr txBox="1"/>
          <p:nvPr/>
        </p:nvSpPr>
        <p:spPr>
          <a:xfrm>
            <a:off x="5490724" y="4934704"/>
            <a:ext cx="1673860" cy="800993"/>
          </a:xfrm>
          <a:prstGeom prst="rect">
            <a:avLst/>
          </a:prstGeom>
          <a:noFill/>
          <a:ln>
            <a:noFill/>
          </a:ln>
        </p:spPr>
        <p:txBody>
          <a:bodyPr wrap="square" lIns="76200" tIns="38100" rIns="76200" bIns="38100" anchor="ctr"/>
          <a:lstStyle/>
          <a:p>
            <a:pPr algn="ctr"/>
            <a:r>
              <a:rPr lang="en-US" dirty="0"/>
              <a:t>S0–S4 passed; E-STOP &lt;100 </a:t>
            </a:r>
            <a:r>
              <a:rPr lang="en-US" dirty="0" err="1"/>
              <a:t>ms</a:t>
            </a:r>
            <a:endParaRPr dirty="0"/>
          </a:p>
        </p:txBody>
      </p:sp>
      <p:sp>
        <p:nvSpPr>
          <p:cNvPr id="111" name="r111"/>
          <p:cNvSpPr/>
          <p:nvPr/>
        </p:nvSpPr>
        <p:spPr>
          <a:xfrm>
            <a:off x="8192411" y="305689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12" name="t112"/>
          <p:cNvSpPr txBox="1"/>
          <p:nvPr/>
        </p:nvSpPr>
        <p:spPr>
          <a:xfrm>
            <a:off x="8166100" y="353314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4</a:t>
            </a:r>
          </a:p>
        </p:txBody>
      </p:sp>
      <p:sp>
        <p:nvSpPr>
          <p:cNvPr id="113" name="t113"/>
          <p:cNvSpPr txBox="1"/>
          <p:nvPr/>
        </p:nvSpPr>
        <p:spPr>
          <a:xfrm>
            <a:off x="8954411" y="3303270"/>
            <a:ext cx="2476500" cy="415052"/>
          </a:xfrm>
          <a:prstGeom prst="rect">
            <a:avLst/>
          </a:prstGeom>
          <a:noFill/>
          <a:ln>
            <a:noFill/>
          </a:ln>
        </p:spPr>
        <p:txBody>
          <a:bodyPr wrap="square" lIns="76200" tIns="38100" rIns="76200" bIns="38100" anchor="ctr"/>
          <a:lstStyle/>
          <a:p>
            <a:r>
              <a:rPr lang="en-US" b="1" dirty="0"/>
              <a:t>Training-mode interface</a:t>
            </a:r>
            <a:endParaRPr b="1" dirty="0"/>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strong partial validation of a low-cost, pose-guided BLM system.</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
        <p:nvSpPr>
          <p:cNvPr id="4" name="TextBox 3">
            <a:extLst>
              <a:ext uri="{FF2B5EF4-FFF2-40B4-BE49-F238E27FC236}">
                <a16:creationId xmlns:a16="http://schemas.microsoft.com/office/drawing/2014/main" id="{97B770CF-2077-F366-C900-DFF47FB073B5}"/>
              </a:ext>
            </a:extLst>
          </p:cNvPr>
          <p:cNvSpPr txBox="1"/>
          <p:nvPr/>
        </p:nvSpPr>
        <p:spPr>
          <a:xfrm>
            <a:off x="1562818" y="3993257"/>
            <a:ext cx="1794151" cy="646331"/>
          </a:xfrm>
          <a:prstGeom prst="rect">
            <a:avLst/>
          </a:prstGeom>
          <a:noFill/>
        </p:spPr>
        <p:txBody>
          <a:bodyPr wrap="square" rtlCol="0">
            <a:spAutoFit/>
          </a:bodyPr>
          <a:lstStyle/>
          <a:p>
            <a:pPr algn="ctr"/>
            <a:r>
              <a:rPr lang="en-US" dirty="0"/>
              <a:t>BLM aims from live 3D joints</a:t>
            </a:r>
            <a:endParaRPr lang="ru-RU" dirty="0"/>
          </a:p>
        </p:txBody>
      </p:sp>
      <p:sp>
        <p:nvSpPr>
          <p:cNvPr id="5" name="TextBox 4">
            <a:extLst>
              <a:ext uri="{FF2B5EF4-FFF2-40B4-BE49-F238E27FC236}">
                <a16:creationId xmlns:a16="http://schemas.microsoft.com/office/drawing/2014/main" id="{95D36262-369C-78F9-C328-16BBC37B7C64}"/>
              </a:ext>
            </a:extLst>
          </p:cNvPr>
          <p:cNvSpPr txBox="1"/>
          <p:nvPr/>
        </p:nvSpPr>
        <p:spPr>
          <a:xfrm>
            <a:off x="5571837" y="2819975"/>
            <a:ext cx="1492823" cy="923330"/>
          </a:xfrm>
          <a:prstGeom prst="rect">
            <a:avLst/>
          </a:prstGeom>
          <a:noFill/>
        </p:spPr>
        <p:txBody>
          <a:bodyPr wrap="square" rtlCol="0">
            <a:spAutoFit/>
          </a:bodyPr>
          <a:lstStyle/>
          <a:p>
            <a:pPr algn="ctr"/>
            <a:r>
              <a:rPr lang="es-ES" dirty="0"/>
              <a:t>4 USB cameras, ≈USD 200</a:t>
            </a:r>
            <a:endParaRPr lang="ru-RU" dirty="0"/>
          </a:p>
        </p:txBody>
      </p:sp>
      <p:sp>
        <p:nvSpPr>
          <p:cNvPr id="7" name="TextBox 6">
            <a:extLst>
              <a:ext uri="{FF2B5EF4-FFF2-40B4-BE49-F238E27FC236}">
                <a16:creationId xmlns:a16="http://schemas.microsoft.com/office/drawing/2014/main" id="{4319D42B-01A1-0624-BCF0-5BD08409ED02}"/>
              </a:ext>
            </a:extLst>
          </p:cNvPr>
          <p:cNvSpPr txBox="1"/>
          <p:nvPr/>
        </p:nvSpPr>
        <p:spPr>
          <a:xfrm>
            <a:off x="5207513" y="4453473"/>
            <a:ext cx="2466338" cy="369332"/>
          </a:xfrm>
          <a:prstGeom prst="rect">
            <a:avLst/>
          </a:prstGeom>
          <a:noFill/>
        </p:spPr>
        <p:txBody>
          <a:bodyPr wrap="square">
            <a:spAutoFit/>
          </a:bodyPr>
          <a:lstStyle/>
          <a:p>
            <a:r>
              <a:rPr lang="en-US" b="1" dirty="0"/>
              <a:t>Safety-gated integration</a:t>
            </a:r>
            <a:endParaRPr lang="ru-RU" b="1" dirty="0"/>
          </a:p>
        </p:txBody>
      </p:sp>
      <p:sp>
        <p:nvSpPr>
          <p:cNvPr id="8" name="TextBox 7">
            <a:extLst>
              <a:ext uri="{FF2B5EF4-FFF2-40B4-BE49-F238E27FC236}">
                <a16:creationId xmlns:a16="http://schemas.microsoft.com/office/drawing/2014/main" id="{FBE2850A-2A8E-CA40-7175-2F8DCA39D0C4}"/>
              </a:ext>
            </a:extLst>
          </p:cNvPr>
          <p:cNvSpPr txBox="1"/>
          <p:nvPr/>
        </p:nvSpPr>
        <p:spPr>
          <a:xfrm>
            <a:off x="9181074" y="3857912"/>
            <a:ext cx="2023173" cy="646331"/>
          </a:xfrm>
          <a:prstGeom prst="rect">
            <a:avLst/>
          </a:prstGeom>
          <a:noFill/>
        </p:spPr>
        <p:txBody>
          <a:bodyPr wrap="square" rtlCol="0">
            <a:spAutoFit/>
          </a:bodyPr>
          <a:lstStyle/>
          <a:p>
            <a:pPr algn="ctr"/>
            <a:r>
              <a:rPr lang="en-US" dirty="0"/>
              <a:t>Voice commands behind safety gates</a:t>
            </a:r>
            <a:endParaRPr lang="ru-RU" dirty="0"/>
          </a:p>
        </p:txBody>
      </p:sp>
    </p:spTree>
    <p:extLst>
      <p:ext uri="{BB962C8B-B14F-4D97-AF65-F5344CB8AC3E}">
        <p14:creationId xmlns:p14="http://schemas.microsoft.com/office/powerpoint/2010/main" val="2467844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rPr lang="en-US" b="1" dirty="0"/>
              <a:t>Next milestone:</a:t>
            </a:r>
            <a:r>
              <a:rPr lang="en-US" dirty="0"/>
              <a:t> moving-target closed-loop firing with calibrated RPM-to-velocity mapping.</a:t>
            </a:r>
            <a:endParaRPr dirty="0"/>
          </a:p>
        </p:txBody>
      </p:sp>
      <p:sp>
        <p:nvSpPr>
          <p:cNvPr id="102" name="t102"/>
          <p:cNvSpPr txBox="1"/>
          <p:nvPr/>
        </p:nvSpPr>
        <p:spPr>
          <a:xfrm>
            <a:off x="507999" y="21463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r>
              <a:rPr lang="en-US" sz="2000" b="1" dirty="0">
                <a:solidFill>
                  <a:srgbClr val="935739"/>
                </a:solidFill>
              </a:rPr>
              <a:t>Safety &amp; Ethics</a:t>
            </a:r>
            <a:endParaRPr lang="en-US" sz="2000" dirty="0">
              <a:solidFill>
                <a:srgbClr val="935739"/>
              </a:solidFill>
            </a:endParaRP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12100</a:t>
            </a:r>
          </a:p>
        </p:txBody>
      </p:sp>
      <p:sp>
        <p:nvSpPr>
          <p:cNvPr id="107" name="t107"/>
          <p:cNvSpPr txBox="1"/>
          <p:nvPr/>
        </p:nvSpPr>
        <p:spPr>
          <a:xfrm>
            <a:off x="6502400" y="3403599"/>
            <a:ext cx="2235200" cy="457201"/>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Machinery safety — risk assessment</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13849-1</a:t>
            </a:r>
          </a:p>
        </p:txBody>
      </p:sp>
      <p:sp>
        <p:nvSpPr>
          <p:cNvPr id="110" name="t110"/>
          <p:cNvSpPr txBox="1"/>
          <p:nvPr/>
        </p:nvSpPr>
        <p:spPr>
          <a:xfrm>
            <a:off x="9156700" y="330200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Safety-related control</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IEC 60204-1</a:t>
            </a:r>
          </a:p>
        </p:txBody>
      </p:sp>
      <p:sp>
        <p:nvSpPr>
          <p:cNvPr id="113" name="t113"/>
          <p:cNvSpPr txBox="1"/>
          <p:nvPr/>
        </p:nvSpPr>
        <p:spPr>
          <a:xfrm>
            <a:off x="6502400" y="508000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Wiring, fusing, E-STOP</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10218-1</a:t>
            </a:r>
          </a:p>
        </p:txBody>
      </p:sp>
      <p:sp>
        <p:nvSpPr>
          <p:cNvPr id="116" name="t116"/>
          <p:cNvSpPr txBox="1"/>
          <p:nvPr/>
        </p:nvSpPr>
        <p:spPr>
          <a:xfrm>
            <a:off x="9169400" y="516128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Human exclusion during operation</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rPr b="1" dirty="0"/>
              <a:t>Applicability</a:t>
            </a:r>
            <a:r>
              <a:rPr dirty="0"/>
              <a:t>: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future work closes the moving-target loop while preserving safety, traceability, and ethical deployment.</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graphicFrame>
        <p:nvGraphicFramePr>
          <p:cNvPr id="126" name="t103">
            <a:extLst>
              <a:ext uri="{FF2B5EF4-FFF2-40B4-BE49-F238E27FC236}">
                <a16:creationId xmlns:a16="http://schemas.microsoft.com/office/drawing/2014/main" id="{CBF9D725-6ABE-C6ED-168B-90DDCA135758}"/>
              </a:ext>
            </a:extLst>
          </p:cNvPr>
          <p:cNvGraphicFramePr/>
          <p:nvPr>
            <p:extLst>
              <p:ext uri="{D42A27DB-BD31-4B8C-83A1-F6EECF244321}">
                <p14:modId xmlns:p14="http://schemas.microsoft.com/office/powerpoint/2010/main" val="1488802586"/>
              </p:ext>
            </p:extLst>
          </p:nvPr>
        </p:nvGraphicFramePr>
        <p:xfrm>
          <a:off x="574674" y="2586990"/>
          <a:ext cx="5588000" cy="3175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0016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1651000" y="2159000"/>
            <a:ext cx="8890000" cy="3683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[PLACEHOLDER_VIDEO_1: arena3d_20260417_123348.mp4 — Parallel_working/output/recordings/arena3d_20260417_123348.mp4; trim to 20–30 s; mute audio]</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54444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88770"/>
            <a:ext cx="11943080" cy="468630"/>
          </a:xfrm>
          <a:prstGeom prst="rect">
            <a:avLst/>
          </a:prstGeom>
          <a:noFill/>
          <a:ln>
            <a:noFill/>
          </a:ln>
        </p:spPr>
        <p:txBody>
          <a:bodyPr wrap="square" lIns="76200" tIns="38100" rIns="76200" bIns="38100" anchor="ctr"/>
          <a:lstStyle/>
          <a:p>
            <a:pPr algn="l">
              <a:buNone/>
            </a:pPr>
            <a:r>
              <a:rPr lang="en-US" sz="1100" b="1" dirty="0">
                <a:solidFill>
                  <a:srgbClr val="2A231F"/>
                </a:solidFill>
                <a:latin typeface="Arial"/>
              </a:rPr>
              <a:t>OPERATOR (human authority, top) → SOFTWARE GATES (L1-L6: zone, confidence, stability, angle clamps, RPM clamps) → HARDWARE INTERLOCKS (L7-L10: firmware RPM gate, arm+confirm, NC E-STOP, link-loss watchdog, exception shutdown). Each layer is independently sufficient to prevent unsafe actuation.</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Key points: angle clamp and RPM gate each implemented TWICE (Python + firmware). NC E-STOP means broken wire = safe stop. Link-loss watchdog auto-safes on network drop.</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rPr dirty="0"/>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35000" y="2222500"/>
            <a:ext cx="1092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[PLACEHOLDER_TABLE_1: frame-by-frame latency table built from Parallel_working/output/perf_blm_20260417_134210.jsonl — columns: stage, mean ms, p95 ms]</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Total perception: ~15 ms. Well under the 67 ms (15 FPS) budget with 52 ms headroom. Kalman 200-400 ms prediction window covers the mechanical settling time — this is why predictive tracking matters.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Why not use Intel RealSense depth cameras?</a:t>
            </a:r>
          </a:p>
        </p:txBody>
      </p:sp>
      <p:sp>
        <p:nvSpPr>
          <p:cNvPr id="404" name="subtitle"/>
          <p:cNvSpPr txBox="1"/>
          <p:nvPr/>
        </p:nvSpPr>
        <p:spPr>
          <a:xfrm>
            <a:off x="508000" y="13959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Cost, redundancy architecture, and occlusion tolerance drive the 4x USB camera choice</a:t>
            </a:r>
          </a:p>
        </p:txBody>
      </p:sp>
      <p:sp>
        <p:nvSpPr>
          <p:cNvPr id="405" name="content"/>
          <p:cNvSpPr txBox="1"/>
          <p:nvPr/>
        </p:nvSpPr>
        <p:spPr>
          <a:xfrm>
            <a:off x="508000" y="183388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Cost comparison</a:t>
            </a:r>
          </a:p>
          <a:p>
            <a:pPr marL="228600" indent="-228600">
              <a:spcBef>
                <a:spcPts val="400"/>
              </a:spcBef>
              <a:buFont typeface="Arial"/>
              <a:buChar char="▸"/>
            </a:pPr>
            <a:r>
              <a:rPr lang="en-US" sz="1800" b="0" dirty="0">
                <a:solidFill>
                  <a:srgbClr val="2A231F"/>
                </a:solidFill>
                <a:latin typeface="Arial"/>
              </a:rPr>
              <a:t> 4x Hikvision DS-E12 USB cameras: ~$120 total ($30 each)</a:t>
            </a:r>
          </a:p>
          <a:p>
            <a:pPr marL="228600" indent="-228600">
              <a:spcBef>
                <a:spcPts val="400"/>
              </a:spcBef>
              <a:buFont typeface="Arial"/>
              <a:buChar char="▸"/>
            </a:pPr>
            <a:r>
              <a:rPr lang="en-US" sz="1800" b="0" dirty="0">
                <a:solidFill>
                  <a:srgbClr val="2A231F"/>
                </a:solidFill>
                <a:latin typeface="Arial"/>
              </a:rPr>
              <a:t> 4x Intel RealSense D435: ~$800+ total ($200+ each)</a:t>
            </a:r>
          </a:p>
          <a:p>
            <a:pPr marL="228600" indent="-228600">
              <a:spcBef>
                <a:spcPts val="400"/>
              </a:spcBef>
              <a:buFont typeface="Arial"/>
              <a:buChar char="▸"/>
            </a:pPr>
            <a:r>
              <a:rPr lang="en-US" sz="1800" b="0" dirty="0">
                <a:solidFill>
                  <a:srgbClr val="2A231F"/>
                </a:solidFill>
                <a:latin typeface="Arial"/>
              </a:rPr>
              <a:t> Recycled PC handles all inference — no depth-specific compute needed</a:t>
            </a:r>
          </a:p>
          <a:p>
            <a:pPr algn="l">
              <a:spcBef>
                <a:spcPts val="400"/>
              </a:spcBef>
              <a:buNone/>
            </a:pPr>
            <a:r>
              <a:rPr lang="en-US" sz="1900" b="1" dirty="0">
                <a:solidFill>
                  <a:srgbClr val="935739"/>
                </a:solidFill>
                <a:latin typeface="Arial"/>
              </a:rPr>
              <a:t> Redundancy architecture</a:t>
            </a:r>
          </a:p>
          <a:p>
            <a:pPr marL="228600" indent="-228600">
              <a:spcBef>
                <a:spcPts val="400"/>
              </a:spcBef>
              <a:buFont typeface="Arial"/>
              <a:buChar char="▸"/>
            </a:pPr>
            <a:r>
              <a:rPr lang="en-US" sz="1800" b="0" dirty="0">
                <a:solidFill>
                  <a:srgbClr val="2A231F"/>
                </a:solidFill>
                <a:latin typeface="Arial"/>
              </a:rPr>
              <a:t> 4 overlapping views: if one camera is occluded, 3 remain for triangulation</a:t>
            </a:r>
          </a:p>
          <a:p>
            <a:pPr marL="228600" indent="-228600">
              <a:spcBef>
                <a:spcPts val="400"/>
              </a:spcBef>
              <a:buFont typeface="Arial"/>
              <a:buChar char="▸"/>
            </a:pPr>
            <a:r>
              <a:rPr lang="en-US" sz="1800" b="0" dirty="0">
                <a:solidFill>
                  <a:srgbClr val="2A231F"/>
                </a:solidFill>
                <a:latin typeface="Arial"/>
              </a:rPr>
              <a:t> RealSense single unit = single point of failure; depth occlusion by ball or limb is common</a:t>
            </a:r>
          </a:p>
          <a:p>
            <a:pPr marL="228600" indent="-228600">
              <a:spcBef>
                <a:spcPts val="400"/>
              </a:spcBef>
              <a:buFont typeface="Arial"/>
              <a:buChar char="▸"/>
            </a:pPr>
            <a:r>
              <a:rPr lang="en-US" sz="1800" b="0" dirty="0">
                <a:solidFill>
                  <a:srgbClr val="2A231F"/>
                </a:solidFill>
                <a:latin typeface="Arial"/>
              </a:rPr>
              <a:t> DLT/SVD triangulation explicitly designed for variable camera-count inputs</a:t>
            </a:r>
          </a:p>
          <a:p>
            <a:pPr algn="l">
              <a:spcBef>
                <a:spcPts val="400"/>
              </a:spcBef>
              <a:buNone/>
            </a:pPr>
            <a:r>
              <a:rPr lang="en-US" sz="1900" b="1" dirty="0">
                <a:solidFill>
                  <a:srgbClr val="935739"/>
                </a:solidFill>
                <a:latin typeface="Arial"/>
              </a:rPr>
              <a:t> Accuracy argument</a:t>
            </a:r>
          </a:p>
          <a:p>
            <a:pPr marL="228600" indent="-228600">
              <a:spcBef>
                <a:spcPts val="400"/>
              </a:spcBef>
              <a:buFont typeface="Arial"/>
              <a:buChar char="▸"/>
            </a:pPr>
            <a:r>
              <a:rPr lang="en-US" sz="1800" b="0" dirty="0">
                <a:solidFill>
                  <a:srgbClr val="2A231F"/>
                </a:solidFill>
                <a:latin typeface="Arial"/>
              </a:rPr>
              <a:t> 95.17 mm corrected ball mean achieved with commodity RGB cameras</a:t>
            </a:r>
          </a:p>
          <a:p>
            <a:pPr marL="228600" indent="-228600">
              <a:spcBef>
                <a:spcPts val="400"/>
              </a:spcBef>
              <a:buFont typeface="Arial"/>
              <a:buChar char="▸"/>
            </a:pPr>
            <a:r>
              <a:rPr lang="en-US" sz="1800" b="0" dirty="0">
                <a:solidFill>
                  <a:srgbClr val="2A231F"/>
                </a:solidFill>
                <a:latin typeface="Arial"/>
              </a:rPr>
              <a:t> RealSense depth noise at 3-5 m range is 3-20 mm — marginal gain for 7x cost increase</a:t>
            </a:r>
          </a:p>
          <a:p>
            <a:pPr algn="l">
              <a:spcBef>
                <a:spcPts val="400"/>
              </a:spcBef>
              <a:buNone/>
            </a:pPr>
            <a:r>
              <a:rPr lang="en-US" sz="1900" b="1" dirty="0">
                <a:solidFill>
                  <a:srgbClr val="935739"/>
                </a:solidFill>
                <a:latin typeface="Arial"/>
              </a:rPr>
              <a:t> Scope</a:t>
            </a:r>
          </a:p>
          <a:p>
            <a:pPr marL="228600" indent="-228600">
              <a:spcBef>
                <a:spcPts val="400"/>
              </a:spcBef>
              <a:buFont typeface="Arial"/>
              <a:buChar char="▸"/>
            </a:pPr>
            <a:r>
              <a:rPr lang="en-US" sz="1800" b="0" dirty="0">
                <a:solidFill>
                  <a:srgbClr val="2A231F"/>
                </a:solidFill>
                <a:latin typeface="Arial"/>
              </a:rPr>
              <a:t> Controlled indoor arena only. Outdoor / variable lighting is acknowledged future work.</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4x USB cameras give occlusion redundancy, cost $120 vs. $800+ for RealSense, and already achieve 95.17 mm accuracy at indoor arena distances.</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How does the Kalman filter handle sudden position jumps?</a:t>
            </a:r>
          </a:p>
        </p:txBody>
      </p:sp>
      <p:sp>
        <p:nvSpPr>
          <p:cNvPr id="404" name="subtitle"/>
          <p:cNvSpPr txBox="1"/>
          <p:nvPr/>
        </p:nvSpPr>
        <p:spPr>
          <a:xfrm>
            <a:off x="508000" y="14652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Constant-velocity model with process noise — tested in Section 5.7, honest about limitations</a:t>
            </a:r>
          </a:p>
        </p:txBody>
      </p:sp>
      <p:sp>
        <p:nvSpPr>
          <p:cNvPr id="405" name="content"/>
          <p:cNvSpPr txBox="1"/>
          <p:nvPr/>
        </p:nvSpPr>
        <p:spPr>
          <a:xfrm>
            <a:off x="508000" y="181472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Kalman model used</a:t>
            </a:r>
          </a:p>
          <a:p>
            <a:pPr marL="228600" indent="-228600">
              <a:spcBef>
                <a:spcPts val="400"/>
              </a:spcBef>
              <a:buFont typeface="Arial"/>
              <a:buChar char="▸"/>
            </a:pPr>
            <a:r>
              <a:rPr lang="en-US" sz="1800" b="0" dirty="0">
                <a:solidFill>
                  <a:srgbClr val="2A231F"/>
                </a:solidFill>
                <a:latin typeface="Arial"/>
              </a:rPr>
              <a:t> Constant-velocity (CV) model: state = [x, y, z, vx, vy, vz]</a:t>
            </a:r>
          </a:p>
          <a:p>
            <a:pPr marL="228600" indent="-228600">
              <a:spcBef>
                <a:spcPts val="400"/>
              </a:spcBef>
              <a:buFont typeface="Arial"/>
              <a:buChar char="▸"/>
            </a:pPr>
            <a:r>
              <a:rPr lang="en-US" sz="1800" b="0" dirty="0">
                <a:solidFill>
                  <a:srgbClr val="2A231F"/>
                </a:solidFill>
                <a:latin typeface="Arial"/>
              </a:rPr>
              <a:t> Process noise Q tuned to allow fast re-acquisition after direction changes</a:t>
            </a:r>
          </a:p>
          <a:p>
            <a:pPr marL="228600" indent="-228600">
              <a:spcBef>
                <a:spcPts val="400"/>
              </a:spcBef>
              <a:buFont typeface="Arial"/>
              <a:buChar char="▸"/>
            </a:pPr>
            <a:r>
              <a:rPr lang="en-US" sz="1800" b="0" dirty="0">
                <a:solidFill>
                  <a:srgbClr val="2A231F"/>
                </a:solidFill>
                <a:latin typeface="Arial"/>
              </a:rPr>
              <a:t> Prediction window: 200-400 ms ahead to compensate mechanical settling time</a:t>
            </a:r>
          </a:p>
          <a:p>
            <a:pPr algn="l">
              <a:spcBef>
                <a:spcPts val="400"/>
              </a:spcBef>
              <a:buNone/>
            </a:pPr>
            <a:r>
              <a:rPr lang="en-US" sz="1900" b="1" dirty="0">
                <a:solidFill>
                  <a:srgbClr val="935739"/>
                </a:solidFill>
                <a:latin typeface="Arial"/>
              </a:rPr>
              <a:t> Jump sequence behaviour (Section 5.7)</a:t>
            </a:r>
          </a:p>
          <a:p>
            <a:pPr marL="228600" indent="-228600">
              <a:spcBef>
                <a:spcPts val="400"/>
              </a:spcBef>
              <a:buFont typeface="Arial"/>
              <a:buChar char="▸"/>
            </a:pPr>
            <a:r>
              <a:rPr lang="en-US" sz="1800" b="0" dirty="0">
                <a:solidFill>
                  <a:srgbClr val="2A231F"/>
                </a:solidFill>
                <a:latin typeface="Arial"/>
              </a:rPr>
              <a:t> On sudden position jumps, prediction error spikes then recovers within 2-3 frames (133-200 ms)</a:t>
            </a:r>
          </a:p>
          <a:p>
            <a:pPr marL="228600" indent="-228600">
              <a:spcBef>
                <a:spcPts val="400"/>
              </a:spcBef>
              <a:buFont typeface="Arial"/>
              <a:buChar char="▸"/>
            </a:pPr>
            <a:r>
              <a:rPr lang="en-US" sz="1800" b="0" dirty="0">
                <a:solidFill>
                  <a:srgbClr val="2A231F"/>
                </a:solidFill>
                <a:latin typeface="Arial"/>
              </a:rPr>
              <a:t> Ablation showed neutral-to-negative improvement on jump sequences vs. EMA alone</a:t>
            </a:r>
          </a:p>
          <a:p>
            <a:pPr marL="228600" indent="-228600">
              <a:spcBef>
                <a:spcPts val="400"/>
              </a:spcBef>
              <a:buFont typeface="Arial"/>
              <a:buChar char="▸"/>
            </a:pPr>
            <a:r>
              <a:rPr lang="en-US" sz="1800" b="0" dirty="0">
                <a:solidFill>
                  <a:srgbClr val="2A231F"/>
                </a:solidFill>
                <a:latin typeface="Arial"/>
              </a:rPr>
              <a:t> This is acknowledged honestly: Kalman helps smooth normal motion, not abrupt jumps</a:t>
            </a:r>
          </a:p>
          <a:p>
            <a:pPr algn="l">
              <a:spcBef>
                <a:spcPts val="400"/>
              </a:spcBef>
              <a:buNone/>
            </a:pPr>
            <a:r>
              <a:rPr lang="en-US" sz="1900" b="1" dirty="0">
                <a:solidFill>
                  <a:srgbClr val="935739"/>
                </a:solidFill>
                <a:latin typeface="Arial"/>
              </a:rPr>
              <a:t> Why it still matters</a:t>
            </a:r>
          </a:p>
          <a:p>
            <a:pPr marL="228600" indent="-228600">
              <a:spcBef>
                <a:spcPts val="400"/>
              </a:spcBef>
              <a:buFont typeface="Arial"/>
              <a:buChar char="▸"/>
            </a:pPr>
            <a:r>
              <a:rPr lang="en-US" sz="1800" b="0" dirty="0">
                <a:solidFill>
                  <a:srgbClr val="2A231F"/>
                </a:solidFill>
                <a:latin typeface="Arial"/>
              </a:rPr>
              <a:t> For steady-state walking/running, CV Kalman reduces targeting jitter significantly</a:t>
            </a:r>
          </a:p>
          <a:p>
            <a:pPr marL="228600" indent="-228600">
              <a:spcBef>
                <a:spcPts val="400"/>
              </a:spcBef>
              <a:buFont typeface="Arial"/>
              <a:buChar char="▸"/>
            </a:pPr>
            <a:r>
              <a:rPr lang="en-US" sz="1800" b="0" dirty="0">
                <a:solidFill>
                  <a:srgbClr val="2A231F"/>
                </a:solidFill>
                <a:latin typeface="Arial"/>
              </a:rPr>
              <a:t> The 200-400 ms prediction covers mechanical lag — without it, the shot always hits where the target WAS</a:t>
            </a:r>
          </a:p>
          <a:p>
            <a:pPr marL="228600" indent="-228600">
              <a:spcBef>
                <a:spcPts val="400"/>
              </a:spcBef>
              <a:buFont typeface="Arial"/>
              <a:buChar char="▸"/>
            </a:pPr>
            <a:r>
              <a:rPr lang="en-US" sz="1800" b="0" dirty="0">
                <a:solidFill>
                  <a:srgbClr val="2A231F"/>
                </a:solidFill>
                <a:latin typeface="Arial"/>
              </a:rPr>
              <a:t> Extended Kalman or IMM models are future work for jump-robust prediction</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CV Kalman works well for smooth motion; jump sequences show neutral improvement vs. EMA alone (acknowledged in Section 5.7). The prediction window is essential to cover mechanical settling lag.</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When and how will RPM-to-velocity calibration be completed?</a:t>
            </a:r>
          </a:p>
        </p:txBody>
      </p:sp>
      <p:sp>
        <p:nvSpPr>
          <p:cNvPr id="404" name="subtitle"/>
          <p:cNvSpPr txBox="1"/>
          <p:nvPr/>
        </p:nvSpPr>
        <p:spPr>
          <a:xfrm>
            <a:off x="508000" y="153064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Protocol designed (Section 6.4.3) — Doppler radar or high-speed camera approach</a:t>
            </a:r>
          </a:p>
        </p:txBody>
      </p:sp>
      <p:sp>
        <p:nvSpPr>
          <p:cNvPr id="405" name="content"/>
          <p:cNvSpPr txBox="1"/>
          <p:nvPr/>
        </p:nvSpPr>
        <p:spPr>
          <a:xfrm>
            <a:off x="508000" y="188796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Current state</a:t>
            </a:r>
          </a:p>
          <a:p>
            <a:pPr marL="228600" indent="-228600">
              <a:spcBef>
                <a:spcPts val="400"/>
              </a:spcBef>
              <a:buFont typeface="Arial"/>
              <a:buChar char="▸"/>
            </a:pPr>
            <a:r>
              <a:rPr lang="en-US" sz="1800" b="0" dirty="0">
                <a:solidFill>
                  <a:srgbClr val="2A231F"/>
                </a:solidFill>
                <a:latin typeface="Arial"/>
              </a:rPr>
              <a:t> Ballistic solver currently uses an analytic RPM-to-velocity model (theoretical relationship)</a:t>
            </a:r>
          </a:p>
          <a:p>
            <a:pPr marL="228600" indent="-228600">
              <a:spcBef>
                <a:spcPts val="400"/>
              </a:spcBef>
              <a:buFont typeface="Arial"/>
              <a:buChar char="▸"/>
            </a:pPr>
            <a:r>
              <a:rPr lang="en-US" sz="1800" b="0" dirty="0">
                <a:solidFill>
                  <a:srgbClr val="2A231F"/>
                </a:solidFill>
                <a:latin typeface="Arial"/>
              </a:rPr>
              <a:t> No empirical ground-truth mapping yet: RPM commanded vs. actual ball exit speed</a:t>
            </a:r>
          </a:p>
          <a:p>
            <a:pPr marL="228600" indent="-228600">
              <a:spcBef>
                <a:spcPts val="400"/>
              </a:spcBef>
              <a:buFont typeface="Arial"/>
              <a:buChar char="▸"/>
            </a:pPr>
            <a:r>
              <a:rPr lang="en-US" sz="1800" b="0" dirty="0">
                <a:solidFill>
                  <a:srgbClr val="2A231F"/>
                </a:solidFill>
                <a:latin typeface="Arial"/>
              </a:rPr>
              <a:t> This is listed as the #2 future work item after closed-loop moving-target firing</a:t>
            </a:r>
          </a:p>
          <a:p>
            <a:pPr algn="l">
              <a:spcBef>
                <a:spcPts val="400"/>
              </a:spcBef>
              <a:buNone/>
            </a:pPr>
            <a:r>
              <a:rPr lang="en-US" sz="1900" b="1" dirty="0">
                <a:solidFill>
                  <a:srgbClr val="935739"/>
                </a:solidFill>
                <a:latin typeface="Arial"/>
              </a:rPr>
              <a:t> Planned calibration protocol (Section 6.4.3)</a:t>
            </a:r>
          </a:p>
          <a:p>
            <a:pPr marL="228600" indent="-228600">
              <a:spcBef>
                <a:spcPts val="400"/>
              </a:spcBef>
              <a:buFont typeface="Arial"/>
              <a:buChar char="▸"/>
            </a:pPr>
            <a:r>
              <a:rPr lang="en-US" sz="1800" b="0" dirty="0">
                <a:solidFill>
                  <a:srgbClr val="2A231F"/>
                </a:solidFill>
                <a:latin typeface="Arial"/>
              </a:rPr>
              <a:t> Option A: Doppler radar gun — direct ball exit speed measurement per RPM setting</a:t>
            </a:r>
          </a:p>
          <a:p>
            <a:pPr marL="228600" indent="-228600">
              <a:spcBef>
                <a:spcPts val="400"/>
              </a:spcBef>
              <a:buFont typeface="Arial"/>
              <a:buChar char="▸"/>
            </a:pPr>
            <a:r>
              <a:rPr lang="en-US" sz="1800" b="0" dirty="0">
                <a:solidFill>
                  <a:srgbClr val="2A231F"/>
                </a:solidFill>
                <a:latin typeface="Arial"/>
              </a:rPr>
              <a:t> Option B: High-speed camera (240+ fps) — pixel-tracking ball over known distance</a:t>
            </a:r>
          </a:p>
          <a:p>
            <a:pPr marL="228600" indent="-228600">
              <a:spcBef>
                <a:spcPts val="400"/>
              </a:spcBef>
              <a:buFont typeface="Arial"/>
              <a:buChar char="▸"/>
            </a:pPr>
            <a:r>
              <a:rPr lang="en-US" sz="1800" b="0" dirty="0">
                <a:solidFill>
                  <a:srgbClr val="2A231F"/>
                </a:solidFill>
                <a:latin typeface="Arial"/>
              </a:rPr>
              <a:t> 50-100 shots across RPM range (0, 500, 1000, 1500, 2000 RPM per motor)</a:t>
            </a:r>
          </a:p>
          <a:p>
            <a:pPr marL="228600" indent="-228600">
              <a:spcBef>
                <a:spcPts val="400"/>
              </a:spcBef>
              <a:buFont typeface="Arial"/>
              <a:buChar char="▸"/>
            </a:pPr>
            <a:r>
              <a:rPr lang="en-US" sz="1800" b="0" dirty="0">
                <a:solidFill>
                  <a:srgbClr val="2A231F"/>
                </a:solidFill>
                <a:latin typeface="Arial"/>
              </a:rPr>
              <a:t> Fit polynomial or lookup table: commanded RPM → measured exit speed (m/s)</a:t>
            </a:r>
          </a:p>
          <a:p>
            <a:pPr algn="l">
              <a:spcBef>
                <a:spcPts val="400"/>
              </a:spcBef>
              <a:buNone/>
            </a:pPr>
            <a:r>
              <a:rPr lang="en-US" sz="1900" b="1" dirty="0">
                <a:solidFill>
                  <a:srgbClr val="935739"/>
                </a:solidFill>
                <a:latin typeface="Arial"/>
              </a:rPr>
              <a:t> Impact on current results</a:t>
            </a:r>
          </a:p>
          <a:p>
            <a:pPr marL="228600" indent="-228600">
              <a:spcBef>
                <a:spcPts val="400"/>
              </a:spcBef>
              <a:buFont typeface="Arial"/>
              <a:buChar char="▸"/>
            </a:pPr>
            <a:r>
              <a:rPr lang="en-US" sz="1800" b="0" dirty="0">
                <a:solidFill>
                  <a:srgbClr val="2A231F"/>
                </a:solidFill>
                <a:latin typeface="Arial"/>
              </a:rPr>
              <a:t> Current ball accuracy (95.17 mm) is achieved WITHOUT empirical calibration</a:t>
            </a:r>
          </a:p>
          <a:p>
            <a:pPr marL="228600" indent="-228600">
              <a:spcBef>
                <a:spcPts val="400"/>
              </a:spcBef>
              <a:buFont typeface="Arial"/>
              <a:buChar char="▸"/>
            </a:pPr>
            <a:r>
              <a:rPr lang="en-US" sz="1800" b="0" dirty="0">
                <a:solidFill>
                  <a:srgbClr val="2A231F"/>
                </a:solidFill>
                <a:latin typeface="Arial"/>
              </a:rPr>
              <a:t> Empirical calibration expected to reduce ballistic error further — accuracy will improve</a:t>
            </a:r>
          </a:p>
          <a:p>
            <a:pPr marL="228600" indent="-228600">
              <a:spcBef>
                <a:spcPts val="400"/>
              </a:spcBef>
              <a:buFont typeface="Arial"/>
              <a:buChar char="▸"/>
            </a:pPr>
            <a:r>
              <a:rPr lang="en-US" sz="1800" b="0" dirty="0">
                <a:solidFill>
                  <a:srgbClr val="2A231F"/>
                </a:solidFill>
                <a:latin typeface="Arial"/>
              </a:rPr>
              <a:t> Safety clamps on RPM (firmware + Python) remain regardless of calibration state</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protocol designed (Section 6.4.3), not yet executed. Doppler radar or high-speed camera approach. Current 95.17 mm accuracy is achieved without it — empirical calibration will improve results further.</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674</TotalTime>
  <Words>4763</Words>
  <Application>Microsoft Office PowerPoint</Application>
  <PresentationFormat>Widescreen</PresentationFormat>
  <Paragraphs>460</Paragraphs>
  <Slides>22</Slides>
  <Notes>18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Research Gap</vt:lpstr>
      <vt:lpstr>Key Technical Components</vt:lpstr>
      <vt:lpstr>Proposed System — Pose-to-Aim Integration</vt:lpstr>
      <vt:lpstr>Architecture &amp; Pipeline</vt:lpstr>
      <vt:lpstr>Hardware Implementation</vt:lpstr>
      <vt:lpstr>Software Implementation</vt:lpstr>
      <vt:lpstr>Calibration &amp; Geometry</vt:lpstr>
      <vt:lpstr>Methodology &amp; Experiments</vt:lpstr>
      <vt:lpstr>Key Results — Accuracy, Safety, Runtime</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lpstr>Q: Why not use Intel RealSense depth cameras?</vt:lpstr>
      <vt:lpstr>Q: How does the Kalman filter handle sudden position jumps?</vt:lpstr>
      <vt:lpstr>Q: When and how will RPM-to-velocity calibration be completed?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18</cp:revision>
  <dcterms:created xsi:type="dcterms:W3CDTF">2026-04-22T12:20:04Z</dcterms:created>
  <dcterms:modified xsi:type="dcterms:W3CDTF">2026-04-27T07:13:03Z</dcterms:modified>
</cp:coreProperties>
</file>